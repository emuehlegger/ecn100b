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33"/>
  </p:notesMasterIdLst>
  <p:sldIdLst>
    <p:sldId id="256" r:id="rId2"/>
    <p:sldId id="382" r:id="rId3"/>
    <p:sldId id="276" r:id="rId4"/>
    <p:sldId id="410" r:id="rId5"/>
    <p:sldId id="386" r:id="rId6"/>
    <p:sldId id="412" r:id="rId7"/>
    <p:sldId id="420" r:id="rId8"/>
    <p:sldId id="425" r:id="rId9"/>
    <p:sldId id="413" r:id="rId10"/>
    <p:sldId id="387" r:id="rId11"/>
    <p:sldId id="390" r:id="rId12"/>
    <p:sldId id="421" r:id="rId13"/>
    <p:sldId id="451" r:id="rId14"/>
    <p:sldId id="423" r:id="rId15"/>
    <p:sldId id="442" r:id="rId16"/>
    <p:sldId id="422" r:id="rId17"/>
    <p:sldId id="449" r:id="rId18"/>
    <p:sldId id="432" r:id="rId19"/>
    <p:sldId id="433" r:id="rId20"/>
    <p:sldId id="436" r:id="rId21"/>
    <p:sldId id="435" r:id="rId22"/>
    <p:sldId id="417" r:id="rId23"/>
    <p:sldId id="438" r:id="rId24"/>
    <p:sldId id="389" r:id="rId25"/>
    <p:sldId id="439" r:id="rId26"/>
    <p:sldId id="440" r:id="rId27"/>
    <p:sldId id="430" r:id="rId28"/>
    <p:sldId id="431" r:id="rId29"/>
    <p:sldId id="415" r:id="rId30"/>
    <p:sldId id="383" r:id="rId31"/>
    <p:sldId id="411" r:id="rId3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299"/>
    <a:srgbClr val="92D050"/>
    <a:srgbClr val="FF0000"/>
    <a:srgbClr val="000000"/>
    <a:srgbClr val="A6A6A6"/>
    <a:srgbClr val="D9D9D9"/>
    <a:srgbClr val="E9ECEB"/>
    <a:srgbClr val="2935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489" autoAdjust="0"/>
    <p:restoredTop sz="86330" autoAdjust="0"/>
  </p:normalViewPr>
  <p:slideViewPr>
    <p:cSldViewPr>
      <p:cViewPr varScale="1">
        <p:scale>
          <a:sx n="60" d="100"/>
          <a:sy n="60" d="100"/>
        </p:scale>
        <p:origin x="8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C75FAF0-693A-4D52-B881-D524B40F6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882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30C15154-5625-4E02-808B-8E24F263870F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08E91FE-9D99-43BC-8BD1-39031587F63C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here</a:t>
            </a:r>
            <a:r>
              <a:rPr lang="en-US" baseline="0" dirty="0"/>
              <a:t> that 1 – 3 are reasons why we might like a monopoly.  4 – 6 are reasons why we might not like a monopoly.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509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900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922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31837" lvl="1" indent="-457200">
              <a:buFont typeface="+mj-lt"/>
              <a:buAutoNum type="arabicPeriod"/>
            </a:pPr>
            <a:r>
              <a:rPr lang="en-US" sz="1600" dirty="0"/>
              <a:t>Revenues are higher because the firm sells more units. (Region A)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600" dirty="0"/>
              <a:t>But, the firm has to cut the price to sell more, so it loses revenue on units that would have sold at the higher price (Region B)</a:t>
            </a:r>
          </a:p>
          <a:p>
            <a:r>
              <a:rPr lang="en-US" dirty="0"/>
              <a:t>Region A (green): P</a:t>
            </a:r>
          </a:p>
          <a:p>
            <a:r>
              <a:rPr lang="en-US" dirty="0"/>
              <a:t>Region B (red): P’(q)*q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9334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264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MR = 80-2Q, MC = 2Q, </a:t>
            </a:r>
            <a:r>
              <a:rPr lang="en-US" sz="1200" dirty="0">
                <a:sym typeface="Wingdings" panose="05000000000000000000" pitchFamily="2" charset="2"/>
              </a:rPr>
              <a:t> Q = 20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428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 = 80 – q </a:t>
            </a:r>
            <a:r>
              <a:rPr lang="en-US" dirty="0">
                <a:sym typeface="Wingdings" panose="05000000000000000000" pitchFamily="2" charset="2"/>
              </a:rPr>
              <a:t>implied P = 60.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anose="05000000000000000000" pitchFamily="2" charset="2"/>
              </a:rPr>
              <a:t>TR = 1200, TC = 800, Profit = 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529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Why does this work, you ask? P = a – </a:t>
            </a:r>
            <a:r>
              <a:rPr lang="en-US" sz="2000" dirty="0" err="1"/>
              <a:t>bQ</a:t>
            </a:r>
            <a:r>
              <a:rPr lang="en-US" sz="2000" dirty="0"/>
              <a:t>. TR = </a:t>
            </a:r>
            <a:r>
              <a:rPr lang="en-US" sz="2000" dirty="0" err="1"/>
              <a:t>aQ-bQ</a:t>
            </a:r>
            <a:r>
              <a:rPr lang="en-US" sz="2000" dirty="0"/>
              <a:t>*Q, MR = a – 2bQ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548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480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792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339883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042CE5-DB0F-4355-9B3D-91ABC39AF5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47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FB532-2590-40D4-9ADD-E0DA02EC8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41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31838" y="459898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AB3FB82-CC6E-4E72-9D5E-52FA25EE62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0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B3409-07CA-424D-AEAF-BD7523AAD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93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rot="5400000">
            <a:off x="2218531" y="4045744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7CD65-02FC-4245-80F5-F727127E8B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76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7528-F070-4A68-9243-0A1601C224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71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640AE-ABF1-484F-89E4-EE0589B88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06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0A66C5-394E-4D03-87D7-BD6363FEA1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169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27ADD-D9EB-4C92-A7F5-EF477DB08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13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E1D61-7009-467E-96A6-D826F29C33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4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A03C1-726F-4EF3-869C-C3577F55E5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03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7CB3AAC-8786-4F7F-906F-0E0568EB4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0" r:id="rId1"/>
    <p:sldLayoutId id="2147484423" r:id="rId2"/>
    <p:sldLayoutId id="2147484431" r:id="rId3"/>
    <p:sldLayoutId id="2147484424" r:id="rId4"/>
    <p:sldLayoutId id="2147484432" r:id="rId5"/>
    <p:sldLayoutId id="2147484425" r:id="rId6"/>
    <p:sldLayoutId id="2147484426" r:id="rId7"/>
    <p:sldLayoutId id="2147484433" r:id="rId8"/>
    <p:sldLayoutId id="2147484427" r:id="rId9"/>
    <p:sldLayoutId id="2147484428" r:id="rId10"/>
    <p:sldLayoutId id="214748442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iclicker.com/MZWB" TargetMode="External"/><Relationship Id="rId2" Type="http://schemas.openxmlformats.org/officeDocument/2006/relationships/hyperlink" Target="https://join.iclicker.com/HTCC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iclicker.com/MZWB" TargetMode="External"/><Relationship Id="rId2" Type="http://schemas.openxmlformats.org/officeDocument/2006/relationships/hyperlink" Target="https://join.iclicker.com/HTCC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Class 2: monopoly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ECN 100B – Intermediate Microeconomics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Spring 2025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Prof. </a:t>
            </a:r>
            <a:r>
              <a:rPr lang="en-US" dirty="0" err="1"/>
              <a:t>Muehlegger</a:t>
            </a:r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9946-D78A-4659-81C8-E90CA608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F1F5-2831-4500-AE38-6DBA4FE64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Office hours start this week.  Please see the discussion item on Canvas for times / locations.</a:t>
            </a:r>
          </a:p>
          <a:p>
            <a:endParaRPr lang="en-US" dirty="0"/>
          </a:p>
          <a:p>
            <a:r>
              <a:rPr lang="en-US" dirty="0"/>
              <a:t>Problem Set 1 is posted.  It is due next Tuesday.</a:t>
            </a:r>
          </a:p>
          <a:p>
            <a:endParaRPr lang="en-US" dirty="0"/>
          </a:p>
          <a:p>
            <a:r>
              <a:rPr lang="en-US" dirty="0"/>
              <a:t>The first weekly quiz will happen tomorrow.  </a:t>
            </a:r>
          </a:p>
          <a:p>
            <a:pPr lvl="1"/>
            <a:r>
              <a:rPr lang="en-US" dirty="0"/>
              <a:t>Five multiple choice questions, 10 minutes.</a:t>
            </a:r>
          </a:p>
          <a:p>
            <a:pPr lvl="1"/>
            <a:r>
              <a:rPr lang="en-US" dirty="0"/>
              <a:t>Anytime between 12am – 11:59pm. </a:t>
            </a:r>
          </a:p>
          <a:p>
            <a:pPr lvl="1"/>
            <a:r>
              <a:rPr lang="en-US" dirty="0"/>
              <a:t>It is open-book, open-note, but not “open-friend” nor “open-AI”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2CADB-2E68-49E0-841B-8968B038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E5A7-E58D-43AB-A535-10295FD3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34AE-498E-4CFC-8432-97E571CA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0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 Outline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What is a monopoly?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Monopoly profit maximization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Welfare </a:t>
            </a:r>
            <a:r>
              <a:rPr lang="en-US" altLang="en-US" sz="2800"/>
              <a:t>under Monopoly</a:t>
            </a:r>
            <a:endParaRPr lang="en-US" altLang="en-US" sz="2800" dirty="0"/>
          </a:p>
        </p:txBody>
      </p:sp>
      <p:sp>
        <p:nvSpPr>
          <p:cNvPr id="717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2: Monopoly</a:t>
            </a:r>
          </a:p>
        </p:txBody>
      </p:sp>
      <p:sp>
        <p:nvSpPr>
          <p:cNvPr id="717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01D503-B997-48FD-BA68-74AB70F9926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8A04-563B-9B7C-8032-37587D29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56CFA-9E45-3455-070C-917AB20E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perfectly competitive market maximizes welfare. </a:t>
            </a:r>
          </a:p>
          <a:p>
            <a:pPr lvl="8"/>
            <a:endParaRPr lang="en-US" sz="1200" dirty="0"/>
          </a:p>
          <a:p>
            <a:pPr lvl="1"/>
            <a:r>
              <a:rPr lang="en-US" sz="1800" dirty="0"/>
              <a:t>There is no deadweight loss and in the long-run, firms produce at the minimum of their average cost curves.</a:t>
            </a:r>
          </a:p>
          <a:p>
            <a:pPr lvl="8"/>
            <a:endParaRPr lang="en-US" sz="1200" dirty="0"/>
          </a:p>
          <a:p>
            <a:r>
              <a:rPr lang="en-US" sz="2000" dirty="0"/>
              <a:t>But, if the market is not perfectly competitive, the market might not maximize welfare.</a:t>
            </a:r>
          </a:p>
          <a:p>
            <a:endParaRPr lang="en-US" sz="1200" dirty="0"/>
          </a:p>
          <a:p>
            <a:r>
              <a:rPr lang="en-US" sz="2000" dirty="0"/>
              <a:t>We begin to explore the first of these today by discussing monopoly.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847F-B30E-4346-3DD6-2D688AC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0574-C8FF-C4B9-7096-93B0DF59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6221-B9D5-00E0-ACF7-6D169308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I. What is a monopoly?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E6-AFA5-7507-CE80-8D4E23E3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monopoly?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96BB-7B9A-264C-C5B2-9C508842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u="sng" dirty="0"/>
              <a:t>monopoly</a:t>
            </a:r>
            <a:r>
              <a:rPr lang="en-US" dirty="0"/>
              <a:t> is a sole supplier of a good that has not close substitute.</a:t>
            </a:r>
          </a:p>
          <a:p>
            <a:endParaRPr lang="en-US" dirty="0"/>
          </a:p>
          <a:p>
            <a:r>
              <a:rPr lang="en-US" dirty="0"/>
              <a:t>There many historical (and contemporary) examples of monopolies.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Historical: Hudson Bay Company, British East India Company, US Steel, Aluminum Company of America (ALCOA)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Modern: Many utilities (e.g., PGE), firms with patents (e.g., Pfizer)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D5172-13AF-B15A-F430-20B729BF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51EA0-00A7-7A59-C59A-4C1F86440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AEED-03D3-5DED-4DC3-E75E1FC7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88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43A1-A1EE-0131-CF92-3E3AD28E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assumptions of monopoly?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2F3E-B96C-E4FB-FAB5-1F024EEC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There is a single firm.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firm sets a single price for all customers.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Barriers to entry exist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assumptions lead monopolies to behave differently than perfectly competitive markets.	</a:t>
            </a:r>
          </a:p>
          <a:p>
            <a:pPr lvl="8"/>
            <a:endParaRPr lang="en-US" sz="100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monopoly is </a:t>
            </a:r>
            <a:r>
              <a:rPr lang="en-US" u="sng" dirty="0"/>
              <a:t>not a price-taker</a:t>
            </a:r>
            <a:r>
              <a:rPr lang="en-US" dirty="0"/>
              <a:t>.  The production decision of a monopoly affects the market price.  </a:t>
            </a:r>
          </a:p>
          <a:p>
            <a:pPr marL="457200" indent="-457200">
              <a:buFont typeface="+mj-lt"/>
              <a:buAutoNum type="arabicPeriod"/>
            </a:pPr>
            <a:endParaRPr lang="en-US" sz="100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barriers to entry exist, a monopoly can earn economic profits in the long-run.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D2372-F481-8A79-4645-82EF6A46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3052-D4BA-27CF-3718-4D6D5E4D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682C7-68B4-D285-8890-8242ACD3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31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monopolies good or bad from a welfare perspective?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Good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Bad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It depends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 don’t know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lvl="1">
              <a:defRPr/>
            </a:pPr>
            <a:r>
              <a:rPr lang="en-US" altLang="en-US" dirty="0"/>
              <a:t>100B – A: </a:t>
            </a:r>
            <a:r>
              <a:rPr lang="en-US" altLang="en-US" dirty="0">
                <a:hlinkClick r:id="rId2"/>
              </a:rPr>
              <a:t>https://join.iclicker.com/HTCC</a:t>
            </a:r>
            <a:r>
              <a:rPr lang="en-US" altLang="en-US" dirty="0"/>
              <a:t> </a:t>
            </a:r>
          </a:p>
          <a:p>
            <a:pPr lvl="1">
              <a:defRPr/>
            </a:pPr>
            <a:r>
              <a:rPr lang="en-US" altLang="en-US" dirty="0"/>
              <a:t>100B </a:t>
            </a:r>
            <a:r>
              <a:rPr lang="en-US" altLang="en-US" dirty="0">
                <a:hlinkClick r:id="rId3"/>
              </a:rPr>
              <a:t>–</a:t>
            </a:r>
            <a:r>
              <a:rPr lang="en-US" altLang="en-US" dirty="0"/>
              <a:t> B: </a:t>
            </a:r>
            <a:r>
              <a:rPr lang="en-US" altLang="en-US" dirty="0">
                <a:hlinkClick r:id="rId3"/>
              </a:rPr>
              <a:t>https://join.iclicker.com/MZWB</a:t>
            </a:r>
            <a:r>
              <a:rPr lang="en-US" altLang="en-US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089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E9D7-7E7B-0B90-CB26-6B5B9344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a monopoly arise? (Perloff 11.4)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35A2-5610-44B7-1ACC-E1A9689A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800" dirty="0"/>
              <a:t>Cost advantage: A single firm can serve the market at lower cost </a:t>
            </a:r>
            <a:endParaRPr lang="en-US" sz="1600" b="0" dirty="0"/>
          </a:p>
          <a:p>
            <a:pPr lvl="8"/>
            <a:endParaRPr lang="en-US" sz="1100" b="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Government creation: The government creates the monopoly with a patent (e.g., pharmaceuticals) or a license (e.g. liquor stores)</a:t>
            </a:r>
          </a:p>
          <a:p>
            <a:pPr marL="457200" indent="-457200">
              <a:buFont typeface="+mj-lt"/>
              <a:buAutoNum type="arabicPeriod"/>
            </a:pPr>
            <a:endParaRPr lang="en-US" sz="11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Network Externalities: The value of the good / service depends on how many consumers use the good (e.g., Google Search)</a:t>
            </a:r>
          </a:p>
          <a:p>
            <a:pPr marL="457200" indent="-457200">
              <a:buFont typeface="+mj-lt"/>
              <a:buAutoNum type="arabicPeriod"/>
            </a:pPr>
            <a:endParaRPr lang="en-US" sz="105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Anticompetitive conduct that prevents competitors from entering</a:t>
            </a:r>
          </a:p>
          <a:p>
            <a:pPr marL="457200" indent="-457200">
              <a:buFont typeface="+mj-lt"/>
              <a:buAutoNum type="arabicPeriod"/>
            </a:pPr>
            <a:endParaRPr lang="en-US" sz="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Mergers</a:t>
            </a:r>
          </a:p>
          <a:p>
            <a:pPr marL="1829117" lvl="6" indent="-457200">
              <a:buFont typeface="+mj-lt"/>
              <a:buAutoNum type="arabicPeriod"/>
            </a:pPr>
            <a:endParaRPr lang="en-US" sz="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Firm coordination / Cartels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B5606-6667-2665-BEC0-F46B4F50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D53F-C51F-B320-50E8-BE79D45F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F088-50A5-5A2A-CA05-61EE02B6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" name="AutoShape 2" descr="PG&amp;E Logo, symbol, meaning, history, PNG, br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II. Monopoly profit maximization (Perloff 11.1)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24F2-01EE-21B1-A1B5-C1C194F8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Marginal revenue for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Recall from last class, we learned about how perfectly competitive firms maximize profits</a:t>
                </a:r>
              </a:p>
              <a:p>
                <a:endParaRPr lang="en-US" sz="1200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lvl="8"/>
                <a:endParaRPr lang="en-US" sz="1200" dirty="0"/>
              </a:p>
              <a:p>
                <a:r>
                  <a:rPr lang="en-US" sz="2000" b="0" dirty="0"/>
                  <a:t>Taking the derivative of profits with respect to quantity, we get the condition for </a:t>
                </a:r>
                <a:r>
                  <a:rPr lang="en-US" sz="2000" dirty="0"/>
                  <a:t>firm profit maximization</a:t>
                </a:r>
              </a:p>
              <a:p>
                <a:pPr lvl="8"/>
                <a:endParaRPr lang="en-US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 lvl="8"/>
                <a:endParaRPr lang="en-US" sz="1200" b="0" dirty="0"/>
              </a:p>
              <a:p>
                <a:r>
                  <a:rPr lang="en-US" sz="2000" b="0" dirty="0"/>
                  <a:t>Since perfectly competitive firms are price-takers, price doesn’t depend the quantity that an individual firm sells.  </a:t>
                </a:r>
              </a:p>
              <a:p>
                <a:endParaRPr lang="en-US" sz="9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000" b="0" dirty="0"/>
              </a:p>
              <a:p>
                <a:pPr lvl="8"/>
                <a:endParaRPr lang="en-US" sz="900" dirty="0"/>
              </a:p>
              <a:p>
                <a:r>
                  <a:rPr lang="en-US" sz="2000" b="0" dirty="0"/>
                  <a:t>Every unit that the firm sells, it can sell at the market price.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0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E83C-2DEC-E734-8A03-F41958A3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4874-0B36-784B-344A-696B952E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135E-93D8-55E5-42A2-480ED628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8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B9927-99CD-FBEF-B960-B824F26C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7" y="1632466"/>
            <a:ext cx="8229600" cy="4876800"/>
          </a:xfrm>
        </p:spPr>
        <p:txBody>
          <a:bodyPr/>
          <a:lstStyle/>
          <a:p>
            <a:r>
              <a:rPr lang="en-US" dirty="0"/>
              <a:t>Every unit that a perfectly competitive firm sells, it can sell at the market price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MR curve is horizontal.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116D6-6B90-D40A-0CD0-7B27F4FC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Marginal revenue for perfect competition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A916-9726-A799-4F65-BFBA2260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2625-1007-9E94-C7B1-2A5CDC95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B416-0FF8-4F03-7DF4-9D16BA6A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F984CD-66CB-0ED9-A8AA-F8D30A8FEC5F}"/>
              </a:ext>
            </a:extLst>
          </p:cNvPr>
          <p:cNvGrpSpPr/>
          <p:nvPr/>
        </p:nvGrpSpPr>
        <p:grpSpPr>
          <a:xfrm>
            <a:off x="152400" y="2743200"/>
            <a:ext cx="4395472" cy="3733800"/>
            <a:chOff x="152400" y="2743200"/>
            <a:chExt cx="4395472" cy="3733800"/>
          </a:xfrm>
        </p:grpSpPr>
        <p:sp>
          <p:nvSpPr>
            <p:cNvPr id="37" name="Rectangle 36"/>
            <p:cNvSpPr/>
            <p:nvPr/>
          </p:nvSpPr>
          <p:spPr>
            <a:xfrm>
              <a:off x="696557" y="4504546"/>
              <a:ext cx="1600201" cy="14390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TR(q)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32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Perfectly Competitive Firm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685800" y="3352800"/>
              <a:ext cx="0" cy="2590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85800" y="59436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52400" y="38862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52800" y="6107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685799" y="4495800"/>
              <a:ext cx="29799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2286000" y="4495800"/>
              <a:ext cx="0" cy="1447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971800" y="3810000"/>
              <a:ext cx="1576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Demand curve </a:t>
              </a:r>
            </a:p>
            <a:p>
              <a:r>
                <a:rPr lang="en-US" sz="1600" dirty="0"/>
                <a:t>for PC firm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25742" y="5943600"/>
              <a:ext cx="26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610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7E23-74B3-EF98-FC8D-7C8446FD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what is different about a monopoly?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6F0368-7C16-E391-9F82-F4A3F24544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A monopoly isn’t a price taker!</a:t>
                </a:r>
              </a:p>
              <a:p>
                <a:endParaRPr lang="en-US" sz="2000" dirty="0"/>
              </a:p>
              <a:p>
                <a:r>
                  <a:rPr lang="en-US" sz="2000" dirty="0" err="1"/>
                  <a:t>Pprice</a:t>
                </a:r>
                <a:r>
                  <a:rPr lang="en-US" sz="2000" dirty="0"/>
                  <a:t> it can charge is a function of quantity:</a:t>
                </a:r>
              </a:p>
              <a:p>
                <a:endParaRPr lang="en-US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900" dirty="0"/>
              </a:p>
              <a:p>
                <a:pPr lvl="8"/>
                <a:endParaRPr lang="en-US" sz="900" dirty="0"/>
              </a:p>
              <a:p>
                <a:r>
                  <a:rPr lang="en-US" sz="2000" dirty="0"/>
                  <a:t>This changes the expression for marginal revenue.</a:t>
                </a:r>
              </a:p>
              <a:p>
                <a:pPr marL="0" indent="0">
                  <a:buNone/>
                </a:pPr>
                <a:r>
                  <a:rPr lang="en-US" sz="900" dirty="0"/>
                  <a:t>				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𝑑𝑇𝑅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6F0368-7C16-E391-9F82-F4A3F24544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5FC01-A1CD-BFE4-71DA-FD305F8C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D4512-80DD-6CEB-A45E-4425095A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E35C9-7873-E49F-4994-B5DE39D2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79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B9927-99CD-FBEF-B960-B824F26C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7" y="1632466"/>
            <a:ext cx="8229600" cy="4876800"/>
          </a:xfrm>
        </p:spPr>
        <p:txBody>
          <a:bodyPr/>
          <a:lstStyle/>
          <a:p>
            <a:r>
              <a:rPr lang="en-US" sz="2000" dirty="0"/>
              <a:t>Higher production affects monopoly revenue in two ways.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116D6-6B90-D40A-0CD0-7B27F4FC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Marginal revenue for monopoly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A916-9726-A799-4F65-BFBA2260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2625-1007-9E94-C7B1-2A5CDC95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B416-0FF8-4F03-7DF4-9D16BA6A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52400" y="4191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CE1B58-3DD8-8B51-98DF-E8988D3443F3}"/>
              </a:ext>
            </a:extLst>
          </p:cNvPr>
          <p:cNvGrpSpPr/>
          <p:nvPr/>
        </p:nvGrpSpPr>
        <p:grpSpPr>
          <a:xfrm>
            <a:off x="323724" y="3036332"/>
            <a:ext cx="8256943" cy="3745468"/>
            <a:chOff x="323724" y="3036332"/>
            <a:chExt cx="8256943" cy="3745468"/>
          </a:xfrm>
        </p:grpSpPr>
        <p:sp>
          <p:nvSpPr>
            <p:cNvPr id="26" name="Rectangle 25"/>
            <p:cNvSpPr/>
            <p:nvPr/>
          </p:nvSpPr>
          <p:spPr>
            <a:xfrm>
              <a:off x="5380267" y="4859108"/>
              <a:ext cx="1221339" cy="1391308"/>
            </a:xfrm>
            <a:prstGeom prst="rect">
              <a:avLst/>
            </a:prstGeom>
            <a:solidFill>
              <a:schemeClr val="bg1">
                <a:lumMod val="85000"/>
                <a:alpha val="60000"/>
              </a:schemeClr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TR(q)</a:t>
              </a:r>
            </a:p>
            <a:p>
              <a:pPr algn="ctr"/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286000" y="4809346"/>
              <a:ext cx="228600" cy="1447801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96557" y="4809346"/>
              <a:ext cx="1600201" cy="14390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TR(q)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3048000"/>
              <a:ext cx="32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Perfectly Competitive Firm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43600" y="3036332"/>
              <a:ext cx="2438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Monopoly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685800" y="3657600"/>
              <a:ext cx="0" cy="2590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85800" y="62484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352800" y="64124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5380267" y="3657600"/>
              <a:ext cx="0" cy="2590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380267" y="62484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846867" y="41910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47267" y="64124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685799" y="4800600"/>
              <a:ext cx="29799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2286000" y="4800600"/>
              <a:ext cx="0" cy="14478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514600" y="4800600"/>
              <a:ext cx="0" cy="14478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2362200" y="4375666"/>
              <a:ext cx="76200" cy="5714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646468" y="3884657"/>
              <a:ext cx="140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MR for a one unit </a:t>
              </a:r>
            </a:p>
            <a:p>
              <a:pPr algn="ctr"/>
              <a:r>
                <a:rPr lang="en-US" sz="1200" dirty="0"/>
                <a:t>change in q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25742" y="6248400"/>
              <a:ext cx="26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q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52142" y="6248400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q+1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296758" y="6400800"/>
              <a:ext cx="2306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380267" y="3884657"/>
              <a:ext cx="2979906" cy="23637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6430590" y="6248400"/>
              <a:ext cx="26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q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69383" y="4361426"/>
              <a:ext cx="114005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Demand curve </a:t>
              </a:r>
            </a:p>
            <a:p>
              <a:r>
                <a:rPr lang="en-US" sz="1100" dirty="0"/>
                <a:t>for PC firm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48515" y="558087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9A3EB1-5416-DC2A-721A-06FE66B2DC5D}"/>
                </a:ext>
              </a:extLst>
            </p:cNvPr>
            <p:cNvSpPr txBox="1"/>
            <p:nvPr/>
          </p:nvSpPr>
          <p:spPr>
            <a:xfrm>
              <a:off x="5788217" y="48006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A5041A-524C-B1BD-B38A-446812900ACF}"/>
                </a:ext>
              </a:extLst>
            </p:cNvPr>
            <p:cNvSpPr txBox="1"/>
            <p:nvPr/>
          </p:nvSpPr>
          <p:spPr>
            <a:xfrm>
              <a:off x="323724" y="4607647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442CA0-3244-CE26-0B49-5EF0D413AADC}"/>
                </a:ext>
              </a:extLst>
            </p:cNvPr>
            <p:cNvSpPr txBox="1"/>
            <p:nvPr/>
          </p:nvSpPr>
          <p:spPr>
            <a:xfrm>
              <a:off x="5029200" y="4648200"/>
              <a:ext cx="351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</a:t>
              </a:r>
              <a:r>
                <a:rPr lang="en-US" sz="1400" baseline="-250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6685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CD31-6C0A-70DD-5632-F9BE5EC4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numerical example clearly shows the two regions A and B.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CE722-5474-9FDE-F4AB-4C27DEFE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E0926-2880-77D4-910A-7B5EE2C8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8ADAE-F3DA-CF69-7C97-A2B73820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0333FCE-4FC5-5992-81E4-72BCDEB58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221" y="1568116"/>
                <a:ext cx="8229600" cy="4876800"/>
              </a:xfrm>
            </p:spPr>
            <p:txBody>
              <a:bodyPr/>
              <a:lstStyle/>
              <a:p>
                <a:r>
                  <a:rPr lang="en-US" dirty="0"/>
                  <a:t>Let’s consider an example where the market demand curve is given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=80 −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Region A: New revenue from selling one more unit.</a:t>
                </a:r>
              </a:p>
              <a:p>
                <a:pPr lvl="1"/>
                <a:r>
                  <a:rPr lang="en-US" dirty="0"/>
                  <a:t>Region B: Lost revenue from having to lower price on other units.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0333FCE-4FC5-5992-81E4-72BCDEB58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221" y="1568116"/>
                <a:ext cx="8229600" cy="4876800"/>
              </a:xfrm>
              <a:blipFill>
                <a:blip r:embed="rId2"/>
                <a:stretch>
                  <a:fillRect l="-667" t="-875" b="-2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036A74-3888-68A0-1EF9-56FBFBBC8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389810"/>
              </p:ext>
            </p:extLst>
          </p:nvPr>
        </p:nvGraphicFramePr>
        <p:xfrm>
          <a:off x="501316" y="2573956"/>
          <a:ext cx="791677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80">
                  <a:extLst>
                    <a:ext uri="{9D8B030D-6E8A-4147-A177-3AD203B41FA5}">
                      <a16:colId xmlns:a16="http://schemas.microsoft.com/office/drawing/2014/main" val="1140521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2597875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79382906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21453098"/>
                    </a:ext>
                  </a:extLst>
                </a:gridCol>
                <a:gridCol w="1333497">
                  <a:extLst>
                    <a:ext uri="{9D8B030D-6E8A-4147-A177-3AD203B41FA5}">
                      <a16:colId xmlns:a16="http://schemas.microsoft.com/office/drawing/2014/main" val="3458454379"/>
                    </a:ext>
                  </a:extLst>
                </a:gridCol>
                <a:gridCol w="1790701">
                  <a:extLst>
                    <a:ext uri="{9D8B030D-6E8A-4147-A177-3AD203B41FA5}">
                      <a16:colId xmlns:a16="http://schemas.microsoft.com/office/drawing/2014/main" val="2571395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 A:</a:t>
                      </a:r>
                    </a:p>
                    <a:p>
                      <a:r>
                        <a:rPr lang="en-US" dirty="0"/>
                        <a:t>P(q)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 B: P’(q)*q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29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03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3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23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9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85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799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24F2-01EE-21B1-A1B5-C1C194F8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Profit maximization for monopoly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Does a monopoly maximize profits like a perfectly competitive firm?  </a:t>
                </a:r>
              </a:p>
              <a:p>
                <a:pPr lvl="8"/>
                <a:endParaRPr lang="en-US" sz="900" b="0" dirty="0"/>
              </a:p>
              <a:p>
                <a:r>
                  <a:rPr lang="en-US" sz="2000" b="0" dirty="0"/>
                  <a:t>Yes</a:t>
                </a:r>
                <a:r>
                  <a:rPr lang="en-US" sz="2000" dirty="0"/>
                  <a:t>! Like a perfectly competitive firm, a monopoly maximizes profit at the point where MR = MC.</a:t>
                </a:r>
              </a:p>
              <a:p>
                <a:pPr marL="274637" lvl="1" indent="0">
                  <a:buNone/>
                </a:pPr>
                <a:endParaRPr lang="en-US" sz="1600" dirty="0"/>
              </a:p>
              <a:p>
                <a:pPr marL="27463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𝑴𝑹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𝑴𝑪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lvl="8"/>
                <a:endParaRPr lang="en-US" sz="12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0" t="-625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E83C-2DEC-E734-8A03-F41958A3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4874-0B36-784B-344A-696B952E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135E-93D8-55E5-42A2-480ED628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6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DBCB-C8A9-E936-5E45-BC243DAE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7619-54A7-59D3-9B9D-B25DDCFB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 can find the profit maximizing decision for the monopolist two ways.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3193-1E20-34AE-855A-368A51AF2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find the profit maximizing output in three steps: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Step 1: Write the expressions for TR (and TC).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Step 2: Calculate MR (and MC)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Step 3: Set MR = MC to maximize profit.</a:t>
            </a:r>
          </a:p>
          <a:p>
            <a:pPr lvl="8"/>
            <a:endParaRPr lang="en-US" dirty="0"/>
          </a:p>
          <a:p>
            <a:r>
              <a:rPr lang="en-US" dirty="0"/>
              <a:t>Alternatively, write down the formula for profit and maximize with respect to q.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F59C0-FDAC-D75E-B7E4-D9FDEA04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182F-62C8-E216-5C22-04E90957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FAE9C-CB85-CF3B-9B32-A6CECEC0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97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monopoly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inverse market demand curve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=80 −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monopoly’s costs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+400.</m:t>
                    </m:r>
                  </m:oMath>
                </a14:m>
                <a:endParaRPr lang="en-US" dirty="0"/>
              </a:p>
              <a:p>
                <a:pPr lvl="8"/>
                <a:endParaRPr lang="en-US" dirty="0"/>
              </a:p>
              <a:p>
                <a:r>
                  <a:rPr lang="en-US" dirty="0"/>
                  <a:t>Step 1: Write the expression for TR.</a:t>
                </a:r>
              </a:p>
              <a:p>
                <a:pPr lvl="8"/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Step 2: Calculate MR and MC.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3: Set MR = MC to maximize profit.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263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value of q will maximize the monopolist’s profits?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Q = 80</a:t>
            </a:r>
          </a:p>
          <a:p>
            <a:pPr marL="2194877" lvl="8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Q = 60</a:t>
            </a:r>
          </a:p>
          <a:p>
            <a:pPr marL="2194877" lvl="8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Q = 40</a:t>
            </a:r>
          </a:p>
          <a:p>
            <a:pPr marL="2194877" lvl="8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Q = 20</a:t>
            </a:r>
          </a:p>
          <a:p>
            <a:pPr marL="2194877" lvl="8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Something else / I don’t know.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9:00 – 10:20 (100B – A): </a:t>
            </a:r>
            <a:r>
              <a:rPr lang="en-US" altLang="en-US" dirty="0">
                <a:hlinkClick r:id="rId2"/>
              </a:rPr>
              <a:t>https://join.iclicker.com/HTCC</a:t>
            </a:r>
            <a:r>
              <a:rPr lang="en-US" altLang="en-US" dirty="0"/>
              <a:t> </a:t>
            </a:r>
          </a:p>
          <a:p>
            <a:pPr lvl="1">
              <a:defRPr/>
            </a:pPr>
            <a:r>
              <a:rPr lang="en-US" altLang="en-US" dirty="0"/>
              <a:t>1:40 – 3:00 (100B – B): </a:t>
            </a:r>
            <a:r>
              <a:rPr lang="en-US" altLang="en-US" dirty="0">
                <a:hlinkClick r:id="rId3"/>
              </a:rPr>
              <a:t>https://join.iclicker.com/MZWB</a:t>
            </a:r>
            <a:r>
              <a:rPr lang="en-US" altLang="en-US" dirty="0"/>
              <a:t> 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266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Solving the monopoly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Alternatively, take the first derivative of the profit function and set it equal to zero.  </a:t>
                </a:r>
              </a:p>
              <a:p>
                <a:pPr lvl="8"/>
                <a:endParaRPr lang="en-US" dirty="0"/>
              </a:p>
              <a:p>
                <a:r>
                  <a:rPr lang="en-US" dirty="0"/>
                  <a:t>In this case, the monopolist’s profit function is given by:</a:t>
                </a:r>
              </a:p>
              <a:p>
                <a:pPr lvl="8"/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+400)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100" dirty="0"/>
              </a:p>
              <a:p>
                <a:r>
                  <a:rPr lang="en-US" dirty="0"/>
                  <a:t>Taking the derivative and setting it equal to zero:</a:t>
                </a:r>
              </a:p>
              <a:p>
                <a:pPr lvl="8"/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933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price will the monopolist set and does the monopoly earn profits?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the profit-maximizing price, we plugging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into the inverse demand curve.</a:t>
                </a:r>
              </a:p>
              <a:p>
                <a:pPr lvl="8"/>
                <a:endParaRPr lang="en-US" sz="600" dirty="0"/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This is the highest price the monopolist could set and still sell q* units of the good.</a:t>
                </a:r>
              </a:p>
              <a:p>
                <a:pPr lvl="8"/>
                <a:endParaRPr lang="en-US" dirty="0"/>
              </a:p>
              <a:p>
                <a:r>
                  <a:rPr lang="en-US" dirty="0"/>
                  <a:t>We can also solve for firm profits.  </a:t>
                </a:r>
              </a:p>
              <a:p>
                <a:pPr lvl="8"/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80−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+400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				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7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29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FC3D-0338-420A-D7F4-7217B11E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depiction of a monopoly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8C1CC-9FBD-C74C-E65E-B239C33F6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3505200" cy="4876800"/>
              </a:xfrm>
            </p:spPr>
            <p:txBody>
              <a:bodyPr/>
              <a:lstStyle/>
              <a:p>
                <a:r>
                  <a:rPr lang="en-US" dirty="0"/>
                  <a:t>Inverse demand curve: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=80 −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pPr lvl="8"/>
                <a:endParaRPr lang="en-US" dirty="0"/>
              </a:p>
              <a:p>
                <a:r>
                  <a:rPr lang="en-US" dirty="0"/>
                  <a:t>Marginal Revenue: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=80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Marginal Cost: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+400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  <a:p>
                <a:r>
                  <a:rPr lang="en-US" dirty="0"/>
                  <a:t>Profit maximization at: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8C1CC-9FBD-C74C-E65E-B239C33F6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3505200" cy="4876800"/>
              </a:xfrm>
              <a:blipFill>
                <a:blip r:embed="rId2"/>
                <a:stretch>
                  <a:fillRect l="-1565" t="-875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5CD8D-58E4-0102-F975-AD0D4AC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9621-E908-A875-2BBB-A3F27CC7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3C16-1140-832E-2903-E9AFEB72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27202E-AF56-5F4C-2736-AA393891F3FD}"/>
              </a:ext>
            </a:extLst>
          </p:cNvPr>
          <p:cNvGrpSpPr/>
          <p:nvPr/>
        </p:nvGrpSpPr>
        <p:grpSpPr>
          <a:xfrm>
            <a:off x="4098404" y="2209800"/>
            <a:ext cx="4664596" cy="4108911"/>
            <a:chOff x="4098404" y="2209800"/>
            <a:chExt cx="4664596" cy="4108911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846867" y="2209800"/>
              <a:ext cx="0" cy="32120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4846867" y="5421868"/>
              <a:ext cx="39161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098404" y="3191481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27464" y="5795491"/>
              <a:ext cx="4635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59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slick trick to keep in mind…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 the previous example, you might have noticed that the MR curve: </a:t>
            </a:r>
          </a:p>
          <a:p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Has the same intercept as the inverse demand curve,</a:t>
            </a:r>
          </a:p>
          <a:p>
            <a:pPr marL="2080260" lvl="8" indent="-342900">
              <a:buFont typeface="+mj-lt"/>
              <a:buAutoNum type="arabicPeriod"/>
            </a:pPr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Has twice the slope of the inverse demand curve.</a:t>
            </a:r>
          </a:p>
          <a:p>
            <a:pPr lvl="1"/>
            <a:endParaRPr lang="en-US" sz="1800" dirty="0"/>
          </a:p>
          <a:p>
            <a:r>
              <a:rPr lang="en-US" sz="2000" dirty="0"/>
              <a:t>This is true for any </a:t>
            </a:r>
            <a:r>
              <a:rPr lang="en-US" sz="2000" u="sng" dirty="0"/>
              <a:t>linear</a:t>
            </a:r>
            <a:r>
              <a:rPr lang="en-US" sz="2000" dirty="0"/>
              <a:t> inverse demand curve.</a:t>
            </a:r>
          </a:p>
          <a:p>
            <a:pPr lvl="8"/>
            <a:endParaRPr lang="en-US" sz="1200" dirty="0"/>
          </a:p>
          <a:p>
            <a:pPr lvl="1"/>
            <a:r>
              <a:rPr lang="en-US" sz="1800" dirty="0"/>
              <a:t>For instance, if demand is: P = 548 – 11Q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MR = 548 – 22Q</a:t>
            </a:r>
          </a:p>
          <a:p>
            <a:pPr lvl="8"/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63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III. Monopoly and welfare (Perloff 11.2)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18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Will consumer and producer surplus be different under a monopoly than perfect competition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No.  They will be the same.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Yes.  CS will be higher and PS will be lower.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Yes. CS will be lower and PS will be higher.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Yes. Both CS and PS will be lower.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 don’t know.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8105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Will welfare be different under a monopoly than perfect competition?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Yes.  It will be higher.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No. It will be the same.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Yes. It will be lower.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It depends.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 don’t know.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089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revisit the example from last class.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876800"/>
              </a:xfrm>
            </p:spPr>
            <p:txBody>
              <a:bodyPr/>
              <a:lstStyle/>
              <a:p>
                <a:r>
                  <a:rPr lang="en-US" dirty="0"/>
                  <a:t>In the last class, we had a perfectly competitive market with identical supply and demand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=$900,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=$900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8"/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876800"/>
              </a:xfrm>
              <a:blipFill>
                <a:blip r:embed="rId2"/>
                <a:stretch>
                  <a:fillRect l="-648" t="-875" r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77B395-D413-840D-CE82-D96F4A61EBE0}"/>
              </a:ext>
            </a:extLst>
          </p:cNvPr>
          <p:cNvGrpSpPr/>
          <p:nvPr/>
        </p:nvGrpSpPr>
        <p:grpSpPr>
          <a:xfrm>
            <a:off x="1964686" y="2895600"/>
            <a:ext cx="5214627" cy="3337151"/>
            <a:chOff x="4012741" y="2378919"/>
            <a:chExt cx="5214627" cy="3337151"/>
          </a:xfrm>
        </p:grpSpPr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E955C71B-5AE1-A259-A96E-859C82A4C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160" y="259608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BEEF689E-3513-8870-F2AD-C7971675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7920" y="5264149"/>
              <a:ext cx="32692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CA671B01-0F0E-5F28-A90F-B39DFFCC1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741" y="2650090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5C4BABBC-E762-1FFC-86BD-5FA0BB8B9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0121" y="534034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28" name="Text Box 14">
              <a:extLst>
                <a:ext uri="{FF2B5EF4-FFF2-40B4-BE49-F238E27FC236}">
                  <a16:creationId xmlns:a16="http://schemas.microsoft.com/office/drawing/2014/main" id="{077FB49C-DDE3-FECF-D8ED-C91147A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7230" y="237891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9C3FFFE2-2B20-30F6-03BE-6184B7A3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5384" y="2819400"/>
              <a:ext cx="3099416" cy="24193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827B4C76-58A4-78AC-6206-468743A1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2682" y="316229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29212" y="2463148"/>
                  <a:ext cx="1925527" cy="7125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Inverse supply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31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29212" y="2463148"/>
                  <a:ext cx="1925527" cy="712503"/>
                </a:xfrm>
                <a:prstGeom prst="rect">
                  <a:avLst/>
                </a:prstGeom>
                <a:blipFill>
                  <a:blip r:embed="rId3"/>
                  <a:stretch>
                    <a:fillRect t="-1709" b="-85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EB9F4DFA-1B26-EE90-C6E6-D9804F3DB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5696" y="404494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ADAFB731-79F0-CB0C-D3D2-3DC5ACE46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89426" y="403542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92A45BDB-92EB-188D-0BF2-6EE2C6769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106" y="534673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70121" y="4200524"/>
                  <a:ext cx="2057247" cy="7125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Inverse demand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=12 −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35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70121" y="4200524"/>
                  <a:ext cx="2057247" cy="712503"/>
                </a:xfrm>
                <a:prstGeom prst="rect">
                  <a:avLst/>
                </a:prstGeom>
                <a:blipFill>
                  <a:blip r:embed="rId4"/>
                  <a:stretch>
                    <a:fillRect t="-1709" b="-85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332A30-446E-EAAC-92B5-E9D471551CF5}"/>
                </a:ext>
              </a:extLst>
            </p:cNvPr>
            <p:cNvSpPr txBox="1"/>
            <p:nvPr/>
          </p:nvSpPr>
          <p:spPr>
            <a:xfrm>
              <a:off x="4403182" y="38602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4AA961-4795-06A3-9C9A-E371EAB63FE9}"/>
                </a:ext>
              </a:extLst>
            </p:cNvPr>
            <p:cNvSpPr txBox="1"/>
            <p:nvPr/>
          </p:nvSpPr>
          <p:spPr>
            <a:xfrm>
              <a:off x="4359454" y="264588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35CFB9-E8B6-C073-AB24-474248A8D533}"/>
                </a:ext>
              </a:extLst>
            </p:cNvPr>
            <p:cNvSpPr txBox="1"/>
            <p:nvPr/>
          </p:nvSpPr>
          <p:spPr>
            <a:xfrm>
              <a:off x="4414465" y="50540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38" name="Freeform: Shape 22">
              <a:extLst>
                <a:ext uri="{FF2B5EF4-FFF2-40B4-BE49-F238E27FC236}">
                  <a16:creationId xmlns:a16="http://schemas.microsoft.com/office/drawing/2014/main" id="{CD21A658-A44A-92D0-2906-141252BF837F}"/>
                </a:ext>
              </a:extLst>
            </p:cNvPr>
            <p:cNvSpPr/>
            <p:nvPr/>
          </p:nvSpPr>
          <p:spPr>
            <a:xfrm>
              <a:off x="4808667" y="2826572"/>
              <a:ext cx="1581375" cy="1226371"/>
            </a:xfrm>
            <a:custGeom>
              <a:avLst/>
              <a:gdLst>
                <a:gd name="connsiteX0" fmla="*/ 0 w 1581375"/>
                <a:gd name="connsiteY0" fmla="*/ 0 h 1226371"/>
                <a:gd name="connsiteX1" fmla="*/ 0 w 1581375"/>
                <a:gd name="connsiteY1" fmla="*/ 1226371 h 1226371"/>
                <a:gd name="connsiteX2" fmla="*/ 1581375 w 1581375"/>
                <a:gd name="connsiteY2" fmla="*/ 1215614 h 122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1375" h="1226371">
                  <a:moveTo>
                    <a:pt x="0" y="0"/>
                  </a:moveTo>
                  <a:lnTo>
                    <a:pt x="0" y="1226371"/>
                  </a:lnTo>
                  <a:lnTo>
                    <a:pt x="1581375" y="1215614"/>
                  </a:lnTo>
                </a:path>
              </a:pathLst>
            </a:custGeom>
            <a:solidFill>
              <a:srgbClr val="92D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r>
                <a:rPr lang="en-US" dirty="0"/>
                <a:t>     </a:t>
              </a:r>
              <a:r>
                <a:rPr lang="en-US" dirty="0">
                  <a:solidFill>
                    <a:schemeClr val="tx1"/>
                  </a:solidFill>
                </a:rPr>
                <a:t>CS</a:t>
              </a:r>
              <a:r>
                <a:rPr lang="en-US" dirty="0"/>
                <a:t>   </a:t>
              </a:r>
            </a:p>
          </p:txBody>
        </p:sp>
        <p:sp>
          <p:nvSpPr>
            <p:cNvPr id="39" name="Freeform: Shape 23">
              <a:extLst>
                <a:ext uri="{FF2B5EF4-FFF2-40B4-BE49-F238E27FC236}">
                  <a16:creationId xmlns:a16="http://schemas.microsoft.com/office/drawing/2014/main" id="{E7E7EBF8-A189-C7C3-CB55-76301257D9F1}"/>
                </a:ext>
              </a:extLst>
            </p:cNvPr>
            <p:cNvSpPr/>
            <p:nvPr/>
          </p:nvSpPr>
          <p:spPr>
            <a:xfrm>
              <a:off x="4819425" y="4042186"/>
              <a:ext cx="1538344" cy="1204856"/>
            </a:xfrm>
            <a:custGeom>
              <a:avLst/>
              <a:gdLst>
                <a:gd name="connsiteX0" fmla="*/ 0 w 1538344"/>
                <a:gd name="connsiteY0" fmla="*/ 1204856 h 1204856"/>
                <a:gd name="connsiteX1" fmla="*/ 0 w 1538344"/>
                <a:gd name="connsiteY1" fmla="*/ 10757 h 1204856"/>
                <a:gd name="connsiteX2" fmla="*/ 1538344 w 1538344"/>
                <a:gd name="connsiteY2" fmla="*/ 0 h 120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8344" h="1204856">
                  <a:moveTo>
                    <a:pt x="0" y="1204856"/>
                  </a:moveTo>
                  <a:lnTo>
                    <a:pt x="0" y="10757"/>
                  </a:lnTo>
                  <a:lnTo>
                    <a:pt x="1538344" y="0"/>
                  </a:lnTo>
                </a:path>
              </a:pathLst>
            </a:custGeom>
            <a:solidFill>
              <a:srgbClr val="FF0000">
                <a:alpha val="3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     PS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2527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diagram look like for the monopoly?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82001" cy="4724400"/>
              </a:xfrm>
            </p:spPr>
            <p:txBody>
              <a:bodyPr/>
              <a:lstStyle/>
              <a:p>
                <a:pPr lvl="8"/>
                <a:endParaRPr lang="en-US" dirty="0"/>
              </a:p>
              <a:p>
                <a:pPr lvl="8"/>
                <a:endParaRPr lang="en-US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lvl="8"/>
                <a:endParaRPr lang="en-US" sz="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82001" cy="4724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1461F6-C6F5-F430-CB88-81BB3F91C46A}"/>
              </a:ext>
            </a:extLst>
          </p:cNvPr>
          <p:cNvGrpSpPr/>
          <p:nvPr/>
        </p:nvGrpSpPr>
        <p:grpSpPr>
          <a:xfrm>
            <a:off x="1705772" y="1853609"/>
            <a:ext cx="6940438" cy="4511749"/>
            <a:chOff x="4439439" y="2057400"/>
            <a:chExt cx="5509688" cy="3329730"/>
          </a:xfrm>
        </p:grpSpPr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E955C71B-5AE1-A259-A96E-859C82A4C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9858" y="2274567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BEEF689E-3513-8870-F2AD-C7971675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618" y="4942630"/>
              <a:ext cx="32692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CA671B01-0F0E-5F28-A90F-B39DFFCC1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439" y="2328571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5C4BABBC-E762-1FFC-86BD-5FA0BB8B9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6819" y="5018830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077FB49C-DDE3-FECF-D8ED-C91147A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3928" y="2057400"/>
              <a:ext cx="127470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Monopoly</a:t>
              </a: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9C3FFFE2-2B20-30F6-03BE-6184B7A3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2082" y="2497881"/>
              <a:ext cx="3099416" cy="24193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827B4C76-58A4-78AC-6206-468743A1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9380" y="2840780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78080" y="2318542"/>
                  <a:ext cx="1051635" cy="452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MC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>
            <p:sp>
              <p:nvSpPr>
                <p:cNvPr id="14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78080" y="2318542"/>
                  <a:ext cx="1051635" cy="45225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91880" y="4080792"/>
                  <a:ext cx="2057247" cy="656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</a:t>
                  </a:r>
                  <a:r>
                    <a:rPr lang="en-US" altLang="en-US" sz="1800" dirty="0"/>
                    <a:t>Inverse demand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=12 −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>
            <p:sp>
              <p:nvSpPr>
                <p:cNvPr id="18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91880" y="4080792"/>
                  <a:ext cx="2057247" cy="656680"/>
                </a:xfrm>
                <a:prstGeom prst="rect">
                  <a:avLst/>
                </a:prstGeom>
                <a:blipFill>
                  <a:blip r:embed="rId4"/>
                  <a:stretch>
                    <a:fillRect t="-4110" r="-94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4AA961-4795-06A3-9C9A-E371EAB63FE9}"/>
                </a:ext>
              </a:extLst>
            </p:cNvPr>
            <p:cNvSpPr txBox="1"/>
            <p:nvPr/>
          </p:nvSpPr>
          <p:spPr>
            <a:xfrm>
              <a:off x="4786152" y="232436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35CFB9-E8B6-C073-AB24-474248A8D533}"/>
                </a:ext>
              </a:extLst>
            </p:cNvPr>
            <p:cNvSpPr txBox="1"/>
            <p:nvPr/>
          </p:nvSpPr>
          <p:spPr>
            <a:xfrm>
              <a:off x="4841163" y="473256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940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DD32-9585-CEAD-291C-14B2A6FC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and Welfare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E84B2-795B-4B01-BF9C-BEA715426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876800"/>
          </a:xfrm>
        </p:spPr>
        <p:txBody>
          <a:bodyPr/>
          <a:lstStyle/>
          <a:p>
            <a:r>
              <a:rPr lang="en-US" dirty="0"/>
              <a:t>The monopoly has two effects on welfare.</a:t>
            </a:r>
          </a:p>
          <a:p>
            <a:pPr lvl="8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 has created a DWL triangle (in gray) since demand is greater than MC for Q between 200 and 300.</a:t>
            </a:r>
          </a:p>
          <a:p>
            <a:pPr marL="2194877" lvl="8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 has captured surplus from the consumers (A)  with higher valuations.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7805A-1A98-7A5A-1A53-F074D6B8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9DB1D-CACB-322F-563E-3F0EB756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F7AC3-EA51-F67E-D04E-2E371E76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487B4-4F66-5DC4-165B-5627AF7A8F29}"/>
              </a:ext>
            </a:extLst>
          </p:cNvPr>
          <p:cNvGrpSpPr/>
          <p:nvPr/>
        </p:nvGrpSpPr>
        <p:grpSpPr>
          <a:xfrm>
            <a:off x="4419600" y="1828800"/>
            <a:ext cx="4724400" cy="3886200"/>
            <a:chOff x="4419600" y="1828800"/>
            <a:chExt cx="4724400" cy="38862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EDC053A-1DE1-3E43-BAAB-9490D065158C}"/>
                </a:ext>
              </a:extLst>
            </p:cNvPr>
            <p:cNvGrpSpPr/>
            <p:nvPr/>
          </p:nvGrpSpPr>
          <p:grpSpPr>
            <a:xfrm>
              <a:off x="4419600" y="1828800"/>
              <a:ext cx="4724400" cy="3886200"/>
              <a:chOff x="4419600" y="1828800"/>
              <a:chExt cx="4724400" cy="38862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1B4DC88-4842-4840-5FA4-FBD6BFF087AF}"/>
                  </a:ext>
                </a:extLst>
              </p:cNvPr>
              <p:cNvSpPr/>
              <p:nvPr/>
            </p:nvSpPr>
            <p:spPr>
              <a:xfrm>
                <a:off x="4419600" y="1828800"/>
                <a:ext cx="4724400" cy="3886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45EFC50-E222-8450-69BC-528994EA31B5}"/>
                  </a:ext>
                </a:extLst>
              </p:cNvPr>
              <p:cNvGrpSpPr/>
              <p:nvPr/>
            </p:nvGrpSpPr>
            <p:grpSpPr>
              <a:xfrm>
                <a:off x="4802532" y="2086819"/>
                <a:ext cx="4064458" cy="3336082"/>
                <a:chOff x="4802532" y="2086819"/>
                <a:chExt cx="4064458" cy="3336082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4AFAE03-069F-9FC1-00BC-82D623A2D696}"/>
                    </a:ext>
                  </a:extLst>
                </p:cNvPr>
                <p:cNvSpPr/>
                <p:nvPr/>
              </p:nvSpPr>
              <p:spPr>
                <a:xfrm>
                  <a:off x="5601287" y="3378798"/>
                  <a:ext cx="1054249" cy="1581374"/>
                </a:xfrm>
                <a:custGeom>
                  <a:avLst/>
                  <a:gdLst>
                    <a:gd name="connsiteX0" fmla="*/ 0 w 1054249"/>
                    <a:gd name="connsiteY0" fmla="*/ 0 h 1581374"/>
                    <a:gd name="connsiteX1" fmla="*/ 10757 w 1054249"/>
                    <a:gd name="connsiteY1" fmla="*/ 1581374 h 1581374"/>
                    <a:gd name="connsiteX2" fmla="*/ 1043492 w 1054249"/>
                    <a:gd name="connsiteY2" fmla="*/ 785308 h 1581374"/>
                    <a:gd name="connsiteX3" fmla="*/ 1054249 w 1054249"/>
                    <a:gd name="connsiteY3" fmla="*/ 0 h 1581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4249" h="1581374">
                      <a:moveTo>
                        <a:pt x="0" y="0"/>
                      </a:moveTo>
                      <a:cubicBezTo>
                        <a:pt x="3586" y="527125"/>
                        <a:pt x="7171" y="1054249"/>
                        <a:pt x="10757" y="1581374"/>
                      </a:cubicBezTo>
                      <a:lnTo>
                        <a:pt x="1043492" y="785308"/>
                      </a:lnTo>
                      <a:lnTo>
                        <a:pt x="1054249" y="0"/>
                      </a:lnTo>
                    </a:path>
                  </a:pathLst>
                </a:custGeom>
                <a:solidFill>
                  <a:srgbClr val="FF0000">
                    <a:alpha val="1490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</p:txBody>
            </p:sp>
            <p:sp>
              <p:nvSpPr>
                <p:cNvPr id="7" name="Line 9">
                  <a:extLst>
                    <a:ext uri="{FF2B5EF4-FFF2-40B4-BE49-F238E27FC236}">
                      <a16:creationId xmlns:a16="http://schemas.microsoft.com/office/drawing/2014/main" id="{A12D58F7-748A-5F7C-2FF0-C30A853C9C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92951" y="2303986"/>
                  <a:ext cx="4761" cy="26680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Line 10">
                  <a:extLst>
                    <a:ext uri="{FF2B5EF4-FFF2-40B4-BE49-F238E27FC236}">
                      <a16:creationId xmlns:a16="http://schemas.microsoft.com/office/drawing/2014/main" id="{309D3D0B-9227-25D0-B789-20C076643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97711" y="4972049"/>
                  <a:ext cx="32692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Text Box 11">
                  <a:extLst>
                    <a:ext uri="{FF2B5EF4-FFF2-40B4-BE49-F238E27FC236}">
                      <a16:creationId xmlns:a16="http://schemas.microsoft.com/office/drawing/2014/main" id="{EBCF9095-DC31-4F93-881F-0759745897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02532" y="2357990"/>
                  <a:ext cx="336550" cy="3651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 dirty="0"/>
                    <a:t>P</a:t>
                  </a:r>
                </a:p>
              </p:txBody>
            </p:sp>
            <p:sp>
              <p:nvSpPr>
                <p:cNvPr id="10" name="Text Box 12">
                  <a:extLst>
                    <a:ext uri="{FF2B5EF4-FFF2-40B4-BE49-F238E27FC236}">
                      <a16:creationId xmlns:a16="http://schemas.microsoft.com/office/drawing/2014/main" id="{9FF9FD28-D9F4-F7A2-A5FC-4495CF929A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59912" y="5048249"/>
                  <a:ext cx="361950" cy="368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 dirty="0"/>
                    <a:t>Q</a:t>
                  </a:r>
                </a:p>
              </p:txBody>
            </p:sp>
            <p:sp>
              <p:nvSpPr>
                <p:cNvPr id="11" name="Text Box 14">
                  <a:extLst>
                    <a:ext uri="{FF2B5EF4-FFF2-40B4-BE49-F238E27FC236}">
                      <a16:creationId xmlns:a16="http://schemas.microsoft.com/office/drawing/2014/main" id="{3DBD1297-EA31-677D-CBF6-C76168C4EE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67021" y="2086819"/>
                  <a:ext cx="1274708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 u="sng" dirty="0"/>
                    <a:t>Monopoly</a:t>
                  </a:r>
                </a:p>
              </p:txBody>
            </p:sp>
            <p:sp>
              <p:nvSpPr>
                <p:cNvPr id="12" name="Line 15">
                  <a:extLst>
                    <a:ext uri="{FF2B5EF4-FFF2-40B4-BE49-F238E27FC236}">
                      <a16:creationId xmlns:a16="http://schemas.microsoft.com/office/drawing/2014/main" id="{2EECA069-C3A0-CA71-CDDD-62068F2445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15175" y="2527300"/>
                  <a:ext cx="3099416" cy="241934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Line 16">
                  <a:extLst>
                    <a:ext uri="{FF2B5EF4-FFF2-40B4-BE49-F238E27FC236}">
                      <a16:creationId xmlns:a16="http://schemas.microsoft.com/office/drawing/2014/main" id="{FB21E229-D375-8113-73F4-6B92E36BA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02473" y="2870199"/>
                  <a:ext cx="2705102" cy="20764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 Box 17">
                      <a:extLst>
                        <a:ext uri="{FF2B5EF4-FFF2-40B4-BE49-F238E27FC236}">
                          <a16:creationId xmlns:a16="http://schemas.microsoft.com/office/drawing/2014/main" id="{470B3F44-882E-EA96-FFD6-EDC43E7258C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20647" y="2483186"/>
                      <a:ext cx="59394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Arial" charset="0"/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Arial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Font typeface="Arial" charset="0"/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Arial" charset="0"/>
                        <a:buChar char="•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Arial" charset="0"/>
                        <a:buChar char="•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charset="0"/>
                        <a:buChar char="•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charset="0"/>
                        <a:buChar char="•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charset="0"/>
                        <a:buChar char="•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charset="0"/>
                        <a:buChar char="•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𝑀𝐶</m:t>
                            </m:r>
                          </m:oMath>
                        </m:oMathPara>
                      </a14:m>
                      <a:endParaRPr lang="en-US" altLang="en-US" sz="1400" dirty="0"/>
                    </a:p>
                  </p:txBody>
                </p:sp>
              </mc:Choice>
              <mc:Fallback xmlns="">
                <p:sp>
                  <p:nvSpPr>
                    <p:cNvPr id="14" name="Text Box 17">
                      <a:extLst>
                        <a:ext uri="{FF2B5EF4-FFF2-40B4-BE49-F238E27FC236}">
                          <a16:creationId xmlns:a16="http://schemas.microsoft.com/office/drawing/2014/main" id="{470B3F44-882E-EA96-FFD6-EDC43E7258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8120647" y="2483186"/>
                      <a:ext cx="59394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4C3B6BC-585E-6254-ED89-3DB3D43C8E3C}"/>
                    </a:ext>
                  </a:extLst>
                </p:cNvPr>
                <p:cNvSpPr txBox="1"/>
                <p:nvPr/>
              </p:nvSpPr>
              <p:spPr>
                <a:xfrm>
                  <a:off x="5149245" y="2353783"/>
                  <a:ext cx="4411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12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68A7F48-6C0D-A97B-5DF1-6310CD7290A8}"/>
                    </a:ext>
                  </a:extLst>
                </p:cNvPr>
                <p:cNvSpPr txBox="1"/>
                <p:nvPr/>
              </p:nvSpPr>
              <p:spPr>
                <a:xfrm>
                  <a:off x="5204256" y="4761983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0D00113-FA40-431E-800C-76A880BE35CB}"/>
                    </a:ext>
                  </a:extLst>
                </p:cNvPr>
                <p:cNvGrpSpPr/>
                <p:nvPr/>
              </p:nvGrpSpPr>
              <p:grpSpPr>
                <a:xfrm>
                  <a:off x="5213365" y="3188551"/>
                  <a:ext cx="2286243" cy="2234350"/>
                  <a:chOff x="4423574" y="3480651"/>
                  <a:chExt cx="2286243" cy="2234350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661FF920-7F9D-E6BC-F73C-629A54FD10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867400" y="3657600"/>
                    <a:ext cx="0" cy="160654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5402590F-1B16-C688-4B77-9F418527DD9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800600" y="3657600"/>
                    <a:ext cx="10668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2936396-6D27-9324-B84E-E1C61812B052}"/>
                      </a:ext>
                    </a:extLst>
                  </p:cNvPr>
                  <p:cNvSpPr txBox="1"/>
                  <p:nvPr/>
                </p:nvSpPr>
                <p:spPr>
                  <a:xfrm>
                    <a:off x="5563349" y="5345669"/>
                    <a:ext cx="114646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200   300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8CE1024-E0D6-EA8B-D87E-F6A3B082214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3574" y="3480651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8</a:t>
                    </a:r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E3A0654-6AB6-C1EE-33A3-75799CE78CF2}"/>
                    </a:ext>
                  </a:extLst>
                </p:cNvPr>
                <p:cNvGrpSpPr/>
                <p:nvPr/>
              </p:nvGrpSpPr>
              <p:grpSpPr>
                <a:xfrm>
                  <a:off x="5595152" y="2514600"/>
                  <a:ext cx="2132216" cy="2432048"/>
                  <a:chOff x="5232059" y="2485181"/>
                  <a:chExt cx="2132216" cy="2432048"/>
                </a:xfrm>
              </p:grpSpPr>
              <p:sp>
                <p:nvSpPr>
                  <p:cNvPr id="23" name="Line 15">
                    <a:extLst>
                      <a:ext uri="{FF2B5EF4-FFF2-40B4-BE49-F238E27FC236}">
                        <a16:creationId xmlns:a16="http://schemas.microsoft.com/office/drawing/2014/main" id="{56A524AC-1AD3-CEF0-1FAB-DCDDF2688E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32059" y="2485181"/>
                    <a:ext cx="1576395" cy="24320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DB6F53D-E8F8-8917-9718-FB29CF87215C}"/>
                      </a:ext>
                    </a:extLst>
                  </p:cNvPr>
                  <p:cNvSpPr txBox="1"/>
                  <p:nvPr/>
                </p:nvSpPr>
                <p:spPr>
                  <a:xfrm>
                    <a:off x="6820536" y="4471608"/>
                    <a:ext cx="5437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MR</a:t>
                    </a:r>
                  </a:p>
                </p:txBody>
              </p: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C479B87-CDD6-B795-DD00-0168712A77A0}"/>
                    </a:ext>
                  </a:extLst>
                </p:cNvPr>
                <p:cNvCxnSpPr/>
                <p:nvPr/>
              </p:nvCxnSpPr>
              <p:spPr>
                <a:xfrm flipH="1">
                  <a:off x="5631416" y="4147074"/>
                  <a:ext cx="1013693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B80B1E0-497F-27E7-D375-83EC535F9C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15175" y="3751591"/>
                  <a:ext cx="1556372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6514B27-8A23-2BCD-021A-EDDF7B52E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71547" y="3730075"/>
                  <a:ext cx="0" cy="1241974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FDAF871-CF26-7D7B-FF24-E9793A0A9981}"/>
                    </a:ext>
                  </a:extLst>
                </p:cNvPr>
                <p:cNvSpPr txBox="1"/>
                <p:nvPr/>
              </p:nvSpPr>
              <p:spPr>
                <a:xfrm>
                  <a:off x="5195457" y="3557883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6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8327D59-8563-1A92-DDEE-54B2FB875AC1}"/>
                    </a:ext>
                  </a:extLst>
                </p:cNvPr>
                <p:cNvSpPr txBox="1"/>
                <p:nvPr/>
              </p:nvSpPr>
              <p:spPr>
                <a:xfrm>
                  <a:off x="5207974" y="3979960"/>
                  <a:ext cx="421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68ADF7C6-F466-4A14-5AD7-931F34B10DE1}"/>
                    </a:ext>
                  </a:extLst>
                </p:cNvPr>
                <p:cNvSpPr/>
                <p:nvPr/>
              </p:nvSpPr>
              <p:spPr>
                <a:xfrm>
                  <a:off x="5601287" y="2528944"/>
                  <a:ext cx="1065007" cy="860611"/>
                </a:xfrm>
                <a:custGeom>
                  <a:avLst/>
                  <a:gdLst>
                    <a:gd name="connsiteX0" fmla="*/ 0 w 1065007"/>
                    <a:gd name="connsiteY0" fmla="*/ 0 h 860611"/>
                    <a:gd name="connsiteX1" fmla="*/ 10757 w 1065007"/>
                    <a:gd name="connsiteY1" fmla="*/ 860611 h 860611"/>
                    <a:gd name="connsiteX2" fmla="*/ 1065007 w 1065007"/>
                    <a:gd name="connsiteY2" fmla="*/ 849854 h 860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65007" h="860611">
                      <a:moveTo>
                        <a:pt x="0" y="0"/>
                      </a:moveTo>
                      <a:lnTo>
                        <a:pt x="10757" y="860611"/>
                      </a:lnTo>
                      <a:lnTo>
                        <a:pt x="1065007" y="849854"/>
                      </a:lnTo>
                    </a:path>
                  </a:pathLst>
                </a:custGeom>
                <a:solidFill>
                  <a:srgbClr val="92D05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C706E81-6D70-D133-5743-C58BCE97584F}"/>
                    </a:ext>
                  </a:extLst>
                </p:cNvPr>
                <p:cNvSpPr/>
                <p:nvPr/>
              </p:nvSpPr>
              <p:spPr>
                <a:xfrm>
                  <a:off x="6668844" y="3401045"/>
                  <a:ext cx="494852" cy="742278"/>
                </a:xfrm>
                <a:custGeom>
                  <a:avLst/>
                  <a:gdLst>
                    <a:gd name="connsiteX0" fmla="*/ 10758 w 494852"/>
                    <a:gd name="connsiteY0" fmla="*/ 0 h 742278"/>
                    <a:gd name="connsiteX1" fmla="*/ 0 w 494852"/>
                    <a:gd name="connsiteY1" fmla="*/ 742278 h 742278"/>
                    <a:gd name="connsiteX2" fmla="*/ 494852 w 494852"/>
                    <a:gd name="connsiteY2" fmla="*/ 355002 h 74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852" h="742278">
                      <a:moveTo>
                        <a:pt x="10758" y="0"/>
                      </a:moveTo>
                      <a:lnTo>
                        <a:pt x="0" y="742278"/>
                      </a:lnTo>
                      <a:lnTo>
                        <a:pt x="494852" y="355002"/>
                      </a:lnTo>
                    </a:path>
                  </a:pathLst>
                </a:custGeom>
                <a:solidFill>
                  <a:srgbClr val="A6A6A6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4DE0B1CC-8DF1-83C4-7D31-5DC7FC05DB7B}"/>
                    </a:ext>
                  </a:extLst>
                </p:cNvPr>
                <p:cNvSpPr/>
                <p:nvPr/>
              </p:nvSpPr>
              <p:spPr>
                <a:xfrm>
                  <a:off x="5615175" y="3366108"/>
                  <a:ext cx="1054694" cy="400995"/>
                </a:xfrm>
                <a:prstGeom prst="rect">
                  <a:avLst/>
                </a:prstGeom>
                <a:solidFill>
                  <a:srgbClr val="93A299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ysClr val="windowText" lastClr="000000"/>
                      </a:solidFill>
                    </a:rPr>
                    <a:t>A</a:t>
                  </a:r>
                </a:p>
              </p:txBody>
            </p:sp>
          </p:grp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A4CBDA5-E981-1C99-49F3-BD929B90201E}"/>
                </a:ext>
              </a:extLst>
            </p:cNvPr>
            <p:cNvSpPr txBox="1"/>
            <p:nvPr/>
          </p:nvSpPr>
          <p:spPr>
            <a:xfrm>
              <a:off x="8478192" y="4265651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623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F03A-F50A-B5F2-B7E3-7295E821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2BE8-42F7-6571-3CCD-2DAA46D2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Monopolies arise for a variety of reasons, some of which are good from a societal perspective and some of which are bad.  </a:t>
            </a:r>
          </a:p>
          <a:p>
            <a:pPr lvl="8"/>
            <a:endParaRPr lang="en-US" sz="900" dirty="0"/>
          </a:p>
          <a:p>
            <a:r>
              <a:rPr lang="en-US" sz="2000" dirty="0"/>
              <a:t>Like PC firms, monopolies also set MR = MC to maximize profits. </a:t>
            </a:r>
          </a:p>
          <a:p>
            <a:pPr lvl="8"/>
            <a:endParaRPr lang="en-US" sz="900" dirty="0"/>
          </a:p>
          <a:p>
            <a:r>
              <a:rPr lang="en-US" sz="2000" dirty="0"/>
              <a:t>But, monopolies are not price-takers.  They face a downward sloping demand curve and a downward sloping MR curve.  </a:t>
            </a:r>
          </a:p>
          <a:p>
            <a:pPr lvl="8"/>
            <a:endParaRPr lang="en-US" sz="900" dirty="0"/>
          </a:p>
          <a:p>
            <a:r>
              <a:rPr lang="en-US" sz="2000" dirty="0"/>
              <a:t>Consequently, a profit maximizing monopoly will cut output below the competitive level and raise price.</a:t>
            </a:r>
          </a:p>
          <a:p>
            <a:pPr lvl="8"/>
            <a:endParaRPr lang="en-US" sz="900" dirty="0"/>
          </a:p>
          <a:p>
            <a:r>
              <a:rPr lang="en-US" sz="2000" dirty="0"/>
              <a:t>From a welfare perspective, cutting output below the competitive level creates a DWL triangle.  But, it also transfers surplus from consumers to producers.  </a:t>
            </a:r>
          </a:p>
          <a:p>
            <a:pPr lvl="8"/>
            <a:endParaRPr lang="en-US" sz="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5FE3-CF88-C6A6-6A64-1490271D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8E0BA-1706-42E8-7A69-0F493536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79E8-B658-E10A-4FA5-74C588CF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251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8BA7-60AF-214D-E795-AE915AB5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95D6-19FD-A004-F72F-8AC01552A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first weekly quiz is tomorrow.  You can do it from 12am – 11:59pm, but if you want the full 10 minutes, you need to start it by 11:49pm… </a:t>
            </a:r>
          </a:p>
          <a:p>
            <a:endParaRPr lang="en-US" altLang="en-US" dirty="0"/>
          </a:p>
          <a:p>
            <a:r>
              <a:rPr lang="en-US" altLang="en-US" dirty="0"/>
              <a:t>The first problem set is posted.  You can find it on Canvas under Files </a:t>
            </a:r>
            <a:r>
              <a:rPr lang="en-US" altLang="en-US" dirty="0">
                <a:sym typeface="Wingdings" panose="05000000000000000000" pitchFamily="2" charset="2"/>
              </a:rPr>
              <a:t> Problem Sets.  It is due next Tuesday at the start of class.  Please submit it on Canvas.  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The textbook is available under Bookshelf on Canvas.  Next class, we will </a:t>
            </a:r>
            <a:r>
              <a:rPr lang="en-US" altLang="en-US">
                <a:sym typeface="Wingdings" panose="05000000000000000000" pitchFamily="2" charset="2"/>
              </a:rPr>
              <a:t>cover Perloff </a:t>
            </a:r>
            <a:r>
              <a:rPr lang="en-US" altLang="en-US" dirty="0">
                <a:sym typeface="Wingdings" panose="05000000000000000000" pitchFamily="2" charset="2"/>
              </a:rPr>
              <a:t>11.3 – 11.5.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5455D-FDB0-604B-4C24-ED4A9A17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FB34-F5C6-B50D-7793-5A08642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 2: Monopoly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41AE-D39B-2EFD-AF23-329E37D2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153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9710</TotalTime>
  <Words>2165</Words>
  <Application>Microsoft Office PowerPoint</Application>
  <PresentationFormat>On-screen Show (4:3)</PresentationFormat>
  <Paragraphs>437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Cambria Math</vt:lpstr>
      <vt:lpstr>Wingdings</vt:lpstr>
      <vt:lpstr>Clarity</vt:lpstr>
      <vt:lpstr>Class 2: monopoly</vt:lpstr>
      <vt:lpstr>Announcements</vt:lpstr>
      <vt:lpstr>Class Outline</vt:lpstr>
      <vt:lpstr>Recap from last class</vt:lpstr>
      <vt:lpstr>I. What is a monopoly?</vt:lpstr>
      <vt:lpstr>What is a monopoly? </vt:lpstr>
      <vt:lpstr>What are the assumptions of monopoly?</vt:lpstr>
      <vt:lpstr>Are monopolies good or bad from a welfare perspective?</vt:lpstr>
      <vt:lpstr>How can a monopoly arise? (Perloff 11.4)</vt:lpstr>
      <vt:lpstr>II. Monopoly profit maximization (Perloff 11.1)</vt:lpstr>
      <vt:lpstr>Marginal revenue for perfect competition</vt:lpstr>
      <vt:lpstr>Marginal revenue for perfect competition</vt:lpstr>
      <vt:lpstr>So what is different about a monopoly?</vt:lpstr>
      <vt:lpstr>Marginal revenue for monopoly</vt:lpstr>
      <vt:lpstr>A numerical example clearly shows the two regions A and B.  </vt:lpstr>
      <vt:lpstr>Profit maximization for monopoly</vt:lpstr>
      <vt:lpstr>We can find the profit maximizing decision for the monopolist two ways.</vt:lpstr>
      <vt:lpstr>Solving the monopoly problem</vt:lpstr>
      <vt:lpstr>What value of q will maximize the monopolist’s profits?</vt:lpstr>
      <vt:lpstr>Solving the monopoly problem</vt:lpstr>
      <vt:lpstr>What price will the monopolist set and does the monopoly earn profits?</vt:lpstr>
      <vt:lpstr>Graphical depiction of a monopoly</vt:lpstr>
      <vt:lpstr>One slick trick to keep in mind…</vt:lpstr>
      <vt:lpstr>III. Monopoly and welfare (Perloff 11.2)</vt:lpstr>
      <vt:lpstr>Will consumer and producer surplus be different under a monopoly than perfect competition?</vt:lpstr>
      <vt:lpstr>Will welfare be different under a monopoly than perfect competition?</vt:lpstr>
      <vt:lpstr>Let’s revisit the example from last class.</vt:lpstr>
      <vt:lpstr>What would the diagram look like for the monopoly?</vt:lpstr>
      <vt:lpstr>Monopoly and Welfare</vt:lpstr>
      <vt:lpstr>Major takeaways</vt:lpstr>
      <vt:lpstr>Action Items</vt:lpstr>
    </vt:vector>
  </TitlesOfParts>
  <Company>Harvard KSG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BGP-200 Strategy, Competition and Regulation</dc:title>
  <dc:creator>Erich Muehlegger</dc:creator>
  <cp:lastModifiedBy>Erich Johann Muehlegger</cp:lastModifiedBy>
  <cp:revision>284</cp:revision>
  <cp:lastPrinted>2023-04-04T17:05:08Z</cp:lastPrinted>
  <dcterms:created xsi:type="dcterms:W3CDTF">2011-01-21T00:41:49Z</dcterms:created>
  <dcterms:modified xsi:type="dcterms:W3CDTF">2026-03-18T18:18:30Z</dcterms:modified>
</cp:coreProperties>
</file>