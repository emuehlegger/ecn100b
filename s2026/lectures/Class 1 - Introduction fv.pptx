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36"/>
  </p:notesMasterIdLst>
  <p:sldIdLst>
    <p:sldId id="256" r:id="rId2"/>
    <p:sldId id="382" r:id="rId3"/>
    <p:sldId id="276" r:id="rId4"/>
    <p:sldId id="386" r:id="rId5"/>
    <p:sldId id="285" r:id="rId6"/>
    <p:sldId id="323" r:id="rId7"/>
    <p:sldId id="371" r:id="rId8"/>
    <p:sldId id="373" r:id="rId9"/>
    <p:sldId id="374" r:id="rId10"/>
    <p:sldId id="375" r:id="rId11"/>
    <p:sldId id="387" r:id="rId12"/>
    <p:sldId id="390" r:id="rId13"/>
    <p:sldId id="399" r:id="rId14"/>
    <p:sldId id="401" r:id="rId15"/>
    <p:sldId id="393" r:id="rId16"/>
    <p:sldId id="402" r:id="rId17"/>
    <p:sldId id="394" r:id="rId18"/>
    <p:sldId id="400" r:id="rId19"/>
    <p:sldId id="412" r:id="rId20"/>
    <p:sldId id="404" r:id="rId21"/>
    <p:sldId id="395" r:id="rId22"/>
    <p:sldId id="405" r:id="rId23"/>
    <p:sldId id="397" r:id="rId24"/>
    <p:sldId id="388" r:id="rId25"/>
    <p:sldId id="396" r:id="rId26"/>
    <p:sldId id="406" r:id="rId27"/>
    <p:sldId id="398" r:id="rId28"/>
    <p:sldId id="407" r:id="rId29"/>
    <p:sldId id="389" r:id="rId30"/>
    <p:sldId id="408" r:id="rId31"/>
    <p:sldId id="409" r:id="rId32"/>
    <p:sldId id="410" r:id="rId33"/>
    <p:sldId id="383" r:id="rId34"/>
    <p:sldId id="411" r:id="rId3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602" autoAdjust="0"/>
    <p:restoredTop sz="86330" autoAdjust="0"/>
  </p:normalViewPr>
  <p:slideViewPr>
    <p:cSldViewPr>
      <p:cViewPr varScale="1">
        <p:scale>
          <a:sx n="65" d="100"/>
          <a:sy n="65" d="100"/>
        </p:scale>
        <p:origin x="56" y="5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5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smtClean="0"/>
            </a:lvl1pPr>
          </a:lstStyle>
          <a:p>
            <a:pPr>
              <a:defRPr/>
            </a:pPr>
            <a:fld id="{0C75FAF0-693A-4D52-B881-D524B40F63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688228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30C15154-5625-4E02-808B-8E24F263870F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08E91FE-9D99-43BC-8BD1-39031587F63C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163D3750-A752-4CCD-971F-E1797B855A5C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81E7AA3E-617B-4A6B-81DA-CBCB0D4EE17B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2BB33DCF-0D3A-4EFB-A3FC-760735EF5C6F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A4BAB09F-FD78-4A19-9658-C494670166D7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C183E351-F823-4633-B459-22F2FE777E4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1pPr>
            <a:lvl2pPr marL="785372" indent="-302066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2pPr>
            <a:lvl3pPr marL="1208265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3pPr>
            <a:lvl4pPr marL="1691571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4pPr>
            <a:lvl5pPr marL="2174878" indent="-241653">
              <a:spcBef>
                <a:spcPct val="30000"/>
              </a:spcBef>
              <a:defRPr sz="1300">
                <a:solidFill>
                  <a:schemeClr val="tx1"/>
                </a:solidFill>
                <a:latin typeface="Arial" charset="0"/>
              </a:defRPr>
            </a:lvl5pPr>
            <a:lvl6pPr marL="2658184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6pPr>
            <a:lvl7pPr marL="3141490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7pPr>
            <a:lvl8pPr marL="3624796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8pPr>
            <a:lvl9pPr marL="4108102" indent="-241653" eaLnBrk="0" fontAlgn="base" hangingPunct="0">
              <a:spcBef>
                <a:spcPct val="3000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</a:pPr>
            <a:fld id="{4897EB97-0299-4A4A-BFE3-0C5498CEB2FA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5961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0900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70847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C75FAF0-693A-4D52-B881-D524B40F63C3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7760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685800" y="339883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65042CE5-DB0F-4355-9B3D-91ABC39AF5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7474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CFB532-2590-40D4-9ADD-E0DA02EC8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841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731838" y="4598988"/>
            <a:ext cx="7848600" cy="158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/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AB3FB82-CC6E-4E72-9D5E-52FA25EE62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030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B3409-07CA-424D-AEAF-BD7523AAD8F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3693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 rot="5400000">
            <a:off x="2218531" y="4045744"/>
            <a:ext cx="470852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D17CD65-02FC-4245-80F5-F727127E8BA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0760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9F7528-F070-4A68-9243-0A1601C2242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8711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9640AE-ABF1-484F-89E4-EE0589B88C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206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 rot="5400000">
            <a:off x="-13494" y="3580607"/>
            <a:ext cx="5578475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80A66C5-394E-4D03-87D7-BD6363FEA1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1697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827ADD-D9EB-4C92-A7F5-EF477DB081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0133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E1D61-7009-467E-96A6-D826F29C33C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341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2A03C1-726F-4EF3-869C-C3577F55E5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40034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663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9050"/>
            <a:ext cx="28956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9050"/>
            <a:ext cx="4114800" cy="3286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rgbClr val="FFFFFF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9050"/>
            <a:ext cx="1066800" cy="328613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7CB3AAC-8786-4F7F-906F-0E0568EB4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30" r:id="rId1"/>
    <p:sldLayoutId id="2147484423" r:id="rId2"/>
    <p:sldLayoutId id="2147484431" r:id="rId3"/>
    <p:sldLayoutId id="2147484424" r:id="rId4"/>
    <p:sldLayoutId id="2147484432" r:id="rId5"/>
    <p:sldLayoutId id="2147484425" r:id="rId6"/>
    <p:sldLayoutId id="2147484426" r:id="rId7"/>
    <p:sldLayoutId id="2147484433" r:id="rId8"/>
    <p:sldLayoutId id="2147484427" r:id="rId9"/>
    <p:sldLayoutId id="2147484428" r:id="rId10"/>
    <p:sldLayoutId id="214748442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 spc="-1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182563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0250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90000"/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04888" indent="-1825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7450" indent="-1365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Arial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emuehlegger@ucdavis.edu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.iclicker.com/HTC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oin.iclicker.com/MZW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Class 1: Introduction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ECN 100B – Intermediate Microeconomics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/>
              <a:t>Spring 2025</a:t>
            </a: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Prof. </a:t>
            </a:r>
            <a:r>
              <a:rPr lang="en-US" dirty="0" err="1"/>
              <a:t>Muehlegger</a:t>
            </a:r>
            <a:r>
              <a:rPr lang="en-US" dirty="0"/>
              <a:t>	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9946-D78A-4659-81C8-E90CA6087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20F1F5-2831-4500-AE38-6DBA4FE64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Sections will begin this week.</a:t>
            </a:r>
          </a:p>
          <a:p>
            <a:pPr lvl="8"/>
            <a:endParaRPr lang="en-US" dirty="0"/>
          </a:p>
          <a:p>
            <a:r>
              <a:rPr lang="en-US" dirty="0"/>
              <a:t>Office hours will start this week as well.  The dates and times are posted as a Canvas discussion item.</a:t>
            </a:r>
          </a:p>
          <a:p>
            <a:pPr lvl="8"/>
            <a:endParaRPr lang="en-US" dirty="0"/>
          </a:p>
          <a:p>
            <a:r>
              <a:rPr lang="en-US" dirty="0"/>
              <a:t>You can also find the syllabus on Canvas.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02CADB-2E68-49E0-841B-8968B0385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DE5A7-E58D-43AB-A535-10295FD3C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534AE-498E-4CFC-8432-97E571CAC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04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 Outline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Introduction and a few course details</a:t>
            </a:r>
          </a:p>
          <a:p>
            <a:pPr marL="514350" indent="-514350">
              <a:buFont typeface="Arial" charset="0"/>
              <a:buAutoNum type="arabicPeriod"/>
            </a:pPr>
            <a:endParaRPr lang="en-US" altLang="en-US" sz="2800" dirty="0"/>
          </a:p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Review of Profit Maximization and Perfect Competition</a:t>
            </a:r>
          </a:p>
          <a:p>
            <a:pPr marL="514350" indent="-514350">
              <a:buFont typeface="Arial" charset="0"/>
              <a:buAutoNum type="arabicPeriod"/>
            </a:pPr>
            <a:endParaRPr lang="en-US" altLang="en-US" sz="2800" dirty="0"/>
          </a:p>
          <a:p>
            <a:pPr marL="514350" indent="-514350">
              <a:buFont typeface="Arial" charset="0"/>
              <a:buAutoNum type="arabicPeriod"/>
            </a:pPr>
            <a:r>
              <a:rPr lang="en-US" altLang="en-US" sz="2800" dirty="0"/>
              <a:t>Questions</a:t>
            </a:r>
          </a:p>
        </p:txBody>
      </p:sp>
      <p:sp>
        <p:nvSpPr>
          <p:cNvPr id="7172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7173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7174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01D503-B997-48FD-BA68-74AB70F9926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I. Introduction and       course details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147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Introduction	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My contact information:</a:t>
            </a:r>
          </a:p>
          <a:p>
            <a:pPr marL="1737360" lvl="8" indent="0">
              <a:buNone/>
            </a:pPr>
            <a:r>
              <a:rPr lang="en-US" altLang="en-US" dirty="0"/>
              <a:t>	</a:t>
            </a:r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Office: 1120 SS&amp;H</a:t>
            </a:r>
          </a:p>
          <a:p>
            <a:pPr marL="273050" lvl="1" indent="0">
              <a:buFont typeface="Arial" charset="0"/>
              <a:buNone/>
            </a:pPr>
            <a:endParaRPr lang="en-US" altLang="en-US" sz="1100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Office Hours: 	Thursday, 11 – 1pm, in person 	</a:t>
            </a:r>
          </a:p>
          <a:p>
            <a:pPr marL="273050" lvl="1" indent="0">
              <a:buFont typeface="Arial" charset="0"/>
              <a:buNone/>
            </a:pPr>
            <a:endParaRPr lang="en-US" altLang="en-US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Email: </a:t>
            </a:r>
            <a:r>
              <a:rPr lang="en-US" altLang="en-US" dirty="0">
                <a:hlinkClick r:id="rId3"/>
              </a:rPr>
              <a:t>emuehlegger@ucdavis.edu</a:t>
            </a:r>
            <a:endParaRPr lang="en-US" altLang="en-US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Twitter: @erichmuehlegger </a:t>
            </a:r>
          </a:p>
          <a:p>
            <a:pPr marL="273050" lvl="1" indent="0">
              <a:buFont typeface="Arial" charset="0"/>
              <a:buNone/>
            </a:pPr>
            <a:endParaRPr lang="en-US" altLang="en-US" sz="1400" dirty="0"/>
          </a:p>
          <a:p>
            <a:pPr marL="273050" lvl="1" indent="0">
              <a:buFont typeface="Arial" charset="0"/>
              <a:buNone/>
            </a:pPr>
            <a:r>
              <a:rPr lang="en-US" altLang="en-US" dirty="0"/>
              <a:t>My Other Day Job: Economist studying environmental regulation / energy policy.</a:t>
            </a:r>
          </a:p>
        </p:txBody>
      </p:sp>
      <p:sp>
        <p:nvSpPr>
          <p:cNvPr id="819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8198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8FCC2A7-A1C1-43D5-96E4-1CB3CF34FFA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Teaching Team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We have four great TAs who’ll be part of the teaching team for the course.</a:t>
            </a:r>
          </a:p>
          <a:p>
            <a:pPr lvl="4"/>
            <a:endParaRPr lang="en-US" altLang="en-US" dirty="0"/>
          </a:p>
          <a:p>
            <a:pPr lvl="1"/>
            <a:r>
              <a:rPr lang="en-US" altLang="en-US" dirty="0"/>
              <a:t>Francisco </a:t>
            </a:r>
            <a:r>
              <a:rPr lang="en-US" altLang="en-US" dirty="0" err="1"/>
              <a:t>Pizzi</a:t>
            </a:r>
            <a:endParaRPr lang="en-US" altLang="en-US" dirty="0"/>
          </a:p>
          <a:p>
            <a:pPr lvl="1"/>
            <a:r>
              <a:rPr lang="en-US" altLang="en-US" dirty="0"/>
              <a:t>Jessica </a:t>
            </a:r>
            <a:r>
              <a:rPr lang="en-US" altLang="en-US" dirty="0" err="1"/>
              <a:t>Lyu</a:t>
            </a:r>
            <a:endParaRPr lang="en-US" altLang="en-US" dirty="0"/>
          </a:p>
          <a:p>
            <a:pPr lvl="1"/>
            <a:r>
              <a:rPr lang="en-US" altLang="en-US" dirty="0"/>
              <a:t>Maria Pulido</a:t>
            </a:r>
          </a:p>
          <a:p>
            <a:pPr lvl="1"/>
            <a:r>
              <a:rPr lang="en-US" altLang="en-US" dirty="0"/>
              <a:t>Robert </a:t>
            </a:r>
            <a:r>
              <a:rPr lang="en-US" altLang="en-US" dirty="0" err="1"/>
              <a:t>Reaser</a:t>
            </a:r>
            <a:endParaRPr lang="en-US" altLang="en-US" dirty="0"/>
          </a:p>
          <a:p>
            <a:pPr lvl="8"/>
            <a:endParaRPr lang="en-US" altLang="en-US" dirty="0"/>
          </a:p>
          <a:p>
            <a:r>
              <a:rPr lang="en-US" altLang="en-US" dirty="0"/>
              <a:t>You can find the office hour schedule on Canvas.  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You should feel free to attend any TA office hours.</a:t>
            </a:r>
          </a:p>
        </p:txBody>
      </p:sp>
      <p:sp>
        <p:nvSpPr>
          <p:cNvPr id="922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9222" name="Slide Number Placeholder 2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D59A7B-4343-47D5-B4C0-399FA8921D75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Course resources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Lectures are the primary source of material for the course and all exams.   </a:t>
            </a:r>
          </a:p>
          <a:p>
            <a:pPr lvl="8"/>
            <a:endParaRPr lang="en-US" altLang="en-US" b="1" dirty="0"/>
          </a:p>
          <a:p>
            <a:pPr lvl="1"/>
            <a:r>
              <a:rPr lang="en-US" altLang="en-US" dirty="0"/>
              <a:t>I provide handouts for lectures.  I post them prior to class so you can take notes on them if you’d like.  You can find them in Canvas </a:t>
            </a:r>
            <a:r>
              <a:rPr lang="en-US" altLang="en-US" dirty="0">
                <a:sym typeface="Wingdings" panose="05000000000000000000" pitchFamily="2" charset="2"/>
              </a:rPr>
              <a:t> Files  Lecture Slides.</a:t>
            </a:r>
          </a:p>
          <a:p>
            <a:pPr lvl="8"/>
            <a:endParaRPr lang="en-US" altLang="en-US" dirty="0">
              <a:sym typeface="Wingdings" panose="05000000000000000000" pitchFamily="2" charset="2"/>
            </a:endParaRPr>
          </a:p>
          <a:p>
            <a:r>
              <a:rPr lang="en-US" altLang="en-US" b="1" dirty="0">
                <a:sym typeface="Wingdings" panose="05000000000000000000" pitchFamily="2" charset="2"/>
              </a:rPr>
              <a:t>Recommended Textbook</a:t>
            </a:r>
          </a:p>
          <a:p>
            <a:pPr lvl="8"/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i="1" dirty="0"/>
              <a:t>Microeconomics: Theory and Applications with Calculus</a:t>
            </a:r>
            <a:r>
              <a:rPr lang="en-US" dirty="0"/>
              <a:t>, by Jeffrey M. Perloff </a:t>
            </a:r>
          </a:p>
          <a:p>
            <a:pPr lvl="8"/>
            <a:endParaRPr lang="en-US" dirty="0"/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Available through Open Access, any edition is fine.</a:t>
            </a:r>
          </a:p>
          <a:p>
            <a:pPr lvl="8"/>
            <a:endParaRPr lang="en-US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en-US" dirty="0">
                <a:sym typeface="Wingdings" panose="05000000000000000000" pitchFamily="2" charset="2"/>
              </a:rPr>
              <a:t>You can find it under “Bookshelf” on Canvas</a:t>
            </a:r>
          </a:p>
        </p:txBody>
      </p:sp>
      <p:sp>
        <p:nvSpPr>
          <p:cNvPr id="11268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1269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127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14BD02-14CC-4632-960F-67946C73445C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Classroom engagement and clickers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/>
              <a:t>This course will use “in-class” polling.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helps keep you engaged in the material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lets you know whether or not you understand the material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give me real-time feedback on whether I’ve presented the material clearly </a:t>
            </a:r>
          </a:p>
          <a:p>
            <a:pPr marL="730250" lvl="1" indent="-457200">
              <a:buFont typeface="Arial" charset="0"/>
              <a:buAutoNum type="arabicPeriod"/>
              <a:defRPr/>
            </a:pPr>
            <a:r>
              <a:rPr lang="en-US" altLang="en-US" dirty="0"/>
              <a:t>It facilitates class discussion</a:t>
            </a:r>
          </a:p>
          <a:p>
            <a:pPr lvl="8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Clicker questions will not be graded, nor will participation.</a:t>
            </a:r>
          </a:p>
          <a:p>
            <a:pPr lvl="8">
              <a:defRPr/>
            </a:pPr>
            <a:endParaRPr lang="en-US" altLang="en-US" dirty="0"/>
          </a:p>
          <a:p>
            <a:pPr>
              <a:defRPr/>
            </a:pPr>
            <a:r>
              <a:rPr lang="en-US" altLang="en-US" dirty="0"/>
              <a:t>We will use </a:t>
            </a:r>
            <a:r>
              <a:rPr lang="en-US" altLang="en-US" dirty="0" err="1"/>
              <a:t>iClicker</a:t>
            </a:r>
            <a:r>
              <a:rPr lang="en-US" altLang="en-US" dirty="0"/>
              <a:t> which is free for UC Davis students.</a:t>
            </a:r>
          </a:p>
          <a:p>
            <a:pPr lvl="1">
              <a:defRPr/>
            </a:pPr>
            <a:r>
              <a:rPr lang="en-US" altLang="en-US" dirty="0"/>
              <a:t>9 – 10:20 (100B – A): </a:t>
            </a:r>
            <a:r>
              <a:rPr lang="en-US" altLang="en-US" dirty="0">
                <a:hlinkClick r:id="rId3"/>
              </a:rPr>
              <a:t>https://join.iclicker.com/HTCC</a:t>
            </a:r>
            <a:r>
              <a:rPr lang="en-US" altLang="en-US" dirty="0"/>
              <a:t> </a:t>
            </a:r>
          </a:p>
          <a:p>
            <a:pPr lvl="1">
              <a:defRPr/>
            </a:pPr>
            <a:r>
              <a:rPr lang="en-US" altLang="en-US" dirty="0"/>
              <a:t>1:40 – 3:00 (100B – B): </a:t>
            </a:r>
            <a:r>
              <a:rPr lang="en-US" altLang="en-US" dirty="0">
                <a:hlinkClick r:id="rId4"/>
              </a:rPr>
              <a:t>https://join.iclicker.com/MZWB</a:t>
            </a:r>
            <a:r>
              <a:rPr lang="en-US" altLang="en-US" dirty="0"/>
              <a:t> </a:t>
            </a:r>
          </a:p>
        </p:txBody>
      </p:sp>
      <p:sp>
        <p:nvSpPr>
          <p:cNvPr id="13316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3318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74AECFC-6037-442E-9240-FCD3193E6D92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Canvas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 will disseminate material for the course through Canvas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This includes:</a:t>
            </a:r>
          </a:p>
          <a:p>
            <a:pPr lvl="8"/>
            <a:endParaRPr lang="en-US" altLang="en-US" dirty="0"/>
          </a:p>
          <a:p>
            <a:pPr lvl="1"/>
            <a:r>
              <a:rPr lang="en-US" altLang="en-US" dirty="0"/>
              <a:t>Lecture Handouts</a:t>
            </a:r>
          </a:p>
          <a:p>
            <a:pPr lvl="8"/>
            <a:endParaRPr lang="en-US" altLang="en-US" dirty="0"/>
          </a:p>
          <a:p>
            <a:pPr lvl="1"/>
            <a:r>
              <a:rPr lang="en-US" altLang="en-US" dirty="0"/>
              <a:t>Problem Sets and Solutions</a:t>
            </a:r>
          </a:p>
          <a:p>
            <a:pPr lvl="8"/>
            <a:endParaRPr lang="en-US" altLang="en-US" dirty="0"/>
          </a:p>
          <a:p>
            <a:pPr lvl="1"/>
            <a:r>
              <a:rPr lang="en-US" altLang="en-US" dirty="0"/>
              <a:t>Questions to previous midterm and final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Check Canvas often!  </a:t>
            </a:r>
          </a:p>
          <a:p>
            <a:pPr lvl="8"/>
            <a:endParaRPr lang="en-US" altLang="en-US" dirty="0"/>
          </a:p>
          <a:p>
            <a:r>
              <a:rPr lang="en-US" altLang="en-US" dirty="0"/>
              <a:t>Set your preferences to receive announcements by email!  </a:t>
            </a:r>
          </a:p>
        </p:txBody>
      </p:sp>
      <p:sp>
        <p:nvSpPr>
          <p:cNvPr id="14340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4342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947F3A7-5FB0-4D57-A926-A9D621A73BF7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Course Grading (details in syllabus)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marL="514350" indent="-51435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Final Exam (35%)</a:t>
            </a:r>
          </a:p>
          <a:p>
            <a:pPr marL="2252027" lvl="8" indent="-514350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sz="17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100B – A: June 10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@ 8am.</a:t>
            </a:r>
          </a:p>
          <a:p>
            <a:pPr lvl="8">
              <a:lnSpc>
                <a:spcPct val="80000"/>
              </a:lnSpc>
              <a:defRPr/>
            </a:pPr>
            <a:endParaRPr lang="en-US" altLang="en-US" sz="17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100B – B: June 9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 @ 8am.</a:t>
            </a:r>
          </a:p>
          <a:p>
            <a:pPr marL="731837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sz="2400" b="1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Midterm Exam (25%)</a:t>
            </a:r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sz="2800" b="1" baseline="30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altLang="en-US" sz="2400" dirty="0"/>
              <a:t>In class, Tuesday, May 6</a:t>
            </a:r>
            <a:r>
              <a:rPr lang="en-US" altLang="en-US" sz="2400" baseline="30000" dirty="0"/>
              <a:t>th</a:t>
            </a:r>
            <a:r>
              <a:rPr lang="en-US" altLang="en-US" sz="2400" dirty="0"/>
              <a:t>.</a:t>
            </a:r>
          </a:p>
          <a:p>
            <a:pPr marL="731837" lvl="1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b="1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Problem sets (20%)</a:t>
            </a:r>
          </a:p>
          <a:p>
            <a:pPr marL="1828800" lvl="6" indent="-457200">
              <a:lnSpc>
                <a:spcPct val="80000"/>
              </a:lnSpc>
              <a:buFont typeface="+mj-lt"/>
              <a:buAutoNum type="arabicPeriod"/>
              <a:defRPr/>
            </a:pPr>
            <a:endParaRPr lang="en-US" altLang="en-US" sz="1800" b="1" dirty="0"/>
          </a:p>
          <a:p>
            <a:pPr marL="457200" indent="-457200" eaLnBrk="1" hangingPunct="1">
              <a:lnSpc>
                <a:spcPct val="80000"/>
              </a:lnSpc>
              <a:buFont typeface="+mj-lt"/>
              <a:buAutoNum type="arabicPeriod"/>
              <a:defRPr/>
            </a:pPr>
            <a:r>
              <a:rPr lang="en-US" altLang="en-US" sz="2800" b="1" dirty="0"/>
              <a:t>Weekly Quizzes (20%)</a:t>
            </a:r>
          </a:p>
          <a:p>
            <a:pPr marL="1050925" lvl="4" indent="0" eaLnBrk="1" hangingPunct="1">
              <a:lnSpc>
                <a:spcPct val="80000"/>
              </a:lnSpc>
              <a:buFont typeface="Arial" charset="0"/>
              <a:buNone/>
              <a:defRPr/>
            </a:pPr>
            <a:endParaRPr lang="en-US" altLang="en-US" sz="2400" dirty="0"/>
          </a:p>
        </p:txBody>
      </p:sp>
      <p:sp>
        <p:nvSpPr>
          <p:cNvPr id="15364" name="Date Placeholder 3"/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ECN 100B (Muehlegger)</a:t>
            </a:r>
          </a:p>
        </p:txBody>
      </p:sp>
      <p:sp>
        <p:nvSpPr>
          <p:cNvPr id="15365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rgbClr val="FFFFFF"/>
                </a:solidFill>
              </a:rPr>
              <a:t>Class 1: Introduction</a:t>
            </a:r>
          </a:p>
        </p:txBody>
      </p:sp>
      <p:sp>
        <p:nvSpPr>
          <p:cNvPr id="15366" name="Slide Number Placehold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601C90-4C4F-4772-BEC8-F6747156ED45}" type="slidenum">
              <a:rPr lang="en-US" altLang="en-US" sz="1400">
                <a:solidFill>
                  <a:srgbClr val="FFFFFF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289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II. Profit maximization (Perloff 8.2)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51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24F2-01EE-21B1-A1B5-C1C194F8C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Firms seek to maximize profits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000" dirty="0"/>
                  <a:t>We assume that the firm’s objective is to maximize profits, subject to a variable the firm controls (often quantity)</a:t>
                </a:r>
                <a:r>
                  <a:rPr lang="en-US" sz="2000" b="0" i="0" dirty="0"/>
                  <a:t>.  </a:t>
                </a:r>
              </a:p>
              <a:p>
                <a:pPr lvl="8"/>
                <a:endParaRPr lang="en-US" sz="1200" b="0" i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 sz="2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000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lvl="8"/>
                <a:endParaRPr lang="en-US" sz="1200" dirty="0"/>
              </a:p>
              <a:p>
                <a:r>
                  <a:rPr lang="en-US" sz="2000" dirty="0"/>
                  <a:t>Taking the derivative and setting equal to zero.</a:t>
                </a:r>
              </a:p>
              <a:p>
                <a:pPr lvl="8"/>
                <a:endParaRPr lang="en-US" sz="1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𝑑𝑇𝑅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𝑑𝑇𝐶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dirty="0"/>
              </a:p>
              <a:p>
                <a:pPr lvl="8"/>
                <a:endParaRPr lang="en-US" sz="1200" b="0" dirty="0"/>
              </a:p>
              <a:p>
                <a:r>
                  <a:rPr lang="en-US" sz="2000" b="0" dirty="0"/>
                  <a:t>Rearranging, we get the condition for </a:t>
                </a:r>
                <a:r>
                  <a:rPr lang="en-US" sz="2000" dirty="0"/>
                  <a:t>firm profit maximization</a:t>
                </a:r>
              </a:p>
              <a:p>
                <a:pPr lvl="8"/>
                <a:endParaRPr lang="en-US" sz="12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𝑀𝑅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𝑀𝐶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</m:oMath>
                  </m:oMathPara>
                </a14:m>
                <a:endParaRPr lang="en-US" sz="2000" b="0" dirty="0"/>
              </a:p>
              <a:p>
                <a:pPr lvl="8"/>
                <a:endParaRPr lang="en-US" sz="1200" b="0" dirty="0"/>
              </a:p>
              <a:p>
                <a:r>
                  <a:rPr lang="en-US" sz="2000" b="0" dirty="0"/>
                  <a:t>What is the intuition here?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5979A4-A41F-52F7-86DD-75638D72FC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70" t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9E83C-2DEC-E734-8A03-F41958A3E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324874-0B36-784B-344A-696B952ED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47135E-93D8-55E5-42A2-480ED628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308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64463-7669-6375-737A-7397552DC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depiction of profit maximization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860DD-6607-E907-7E2A-5844964C2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548" y="1600199"/>
            <a:ext cx="8229600" cy="4876800"/>
          </a:xfrm>
        </p:spPr>
        <p:txBody>
          <a:bodyPr/>
          <a:lstStyle/>
          <a:p>
            <a:r>
              <a:rPr lang="en-US" dirty="0"/>
              <a:t>Profits are maximized at q*, the point where MR = MC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2BD6A-D611-5C83-49FC-668FA0937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41A82-3374-6289-E680-438132C5D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0A91D-53E8-1D50-E3F5-7FFCBFA49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875087-D29A-F524-AA9D-E64D0804CAA0}"/>
              </a:ext>
            </a:extLst>
          </p:cNvPr>
          <p:cNvCxnSpPr>
            <a:cxnSpLocks/>
          </p:cNvCxnSpPr>
          <p:nvPr/>
        </p:nvCxnSpPr>
        <p:spPr>
          <a:xfrm>
            <a:off x="1828800" y="2602468"/>
            <a:ext cx="0" cy="304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717B8CE-378C-296E-0CC0-EB005B5AF06B}"/>
              </a:ext>
            </a:extLst>
          </p:cNvPr>
          <p:cNvCxnSpPr/>
          <p:nvPr/>
        </p:nvCxnSpPr>
        <p:spPr>
          <a:xfrm>
            <a:off x="1828800" y="5650468"/>
            <a:ext cx="548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659D88-EA93-390B-6917-324AFDAD16A1}"/>
              </a:ext>
            </a:extLst>
          </p:cNvPr>
          <p:cNvSpPr txBox="1"/>
          <p:nvPr/>
        </p:nvSpPr>
        <p:spPr>
          <a:xfrm>
            <a:off x="4495800" y="6107668"/>
            <a:ext cx="1043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Quantity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EEA67C-C3E0-8922-B2F5-E795A84D81CC}"/>
              </a:ext>
            </a:extLst>
          </p:cNvPr>
          <p:cNvSpPr txBox="1"/>
          <p:nvPr/>
        </p:nvSpPr>
        <p:spPr>
          <a:xfrm>
            <a:off x="878540" y="3747275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Profit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CFD019-54DC-150C-4D62-01C2D018B556}"/>
              </a:ext>
            </a:extLst>
          </p:cNvPr>
          <p:cNvSpPr/>
          <p:nvPr/>
        </p:nvSpPr>
        <p:spPr>
          <a:xfrm>
            <a:off x="2205318" y="3393959"/>
            <a:ext cx="4658061" cy="2571170"/>
          </a:xfrm>
          <a:custGeom>
            <a:avLst/>
            <a:gdLst>
              <a:gd name="connsiteX0" fmla="*/ 0 w 4658061"/>
              <a:gd name="connsiteY0" fmla="*/ 2571170 h 2571170"/>
              <a:gd name="connsiteX1" fmla="*/ 2312894 w 4658061"/>
              <a:gd name="connsiteY1" fmla="*/ 93 h 2571170"/>
              <a:gd name="connsiteX2" fmla="*/ 4658061 w 4658061"/>
              <a:gd name="connsiteY2" fmla="*/ 2495867 h 2571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8061" h="2571170">
                <a:moveTo>
                  <a:pt x="0" y="2571170"/>
                </a:moveTo>
                <a:cubicBezTo>
                  <a:pt x="768275" y="1291906"/>
                  <a:pt x="1536551" y="12643"/>
                  <a:pt x="2312894" y="93"/>
                </a:cubicBezTo>
                <a:cubicBezTo>
                  <a:pt x="3089237" y="-12457"/>
                  <a:pt x="3873649" y="1241705"/>
                  <a:pt x="4658061" y="249586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E8EA1B9-BF25-6503-8E1D-F75FBCBE144B}"/>
              </a:ext>
            </a:extLst>
          </p:cNvPr>
          <p:cNvCxnSpPr>
            <a:cxnSpLocks/>
          </p:cNvCxnSpPr>
          <p:nvPr/>
        </p:nvCxnSpPr>
        <p:spPr>
          <a:xfrm>
            <a:off x="4523590" y="2907268"/>
            <a:ext cx="37652" cy="27382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6F65C3A-EE24-BC21-F64A-A5BF1CBA7E90}"/>
              </a:ext>
            </a:extLst>
          </p:cNvPr>
          <p:cNvSpPr txBox="1"/>
          <p:nvPr/>
        </p:nvSpPr>
        <p:spPr>
          <a:xfrm>
            <a:off x="4334257" y="2533007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q*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F1F426C-DB33-484B-BFA2-51FBFD01F2EE}"/>
              </a:ext>
            </a:extLst>
          </p:cNvPr>
          <p:cNvCxnSpPr/>
          <p:nvPr/>
        </p:nvCxnSpPr>
        <p:spPr>
          <a:xfrm flipH="1">
            <a:off x="2205318" y="3124200"/>
            <a:ext cx="21289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8D18F9E-3362-FFCD-F45F-DE103A6D4F6B}"/>
              </a:ext>
            </a:extLst>
          </p:cNvPr>
          <p:cNvCxnSpPr/>
          <p:nvPr/>
        </p:nvCxnSpPr>
        <p:spPr>
          <a:xfrm>
            <a:off x="4788227" y="3124200"/>
            <a:ext cx="2075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FEBC7538-4BAD-E552-E0F9-E6A81EFC18EB}"/>
              </a:ext>
            </a:extLst>
          </p:cNvPr>
          <p:cNvSpPr txBox="1"/>
          <p:nvPr/>
        </p:nvSpPr>
        <p:spPr>
          <a:xfrm>
            <a:off x="2751055" y="2754867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MR&gt;MC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074E90-973C-D783-7050-969D9FA43DE7}"/>
              </a:ext>
            </a:extLst>
          </p:cNvPr>
          <p:cNvSpPr txBox="1"/>
          <p:nvPr/>
        </p:nvSpPr>
        <p:spPr>
          <a:xfrm>
            <a:off x="5307071" y="2754867"/>
            <a:ext cx="1037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MR&lt;MC</a:t>
            </a:r>
          </a:p>
        </p:txBody>
      </p:sp>
    </p:spTree>
    <p:extLst>
      <p:ext uri="{BB962C8B-B14F-4D97-AF65-F5344CB8AC3E}">
        <p14:creationId xmlns:p14="http://schemas.microsoft.com/office/powerpoint/2010/main" val="1378853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II. Perfect competition in the short run (Perloff 8.3)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2562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5E32-78E1-0571-2006-29DF6AA1F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What are the assumptions of perfect competition?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9DAAA-1EF3-BE51-EE05-51A0250D8F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There are many, many firms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Firms sell identical products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All firms have full information about price and product characteristics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There are no transaction costs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Entry and exit from the market is free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/>
              </a:p>
              <a:p>
                <a:r>
                  <a:rPr lang="en-US" sz="2000" dirty="0"/>
                  <a:t>These assumptions have two important implications.		</a:t>
                </a:r>
              </a:p>
              <a:p>
                <a:pPr lvl="8"/>
                <a:endParaRPr lang="en-US" sz="9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Firms are </a:t>
                </a:r>
                <a:r>
                  <a:rPr lang="en-US" sz="2000" u="sng" dirty="0"/>
                  <a:t>price takers</a:t>
                </a:r>
                <a:r>
                  <a:rPr lang="en-US" sz="2000" dirty="0"/>
                  <a:t>.  They can sell as much as they want without affecting the market price.  </a:t>
                </a:r>
                <a:r>
                  <a:rPr lang="en-US" sz="2000" b="1" dirty="0"/>
                  <a:t>This means that firms face a flat marginal revenue curve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𝑴𝑹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𝑷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9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/>
                  <a:t>In the long-run, entry and exit lead economic profits to be zero.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9DAAA-1EF3-BE51-EE05-51A0250D8F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0" t="-625" r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9137-AA02-ACBA-6D74-78FE98A1D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B75E9-CB04-4FD3-609F-4B92BB295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6B6BB-A440-8F0A-5851-638F785CB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5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03CF2-634E-AA33-FD26-F2E77D7D0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Short-run competitive equilibrium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0430-772F-7ADE-491D-0900CB75E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u="sng" dirty="0"/>
              <a:t>competitive equilibrium</a:t>
            </a:r>
            <a:r>
              <a:rPr lang="en-US" dirty="0"/>
              <a:t> is the price and quantity where market supply equals market demand.  </a:t>
            </a:r>
          </a:p>
          <a:p>
            <a:endParaRPr lang="en-US" dirty="0"/>
          </a:p>
          <a:p>
            <a:r>
              <a:rPr lang="en-US" dirty="0"/>
              <a:t>We can find the competitive equilibrium in three steps:</a:t>
            </a:r>
          </a:p>
          <a:p>
            <a:pPr lvl="8"/>
            <a:endParaRPr lang="en-US" dirty="0"/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Calculate the </a:t>
            </a:r>
            <a:r>
              <a:rPr lang="en-US" u="sng" dirty="0"/>
              <a:t>firm supply curve</a:t>
            </a:r>
            <a:r>
              <a:rPr lang="en-US" dirty="0"/>
              <a:t>, how much each firm will produce as a function of price.</a:t>
            </a:r>
          </a:p>
          <a:p>
            <a:pPr marL="2194877" lvl="8" indent="-457200">
              <a:buFont typeface="+mj-lt"/>
              <a:buAutoNum type="arabicPeriod"/>
            </a:pPr>
            <a:endParaRPr lang="en-US" dirty="0"/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Sum the firm supply curves horizontally to get the </a:t>
            </a:r>
            <a:r>
              <a:rPr lang="en-US" u="sng" dirty="0"/>
              <a:t>market supply curve</a:t>
            </a:r>
            <a:r>
              <a:rPr lang="en-US" dirty="0"/>
              <a:t>, how much all firms will produce as a function of price</a:t>
            </a:r>
          </a:p>
          <a:p>
            <a:pPr marL="2194877" lvl="8" indent="-457200">
              <a:buFont typeface="+mj-lt"/>
              <a:buAutoNum type="arabicPeriod"/>
            </a:pPr>
            <a:endParaRPr lang="en-US" dirty="0"/>
          </a:p>
          <a:p>
            <a:pPr marL="731837" lvl="1" indent="-457200">
              <a:buFont typeface="+mj-lt"/>
              <a:buAutoNum type="arabicPeriod"/>
            </a:pPr>
            <a:r>
              <a:rPr lang="en-US" dirty="0"/>
              <a:t>Equate market supply and market demand.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8FA7F-5E65-11BF-0C18-AE24BB6C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41801A-575F-3678-027F-CFF22418A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4BB2A-AB1F-F393-B21E-C5F94D06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062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D4F53-4390-10C6-9365-D1538124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We’ll consider a specific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5125-235F-373B-F550-B4CBF46BB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example, we assume the following: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Market demand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=600 −50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The market is perfectly competitive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There are 100 identical firms in the market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Each firm has identical costs: TC(q) = 9 + q</a:t>
                </a:r>
                <a:r>
                  <a:rPr lang="en-US" baseline="30000" dirty="0"/>
                  <a:t>2</a:t>
                </a:r>
              </a:p>
              <a:p>
                <a:pPr lvl="1"/>
                <a:endParaRPr lang="en-US" baseline="30000" dirty="0"/>
              </a:p>
              <a:p>
                <a:pPr lvl="1"/>
                <a:endParaRPr lang="en-US" baseline="30000" dirty="0"/>
              </a:p>
              <a:p>
                <a:pPr lvl="8"/>
                <a:endParaRPr lang="en-US" baseline="30000" dirty="0"/>
              </a:p>
              <a:p>
                <a:r>
                  <a:rPr lang="en-US" dirty="0"/>
                  <a:t>Question: What can we learn about firm costs just from looking at the equation for TC?</a:t>
                </a:r>
              </a:p>
              <a:p>
                <a:pPr lvl="8"/>
                <a:endParaRPr lang="en-US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255125-235F-373B-F550-B4CBF46BB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52B68-8CA6-D606-7E9A-9F52D00C8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916EE-243B-B64E-12B0-59948864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E9255-0445-BAA7-8077-7054497A1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629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07A8B-A061-6149-9DD8-BC7DDEAFC2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8"/>
                <a:endParaRPr lang="en-US" u="sng" dirty="0"/>
              </a:p>
              <a:p>
                <a:r>
                  <a:rPr lang="en-US" dirty="0"/>
                  <a:t>To find the </a:t>
                </a:r>
                <a:r>
                  <a:rPr lang="en-US" u="sng" dirty="0"/>
                  <a:t>firm supply curve</a:t>
                </a:r>
                <a:r>
                  <a:rPr lang="en-US" dirty="0"/>
                  <a:t>, maximize profits </a:t>
                </a:r>
                <a:r>
                  <a:rPr lang="en-US" dirty="0" err="1"/>
                  <a:t>wrt</a:t>
                </a:r>
                <a:r>
                  <a:rPr lang="en-US" dirty="0"/>
                  <a:t> to q.</a:t>
                </a:r>
              </a:p>
              <a:p>
                <a:pPr lvl="8"/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limLow>
                        <m:limLow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lim>
                      </m:limLow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sz="1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𝑑𝑞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There are two things to note here.</a:t>
                </a:r>
              </a:p>
              <a:p>
                <a:pPr marL="731837" lvl="1" indent="-457200">
                  <a:buFont typeface="+mj-lt"/>
                  <a:buAutoNum type="arabicPeriod"/>
                </a:pPr>
                <a:r>
                  <a:rPr lang="en-US" dirty="0"/>
                  <a:t>The firm is maximizing profits, because MR = MC.</a:t>
                </a:r>
              </a:p>
              <a:p>
                <a:pPr marL="731837" lvl="1" indent="-457200">
                  <a:buFont typeface="+mj-lt"/>
                  <a:buAutoNum type="arabicPeriod"/>
                </a:pPr>
                <a:r>
                  <a:rPr lang="en-US" dirty="0"/>
                  <a:t>Since the market is perfectly competitive, MR = P.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307A8B-A061-6149-9DD8-BC7DDEAFC2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3D297B2-0C51-3DA7-8470-649C79FAC27A}"/>
              </a:ext>
            </a:extLst>
          </p:cNvPr>
          <p:cNvSpPr txBox="1"/>
          <p:nvPr/>
        </p:nvSpPr>
        <p:spPr>
          <a:xfrm>
            <a:off x="4440898" y="3035282"/>
            <a:ext cx="144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9387A-865E-FC0C-05CB-EA2702805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1: What is the firm supply curve?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5CCD96-0B09-436C-8417-9EBD3E535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197EB-389D-FCBB-8CE3-F91040288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C544A-D934-C046-DA8E-44C8D6A6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C1A722-2282-0E09-86CA-CCC16446537E}"/>
              </a:ext>
            </a:extLst>
          </p:cNvPr>
          <p:cNvCxnSpPr>
            <a:cxnSpLocks/>
          </p:cNvCxnSpPr>
          <p:nvPr/>
        </p:nvCxnSpPr>
        <p:spPr>
          <a:xfrm>
            <a:off x="4684895" y="3404614"/>
            <a:ext cx="76200" cy="1212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40E9B8-4DEE-B9F0-5BB1-66124F0A1203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5435732" y="3404614"/>
            <a:ext cx="936" cy="1292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6F061B7-B8CF-893E-5562-D2F4148ABBDB}"/>
              </a:ext>
            </a:extLst>
          </p:cNvPr>
          <p:cNvSpPr txBox="1"/>
          <p:nvPr/>
        </p:nvSpPr>
        <p:spPr>
          <a:xfrm>
            <a:off x="5164798" y="3035282"/>
            <a:ext cx="543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</a:t>
            </a:r>
          </a:p>
        </p:txBody>
      </p:sp>
      <p:sp>
        <p:nvSpPr>
          <p:cNvPr id="15" name="Right Brace 14">
            <a:extLst>
              <a:ext uri="{FF2B5EF4-FFF2-40B4-BE49-F238E27FC236}">
                <a16:creationId xmlns:a16="http://schemas.microsoft.com/office/drawing/2014/main" id="{5568F85A-2795-3DCD-5A2F-45A6A2EEB71F}"/>
              </a:ext>
            </a:extLst>
          </p:cNvPr>
          <p:cNvSpPr/>
          <p:nvPr/>
        </p:nvSpPr>
        <p:spPr>
          <a:xfrm rot="5400000">
            <a:off x="6603395" y="3555395"/>
            <a:ext cx="103094" cy="11681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36BA6F-DAA8-F109-3A36-EA0214D53924}"/>
              </a:ext>
            </a:extLst>
          </p:cNvPr>
          <p:cNvSpPr txBox="1"/>
          <p:nvPr/>
        </p:nvSpPr>
        <p:spPr>
          <a:xfrm>
            <a:off x="5888698" y="4287819"/>
            <a:ext cx="2095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Firm Supply Curve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5568F85A-2795-3DCD-5A2F-45A6A2EEB71F}"/>
              </a:ext>
            </a:extLst>
          </p:cNvPr>
          <p:cNvSpPr/>
          <p:nvPr/>
        </p:nvSpPr>
        <p:spPr>
          <a:xfrm rot="5400000">
            <a:off x="5035201" y="3555395"/>
            <a:ext cx="103094" cy="116811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36BA6F-DAA8-F109-3A36-EA0214D53924}"/>
              </a:ext>
            </a:extLst>
          </p:cNvPr>
          <p:cNvSpPr txBox="1"/>
          <p:nvPr/>
        </p:nvSpPr>
        <p:spPr>
          <a:xfrm>
            <a:off x="4320504" y="4287819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Firm Inverse</a:t>
            </a:r>
          </a:p>
          <a:p>
            <a:r>
              <a:rPr lang="en-US" dirty="0"/>
              <a:t>Supply Curve</a:t>
            </a:r>
          </a:p>
        </p:txBody>
      </p:sp>
    </p:spTree>
    <p:extLst>
      <p:ext uri="{BB962C8B-B14F-4D97-AF65-F5344CB8AC3E}">
        <p14:creationId xmlns:p14="http://schemas.microsoft.com/office/powerpoint/2010/main" val="1163587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3" grpId="0"/>
      <p:bldP spid="15" grpId="0" animBg="1"/>
      <p:bldP spid="16" grpId="0"/>
      <p:bldP spid="17" grpId="0" animBg="1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AAF03-37CC-D422-9B02-7C21CB31F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Profit maximization graphically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7F9B4-178D-0001-C462-E0BB92A1AA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0274" y="1432517"/>
                <a:ext cx="8229600" cy="4876800"/>
              </a:xfrm>
            </p:spPr>
            <p:txBody>
              <a:bodyPr/>
              <a:lstStyle/>
              <a:p>
                <a:r>
                  <a:rPr lang="en-US" sz="2000" dirty="0"/>
                  <a:t>Using an example with P = 10, and our firm supply curve,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b="0" dirty="0"/>
              </a:p>
              <a:p>
                <a:pPr marL="0" indent="0">
                  <a:buNone/>
                </a:pPr>
                <a:endParaRPr lang="en-US" sz="110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>
                          <a:latin typeface="Cambria Math" panose="02040503050406030204" pitchFamily="18" charset="0"/>
                        </a:rPr>
                        <m:t>Π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𝑇𝑅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𝑇𝐶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9+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C7F9B4-178D-0001-C462-E0BB92A1A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0274" y="1432517"/>
                <a:ext cx="8229600" cy="4876800"/>
              </a:xfrm>
              <a:blipFill>
                <a:blip r:embed="rId3"/>
                <a:stretch>
                  <a:fillRect l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B0E4B-A086-CE94-2A3F-489797710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576F79-5777-0F07-4145-D1A7AECE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49C2E-B338-4B94-6409-BB19F1C3B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DF121-FB9A-914D-0AFD-9FB309F1BA8C}"/>
              </a:ext>
            </a:extLst>
          </p:cNvPr>
          <p:cNvGrpSpPr/>
          <p:nvPr/>
        </p:nvGrpSpPr>
        <p:grpSpPr>
          <a:xfrm>
            <a:off x="338360" y="2842846"/>
            <a:ext cx="8274577" cy="3862754"/>
            <a:chOff x="338360" y="2842846"/>
            <a:chExt cx="8274577" cy="3862754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E79318FB-6FAF-AFC6-B4C5-2A9BA2FD26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5290" y="2875536"/>
              <a:ext cx="10847" cy="3406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D31AD8CF-7F33-BFE9-3148-0BDFA32409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48716" y="6279733"/>
              <a:ext cx="3282002" cy="2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8280354F-D23F-3C34-4C5F-1BE56FBD4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360" y="3559016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D739EE95-554F-B894-162F-3AD1847B5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486" y="6336268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F8E87EC-2DBF-819A-9110-DD5C2B84E3BA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1148716" y="3201732"/>
              <a:ext cx="2356484" cy="30806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2B97B0-B058-EDC0-1C7F-360C666EA0A9}"/>
                </a:ext>
              </a:extLst>
            </p:cNvPr>
            <p:cNvCxnSpPr>
              <a:cxnSpLocks/>
            </p:cNvCxnSpPr>
            <p:nvPr/>
          </p:nvCxnSpPr>
          <p:spPr>
            <a:xfrm>
              <a:off x="1981200" y="5136732"/>
              <a:ext cx="0" cy="11430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AC12AEC-EF95-CFF2-1F47-C9CAA047E527}"/>
                </a:ext>
              </a:extLst>
            </p:cNvPr>
            <p:cNvCxnSpPr>
              <a:cxnSpLocks/>
            </p:cNvCxnSpPr>
            <p:nvPr/>
          </p:nvCxnSpPr>
          <p:spPr>
            <a:xfrm>
              <a:off x="2652609" y="4334523"/>
              <a:ext cx="0" cy="1945209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878FCFE-CE6A-9E49-8EB8-8F0FF918D717}"/>
                </a:ext>
              </a:extLst>
            </p:cNvPr>
            <p:cNvSpPr txBox="1"/>
            <p:nvPr/>
          </p:nvSpPr>
          <p:spPr>
            <a:xfrm>
              <a:off x="1820069" y="630777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B3B2C99-B913-1462-7604-859FD78891F5}"/>
                </a:ext>
              </a:extLst>
            </p:cNvPr>
            <p:cNvSpPr txBox="1"/>
            <p:nvPr/>
          </p:nvSpPr>
          <p:spPr>
            <a:xfrm>
              <a:off x="2514600" y="63265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8CDEF66-919B-1456-D30F-86B6F0E3166D}"/>
                </a:ext>
              </a:extLst>
            </p:cNvPr>
            <p:cNvCxnSpPr>
              <a:cxnSpLocks/>
            </p:cNvCxnSpPr>
            <p:nvPr/>
          </p:nvCxnSpPr>
          <p:spPr>
            <a:xfrm>
              <a:off x="1114039" y="5170311"/>
              <a:ext cx="867161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85918B0-6C38-BF60-37F7-478324BF17C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4039" y="4288465"/>
              <a:ext cx="1538570" cy="2126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9ACDDF4-3B55-35D7-21C8-D9D6A54FCAC4}"/>
                </a:ext>
              </a:extLst>
            </p:cNvPr>
            <p:cNvSpPr txBox="1"/>
            <p:nvPr/>
          </p:nvSpPr>
          <p:spPr>
            <a:xfrm>
              <a:off x="3184771" y="2866634"/>
              <a:ext cx="1063112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MC = 2q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953ACC10-F4AF-6C47-75D0-9AF91111C88B}"/>
                </a:ext>
              </a:extLst>
            </p:cNvPr>
            <p:cNvSpPr/>
            <p:nvPr/>
          </p:nvSpPr>
          <p:spPr>
            <a:xfrm>
              <a:off x="1126913" y="3460332"/>
              <a:ext cx="2213010" cy="2819400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5F40383-BCE3-8440-6D7D-4E0DEB9EA7DD}"/>
                </a:ext>
              </a:extLst>
            </p:cNvPr>
            <p:cNvSpPr txBox="1"/>
            <p:nvPr/>
          </p:nvSpPr>
          <p:spPr>
            <a:xfrm>
              <a:off x="3177533" y="632653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C8E1509-72F8-F96C-5492-848C64075AF1}"/>
                </a:ext>
              </a:extLst>
            </p:cNvPr>
            <p:cNvSpPr txBox="1"/>
            <p:nvPr/>
          </p:nvSpPr>
          <p:spPr>
            <a:xfrm>
              <a:off x="741713" y="4971159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413CAA0-8FC6-3926-D3A0-22F37762ABF4}"/>
                </a:ext>
              </a:extLst>
            </p:cNvPr>
            <p:cNvSpPr txBox="1"/>
            <p:nvPr/>
          </p:nvSpPr>
          <p:spPr>
            <a:xfrm>
              <a:off x="668641" y="4125061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457A371-769F-580C-DD41-D8A84990A068}"/>
                </a:ext>
              </a:extLst>
            </p:cNvPr>
            <p:cNvSpPr txBox="1"/>
            <p:nvPr/>
          </p:nvSpPr>
          <p:spPr>
            <a:xfrm>
              <a:off x="674910" y="3275666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14</a:t>
              </a: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A04A7FF-0FB7-611C-A918-2C0465D686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713" y="4277620"/>
              <a:ext cx="3375087" cy="322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3214590-B826-2BDF-6078-26D435897722}"/>
                </a:ext>
              </a:extLst>
            </p:cNvPr>
            <p:cNvSpPr txBox="1"/>
            <p:nvPr/>
          </p:nvSpPr>
          <p:spPr>
            <a:xfrm>
              <a:off x="3777069" y="4103799"/>
              <a:ext cx="103013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dirty="0"/>
                <a:t>MR = P</a:t>
              </a:r>
            </a:p>
          </p:txBody>
        </p:sp>
        <p:sp>
          <p:nvSpPr>
            <p:cNvPr id="54" name="Line 4">
              <a:extLst>
                <a:ext uri="{FF2B5EF4-FFF2-40B4-BE49-F238E27FC236}">
                  <a16:creationId xmlns:a16="http://schemas.microsoft.com/office/drawing/2014/main" id="{CBAEF71B-B870-EDFD-C6F0-FD26238F4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98011" y="2842846"/>
              <a:ext cx="10847" cy="340682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Line 5">
              <a:extLst>
                <a:ext uri="{FF2B5EF4-FFF2-40B4-BE49-F238E27FC236}">
                  <a16:creationId xmlns:a16="http://schemas.microsoft.com/office/drawing/2014/main" id="{1C372B6A-1528-C662-236D-E57FD8177F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31437" y="6247043"/>
              <a:ext cx="3282002" cy="26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Text Box 6">
              <a:extLst>
                <a:ext uri="{FF2B5EF4-FFF2-40B4-BE49-F238E27FC236}">
                  <a16:creationId xmlns:a16="http://schemas.microsoft.com/office/drawing/2014/main" id="{0E42C76E-419A-CBBF-5C73-5459880A3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3025" y="3052367"/>
              <a:ext cx="78739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Profit</a:t>
              </a:r>
            </a:p>
          </p:txBody>
        </p:sp>
        <p:sp>
          <p:nvSpPr>
            <p:cNvPr id="57" name="Text Box 7">
              <a:extLst>
                <a:ext uri="{FF2B5EF4-FFF2-40B4-BE49-F238E27FC236}">
                  <a16:creationId xmlns:a16="http://schemas.microsoft.com/office/drawing/2014/main" id="{23B3D9CC-FBBD-3F22-013D-25E47D876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7207" y="6303578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555DD21D-A20F-357D-1770-C5F8E522FBB8}"/>
                </a:ext>
              </a:extLst>
            </p:cNvPr>
            <p:cNvSpPr txBox="1"/>
            <p:nvPr/>
          </p:nvSpPr>
          <p:spPr>
            <a:xfrm>
              <a:off x="5902790" y="62750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FE88784-E6F1-AA64-684C-1CDE3AD1FBA7}"/>
                </a:ext>
              </a:extLst>
            </p:cNvPr>
            <p:cNvSpPr txBox="1"/>
            <p:nvPr/>
          </p:nvSpPr>
          <p:spPr>
            <a:xfrm>
              <a:off x="6565408" y="62938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87226D2-5921-DB63-28A8-4357181599AC}"/>
                </a:ext>
              </a:extLst>
            </p:cNvPr>
            <p:cNvSpPr/>
            <p:nvPr/>
          </p:nvSpPr>
          <p:spPr>
            <a:xfrm>
              <a:off x="5209633" y="4858252"/>
              <a:ext cx="2264955" cy="1388790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38685018-5295-4D5F-4C44-C47C112B11B3}"/>
                </a:ext>
              </a:extLst>
            </p:cNvPr>
            <p:cNvSpPr txBox="1"/>
            <p:nvPr/>
          </p:nvSpPr>
          <p:spPr>
            <a:xfrm>
              <a:off x="7260254" y="6293844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7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50AC091D-CBF3-6ABC-5056-384033EEEF93}"/>
                </a:ext>
              </a:extLst>
            </p:cNvPr>
            <p:cNvSpPr txBox="1"/>
            <p:nvPr/>
          </p:nvSpPr>
          <p:spPr>
            <a:xfrm>
              <a:off x="4688727" y="4680842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B9327E7E-2532-C856-9809-D351F2B05CF4}"/>
                </a:ext>
              </a:extLst>
            </p:cNvPr>
            <p:cNvSpPr txBox="1"/>
            <p:nvPr/>
          </p:nvSpPr>
          <p:spPr>
            <a:xfrm>
              <a:off x="4630975" y="3701777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16</a:t>
              </a: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6CFE2B3-3505-04A8-FBC7-10BE413060FA}"/>
                </a:ext>
              </a:extLst>
            </p:cNvPr>
            <p:cNvSpPr/>
            <p:nvPr/>
          </p:nvSpPr>
          <p:spPr>
            <a:xfrm>
              <a:off x="5542844" y="3875197"/>
              <a:ext cx="2449689" cy="2370668"/>
            </a:xfrm>
            <a:custGeom>
              <a:avLst/>
              <a:gdLst>
                <a:gd name="connsiteX0" fmla="*/ 0 w 2449689"/>
                <a:gd name="connsiteY0" fmla="*/ 2370668 h 2370668"/>
                <a:gd name="connsiteX1" fmla="*/ 1207912 w 2449689"/>
                <a:gd name="connsiteY1" fmla="*/ 2 h 2370668"/>
                <a:gd name="connsiteX2" fmla="*/ 2449689 w 2449689"/>
                <a:gd name="connsiteY2" fmla="*/ 2359379 h 2370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49689" h="2370668">
                  <a:moveTo>
                    <a:pt x="0" y="2370668"/>
                  </a:moveTo>
                  <a:cubicBezTo>
                    <a:pt x="399815" y="1186275"/>
                    <a:pt x="799631" y="1883"/>
                    <a:pt x="1207912" y="2"/>
                  </a:cubicBezTo>
                  <a:cubicBezTo>
                    <a:pt x="1616193" y="-1879"/>
                    <a:pt x="2032941" y="1178750"/>
                    <a:pt x="2449689" y="2359379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362FA4EC-0DC7-17D2-02F4-71AD605708B6}"/>
                </a:ext>
              </a:extLst>
            </p:cNvPr>
            <p:cNvSpPr/>
            <p:nvPr/>
          </p:nvSpPr>
          <p:spPr>
            <a:xfrm>
              <a:off x="5192508" y="3888090"/>
              <a:ext cx="1543198" cy="2359035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EC7DD76-57F5-F9CB-FA15-35ADB5F3E576}"/>
                </a:ext>
              </a:extLst>
            </p:cNvPr>
            <p:cNvSpPr/>
            <p:nvPr/>
          </p:nvSpPr>
          <p:spPr>
            <a:xfrm>
              <a:off x="5199101" y="4862268"/>
              <a:ext cx="819368" cy="1388790"/>
            </a:xfrm>
            <a:prstGeom prst="rect">
              <a:avLst/>
            </a:prstGeom>
            <a:noFill/>
            <a:ln w="9525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6C7021A4-2AE4-5EBC-FF27-58AD40E3ADD2}"/>
                </a:ext>
              </a:extLst>
            </p:cNvPr>
            <p:cNvGrpSpPr/>
            <p:nvPr/>
          </p:nvGrpSpPr>
          <p:grpSpPr>
            <a:xfrm>
              <a:off x="5334000" y="3352800"/>
              <a:ext cx="2895600" cy="387739"/>
              <a:chOff x="5334000" y="3352800"/>
              <a:chExt cx="2895600" cy="387739"/>
            </a:xfrm>
          </p:grpSpPr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2FA70938-C278-EC96-967E-3B6796E404A2}"/>
                  </a:ext>
                </a:extLst>
              </p:cNvPr>
              <p:cNvSpPr txBox="1"/>
              <p:nvPr/>
            </p:nvSpPr>
            <p:spPr>
              <a:xfrm>
                <a:off x="6632114" y="3371207"/>
                <a:ext cx="22836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q*</a:t>
                </a:r>
              </a:p>
            </p:txBody>
          </p:sp>
          <p:cxnSp>
            <p:nvCxnSpPr>
              <p:cNvPr id="78" name="Straight Arrow Connector 77">
                <a:extLst>
                  <a:ext uri="{FF2B5EF4-FFF2-40B4-BE49-F238E27FC236}">
                    <a16:creationId xmlns:a16="http://schemas.microsoft.com/office/drawing/2014/main" id="{80FA754C-8CB2-83A6-450C-471DEA68F28B}"/>
                  </a:ext>
                </a:extLst>
              </p:cNvPr>
              <p:cNvCxnSpPr/>
              <p:nvPr/>
            </p:nvCxnSpPr>
            <p:spPr>
              <a:xfrm flipH="1">
                <a:off x="5334000" y="3733799"/>
                <a:ext cx="1207381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>
                <a:extLst>
                  <a:ext uri="{FF2B5EF4-FFF2-40B4-BE49-F238E27FC236}">
                    <a16:creationId xmlns:a16="http://schemas.microsoft.com/office/drawing/2014/main" id="{EA730238-522C-5359-A5B6-6463DCFFFD40}"/>
                  </a:ext>
                </a:extLst>
              </p:cNvPr>
              <p:cNvCxnSpPr/>
              <p:nvPr/>
            </p:nvCxnSpPr>
            <p:spPr>
              <a:xfrm>
                <a:off x="7052721" y="3733799"/>
                <a:ext cx="1176879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93D02A89-7473-3C98-A79C-6292967395A6}"/>
                  </a:ext>
                </a:extLst>
              </p:cNvPr>
              <p:cNvSpPr txBox="1"/>
              <p:nvPr/>
            </p:nvSpPr>
            <p:spPr>
              <a:xfrm>
                <a:off x="5515562" y="3364467"/>
                <a:ext cx="5883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MR&gt;MC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F378E0B-3EA3-47C3-17FC-226C24A9D17B}"/>
                  </a:ext>
                </a:extLst>
              </p:cNvPr>
              <p:cNvSpPr txBox="1"/>
              <p:nvPr/>
            </p:nvSpPr>
            <p:spPr>
              <a:xfrm>
                <a:off x="7121194" y="3352800"/>
                <a:ext cx="5883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MR&lt;MC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0666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B564-4DF0-F01A-0721-46D3122D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What is the market supply curve?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0602EC-4657-875E-EC77-309B79E3E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To find the </a:t>
                </a:r>
                <a:r>
                  <a:rPr lang="en-US" u="sng" dirty="0"/>
                  <a:t>market supply curve</a:t>
                </a:r>
                <a:r>
                  <a:rPr lang="en-US" dirty="0"/>
                  <a:t>, we sum the firm supply curves horizontally.  </a:t>
                </a:r>
              </a:p>
              <a:p>
                <a:pPr lvl="8"/>
                <a:endParaRPr lang="en-US" dirty="0"/>
              </a:p>
              <a:p>
                <a:r>
                  <a:rPr lang="en-US" dirty="0"/>
                  <a:t>Mathematically, with </a:t>
                </a:r>
                <a:r>
                  <a:rPr lang="en-US" dirty="0">
                    <a:solidFill>
                      <a:srgbClr val="FF0000"/>
                    </a:solidFill>
                  </a:rPr>
                  <a:t>100</a:t>
                </a:r>
                <a:r>
                  <a:rPr lang="en-US" dirty="0"/>
                  <a:t> firms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Firm supply curve: 			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 curve:   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8"/>
                <a:endParaRPr lang="en-US" dirty="0"/>
              </a:p>
              <a:p>
                <a:r>
                  <a:rPr lang="en-US" dirty="0"/>
                  <a:t>Since we graph supply and demand with price on the vertical axis, we calculate the </a:t>
                </a:r>
                <a:r>
                  <a:rPr lang="en-US" u="sng" dirty="0"/>
                  <a:t>inverse market supply curve </a:t>
                </a:r>
                <a:r>
                  <a:rPr lang="en-US" dirty="0"/>
                  <a:t>by putting price on the left-hand side.  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Inverse Market supply curve:   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50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8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0602EC-4657-875E-EC77-309B79E3E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 r="-17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630FE-DF8B-5478-78F6-D19A5201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2A7B-2A75-0448-7A8A-54911052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6F15E-62B3-8E87-2E24-5D96C121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2248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8B564-4DF0-F01A-0721-46D3122DB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2: What is the market supply curve?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602EC-4657-875E-EC77-309B79E3E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Graphically, we horizontally sum the 100 firm supply curves to get the </a:t>
            </a:r>
            <a:r>
              <a:rPr lang="en-US" u="sng" dirty="0"/>
              <a:t>market supply curve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1630FE-DF8B-5478-78F6-D19A52019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C2A7B-2A75-0448-7A8A-54911052B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6F15E-62B3-8E87-2E24-5D96C1210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3C5389E-18F1-BBC2-E5D3-C70E90286F64}"/>
              </a:ext>
            </a:extLst>
          </p:cNvPr>
          <p:cNvGrpSpPr/>
          <p:nvPr/>
        </p:nvGrpSpPr>
        <p:grpSpPr>
          <a:xfrm>
            <a:off x="762000" y="2971800"/>
            <a:ext cx="7199314" cy="3341132"/>
            <a:chOff x="762000" y="2971800"/>
            <a:chExt cx="7199314" cy="3341132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895097A6-AD1C-7F6C-30E0-558411CC51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3352800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3F60140-E9BE-3FE7-9F09-74D07031DF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19200" y="58674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5CD2138C-6A68-2BF5-17A9-C6948DD066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000" y="3505200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925FC448-88D3-EC28-0536-30CC544BF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400" y="5943600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E52DD55-CABA-240F-A369-E272DE4CC4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0639" y="3199337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F24F7DF2-9A30-B95E-7E3B-7B47A0B7F5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5400" y="5867400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68918245-6F60-F09D-183B-3BC832D7B0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7900" y="3270250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C229889C-17C4-8B72-AAF5-4F8D0C569F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67600" y="5943600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EB8C04F4-6705-BF1E-945B-56D3D64BE7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971800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Individual Firm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32257644-FC48-F86C-CC2B-277B3070B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2971800"/>
              <a:ext cx="1758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Overall Market</a:t>
              </a:r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EFB55FD9-C25D-2310-F7DE-06101704AC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10161" y="3765550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A86AFCDF-3ADA-69F0-A9C6-A6C6FD86CF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24764" y="3417440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Text Box 24">
                  <a:extLst>
                    <a:ext uri="{FF2B5EF4-FFF2-40B4-BE49-F238E27FC236}">
                      <a16:creationId xmlns:a16="http://schemas.microsoft.com/office/drawing/2014/main" id="{A54E4502-FA96-DCFE-7810-DA0B47BA55E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863373" y="3621535"/>
                  <a:ext cx="471347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>
            <p:sp>
              <p:nvSpPr>
                <p:cNvPr id="24" name="Text Box 24">
                  <a:extLst>
                    <a:ext uri="{FF2B5EF4-FFF2-40B4-BE49-F238E27FC236}">
                      <a16:creationId xmlns:a16="http://schemas.microsoft.com/office/drawing/2014/main" id="{A54E4502-FA96-DCFE-7810-DA0B47BA55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863373" y="3621535"/>
                  <a:ext cx="471347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819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263E18F-136F-3CBF-13B0-B9CE5BA5B1A4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1219200" y="4067067"/>
              <a:ext cx="876302" cy="180033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839F92E-19B5-A240-1FD2-B38E4FEF6447}"/>
                </a:ext>
              </a:extLst>
            </p:cNvPr>
            <p:cNvCxnSpPr>
              <a:cxnSpLocks/>
            </p:cNvCxnSpPr>
            <p:nvPr/>
          </p:nvCxnSpPr>
          <p:spPr>
            <a:xfrm>
              <a:off x="1219200" y="4610100"/>
              <a:ext cx="6742114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3E2A12C-40F1-16E7-04E5-6CF815331B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9200" y="4067066"/>
              <a:ext cx="1752600" cy="17928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C593A67-81B1-EFA5-DD85-7F47709C9E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13766" y="4067066"/>
              <a:ext cx="2729584" cy="179286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 Box 24">
                  <a:extLst>
                    <a:ext uri="{FF2B5EF4-FFF2-40B4-BE49-F238E27FC236}">
                      <a16:creationId xmlns:a16="http://schemas.microsoft.com/office/drawing/2014/main" id="{BC4060CB-EC33-CBCC-4294-3997CEEDB66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62200" y="3629603"/>
                  <a:ext cx="974947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>
            <p:sp>
              <p:nvSpPr>
                <p:cNvPr id="43" name="Text Box 24">
                  <a:extLst>
                    <a:ext uri="{FF2B5EF4-FFF2-40B4-BE49-F238E27FC236}">
                      <a16:creationId xmlns:a16="http://schemas.microsoft.com/office/drawing/2014/main" id="{BC4060CB-EC33-CBCC-4294-3997CEEDB6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362200" y="3629603"/>
                  <a:ext cx="974947" cy="369332"/>
                </a:xfrm>
                <a:prstGeom prst="rect">
                  <a:avLst/>
                </a:prstGeom>
                <a:blipFill>
                  <a:blip r:embed="rId3"/>
                  <a:stretch>
                    <a:fillRect b="-819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47E0149-BE7B-47FA-D9F7-B0DC895328E5}"/>
                </a:ext>
              </a:extLst>
            </p:cNvPr>
            <p:cNvSpPr txBox="1"/>
            <p:nvPr/>
          </p:nvSpPr>
          <p:spPr>
            <a:xfrm>
              <a:off x="4615750" y="4450835"/>
              <a:ext cx="441146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 Box 24">
                  <a:extLst>
                    <a:ext uri="{FF2B5EF4-FFF2-40B4-BE49-F238E27FC236}">
                      <a16:creationId xmlns:a16="http://schemas.microsoft.com/office/drawing/2014/main" id="{4BC02432-2DA9-777B-4447-E79243AB2AE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429000" y="3643922"/>
                  <a:ext cx="1478546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400">
                      <a:solidFill>
                        <a:schemeClr val="tx1"/>
                      </a:solidFill>
                      <a:latin typeface="Arial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SzPct val="85000"/>
                    <a:buFont typeface="Arial" charset="0"/>
                    <a:buChar char="•"/>
                    <a:defRPr sz="2000">
                      <a:solidFill>
                        <a:schemeClr val="tx1"/>
                      </a:solidFill>
                      <a:latin typeface="Arial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accent1"/>
                    </a:buClr>
                    <a:buSzPct val="90000"/>
                    <a:buFont typeface="Arial" charset="0"/>
                    <a:buChar char="•"/>
                    <a:defRPr>
                      <a:solidFill>
                        <a:schemeClr val="tx1"/>
                      </a:solidFill>
                      <a:latin typeface="Arial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1"/>
                    </a:buClr>
                    <a:buFont typeface="Arial" charset="0"/>
                    <a:buChar char="•"/>
                    <a:defRPr sz="1600">
                      <a:solidFill>
                        <a:schemeClr val="tx1"/>
                      </a:solidFill>
                      <a:latin typeface="Arial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100000"/>
                    <a:buFont typeface="Arial" charset="0"/>
                    <a:buChar char="•"/>
                    <a:defRPr sz="1400">
                      <a:solidFill>
                        <a:schemeClr val="tx1"/>
                      </a:solidFill>
                      <a:latin typeface="Arial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en-US" sz="1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altLang="en-US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altLang="en-US" sz="1800" dirty="0"/>
                </a:p>
              </p:txBody>
            </p:sp>
          </mc:Choice>
          <mc:Fallback>
            <p:sp>
              <p:nvSpPr>
                <p:cNvPr id="46" name="Text Box 24">
                  <a:extLst>
                    <a:ext uri="{FF2B5EF4-FFF2-40B4-BE49-F238E27FC236}">
                      <a16:creationId xmlns:a16="http://schemas.microsoft.com/office/drawing/2014/main" id="{4BC02432-2DA9-777B-4447-E79243AB2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429000" y="3643922"/>
                  <a:ext cx="1478546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8333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40859B9-61F2-CF91-E129-2F1F4569CBC8}"/>
                </a:ext>
              </a:extLst>
            </p:cNvPr>
            <p:cNvCxnSpPr/>
            <p:nvPr/>
          </p:nvCxnSpPr>
          <p:spPr>
            <a:xfrm>
              <a:off x="1828800" y="4610100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D9B2213-6D74-DC6A-EBD6-4163E73F4000}"/>
                </a:ext>
              </a:extLst>
            </p:cNvPr>
            <p:cNvCxnSpPr/>
            <p:nvPr/>
          </p:nvCxnSpPr>
          <p:spPr>
            <a:xfrm>
              <a:off x="2438400" y="4635501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13D1604-CA9B-E0C3-9593-A65C828A7E37}"/>
                </a:ext>
              </a:extLst>
            </p:cNvPr>
            <p:cNvCxnSpPr/>
            <p:nvPr/>
          </p:nvCxnSpPr>
          <p:spPr>
            <a:xfrm>
              <a:off x="3124200" y="4610100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FA3A032-F3BA-19B3-6294-27433DCDB3DA}"/>
                </a:ext>
              </a:extLst>
            </p:cNvPr>
            <p:cNvSpPr txBox="1"/>
            <p:nvPr/>
          </p:nvSpPr>
          <p:spPr>
            <a:xfrm>
              <a:off x="1676400" y="5892801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8255174-728E-D030-BB67-724427C0D177}"/>
                </a:ext>
              </a:extLst>
            </p:cNvPr>
            <p:cNvSpPr txBox="1"/>
            <p:nvPr/>
          </p:nvSpPr>
          <p:spPr>
            <a:xfrm>
              <a:off x="2281947" y="589280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10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99887F5-ADE4-3B20-4B01-309B568EF40F}"/>
                </a:ext>
              </a:extLst>
            </p:cNvPr>
            <p:cNvSpPr txBox="1"/>
            <p:nvPr/>
          </p:nvSpPr>
          <p:spPr>
            <a:xfrm>
              <a:off x="2950410" y="5892808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15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6FF85B-F62E-EDCA-046B-3EA1277FF297}"/>
                </a:ext>
              </a:extLst>
            </p:cNvPr>
            <p:cNvCxnSpPr/>
            <p:nvPr/>
          </p:nvCxnSpPr>
          <p:spPr>
            <a:xfrm>
              <a:off x="6705600" y="4610100"/>
              <a:ext cx="0" cy="125730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3D8FADE-129B-5F41-B4D6-419CDEBB8F51}"/>
                </a:ext>
              </a:extLst>
            </p:cNvPr>
            <p:cNvSpPr txBox="1"/>
            <p:nvPr/>
          </p:nvSpPr>
          <p:spPr>
            <a:xfrm>
              <a:off x="6422316" y="5897732"/>
              <a:ext cx="5693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249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3B81B-1670-FE80-096A-468EF7ABE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Step 3: Find the competitive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5B90-A459-31E2-7F59-52FDC33D6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calculate the competitive equilibrium by equating market supply and demand.</a:t>
                </a:r>
              </a:p>
              <a:p>
                <a:pPr lvl="8"/>
                <a:endParaRPr lang="en-US" dirty="0"/>
              </a:p>
              <a:p>
                <a:pPr lvl="1"/>
                <a:r>
                  <a:rPr lang="en-US" dirty="0"/>
                  <a:t>Market supply curve:  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Market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b="0" i="0" dirty="0" smtClean="0"/>
                      <m:t>demand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m:rPr>
                        <m:nor/>
                      </m:rPr>
                      <a:rPr lang="en-US" dirty="0"/>
                      <m:t>curve</m:t>
                    </m:r>
                    <m:r>
                      <m:rPr>
                        <m:nor/>
                      </m:rPr>
                      <a:rPr lang="en-US" dirty="0"/>
                      <m:t>: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	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=600 −50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</m:oMath>
                </a14:m>
                <a:r>
                  <a:rPr lang="en-US" dirty="0"/>
                  <a:t>, we have 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=600 −50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=6,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=300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pPr lvl="1"/>
                <a:r>
                  <a:rPr lang="en-US" dirty="0"/>
                  <a:t>Since the firm supply curve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each firm produces 3 units.</a:t>
                </a:r>
              </a:p>
              <a:p>
                <a:pPr lvl="1"/>
                <a:r>
                  <a:rPr lang="en-US" dirty="0"/>
                  <a:t>Alternatively, since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, and N = 100,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DA85B90-A459-31E2-7F59-52FDC33D6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32D447-CE25-A536-95A3-825440B41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50108-D878-1BB3-D88D-8B3F1C65E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9421-BF1B-1F5D-ED30-D665EA1D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53194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27D3B-038A-D00E-0AB2-1785B335D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Graphical depiction of the competitive equilibrium in our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AD100-B9BA-0602-2589-ECC24179E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we graph with price on the vertical axis, we always want to have price on the left-hand side.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8BFFD-75D3-3217-85D4-09492701A8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3124-3CFF-18A1-BE47-DF2751BBC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9C63A-72D9-6886-FC24-A55BEFEC6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17">
                <a:extLst>
                  <a:ext uri="{FF2B5EF4-FFF2-40B4-BE49-F238E27FC236}">
                    <a16:creationId xmlns:a16="http://schemas.microsoft.com/office/drawing/2014/main" id="{AC3E4EA3-ECEC-BF8A-E724-355CF3989F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31201" y="3071678"/>
                <a:ext cx="1925527" cy="7125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dirty="0"/>
                  <a:t> Inverse supply curve: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altLang="en-US" sz="1400" dirty="0"/>
              </a:p>
            </p:txBody>
          </p:sp>
        </mc:Choice>
        <mc:Fallback xmlns="">
          <p:sp>
            <p:nvSpPr>
              <p:cNvPr id="46" name="Text Box 17">
                <a:extLst>
                  <a:ext uri="{FF2B5EF4-FFF2-40B4-BE49-F238E27FC236}">
                    <a16:creationId xmlns:a16="http://schemas.microsoft.com/office/drawing/2014/main" id="{AC3E4EA3-ECEC-BF8A-E724-355CF3989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31201" y="3071678"/>
                <a:ext cx="1925527" cy="712503"/>
              </a:xfrm>
              <a:prstGeom prst="rect">
                <a:avLst/>
              </a:prstGeom>
              <a:blipFill>
                <a:blip r:embed="rId3"/>
                <a:stretch>
                  <a:fillRect t="-1709" b="-8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Box 17">
                <a:extLst>
                  <a:ext uri="{FF2B5EF4-FFF2-40B4-BE49-F238E27FC236}">
                    <a16:creationId xmlns:a16="http://schemas.microsoft.com/office/drawing/2014/main" id="{C6BA5B1E-8F18-640E-98FC-623790AC0D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6440" y="4962305"/>
                <a:ext cx="2057247" cy="71250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dirty="0"/>
                  <a:t> Inverse demand curve: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>
                          <a:latin typeface="Cambria Math" panose="02040503050406030204" pitchFamily="18" charset="0"/>
                        </a:rPr>
                        <m:t>P</m:t>
                      </m:r>
                      <m:r>
                        <a:rPr lang="en-US" sz="1400">
                          <a:latin typeface="Cambria Math" panose="02040503050406030204" pitchFamily="18" charset="0"/>
                        </a:rPr>
                        <m:t>=12 −</m:t>
                      </m:r>
                      <m:f>
                        <m:f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altLang="en-US" sz="1400" dirty="0"/>
              </a:p>
            </p:txBody>
          </p:sp>
        </mc:Choice>
        <mc:Fallback xmlns="">
          <p:sp>
            <p:nvSpPr>
              <p:cNvPr id="64" name="Text Box 17">
                <a:extLst>
                  <a:ext uri="{FF2B5EF4-FFF2-40B4-BE49-F238E27FC236}">
                    <a16:creationId xmlns:a16="http://schemas.microsoft.com/office/drawing/2014/main" id="{C6BA5B1E-8F18-640E-98FC-623790AC0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6440" y="4962305"/>
                <a:ext cx="2057247" cy="712503"/>
              </a:xfrm>
              <a:prstGeom prst="rect">
                <a:avLst/>
              </a:prstGeom>
              <a:blipFill>
                <a:blip r:embed="rId4"/>
                <a:stretch>
                  <a:fillRect t="-1709" b="-8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 Box 17">
                <a:extLst>
                  <a:ext uri="{FF2B5EF4-FFF2-40B4-BE49-F238E27FC236}">
                    <a16:creationId xmlns:a16="http://schemas.microsoft.com/office/drawing/2014/main" id="{AC3E4EA3-ECEC-BF8A-E724-355CF3989F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106440" y="2491384"/>
                <a:ext cx="1885453" cy="7386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dirty="0"/>
                  <a:t> Market supply curve: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=50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1400" dirty="0"/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400" dirty="0"/>
              </a:p>
            </p:txBody>
          </p:sp>
        </mc:Choice>
        <mc:Fallback xmlns="">
          <p:sp>
            <p:nvSpPr>
              <p:cNvPr id="33" name="Text Box 17">
                <a:extLst>
                  <a:ext uri="{FF2B5EF4-FFF2-40B4-BE49-F238E27FC236}">
                    <a16:creationId xmlns:a16="http://schemas.microsoft.com/office/drawing/2014/main" id="{AC3E4EA3-ECEC-BF8A-E724-355CF3989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06440" y="2491384"/>
                <a:ext cx="1885453" cy="738664"/>
              </a:xfrm>
              <a:prstGeom prst="rect">
                <a:avLst/>
              </a:prstGeom>
              <a:blipFill>
                <a:blip r:embed="rId5"/>
                <a:stretch>
                  <a:fillRect t="-16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17">
                <a:extLst>
                  <a:ext uri="{FF2B5EF4-FFF2-40B4-BE49-F238E27FC236}">
                    <a16:creationId xmlns:a16="http://schemas.microsoft.com/office/drawing/2014/main" id="{C6BA5B1E-8F18-640E-98FC-623790AC0D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71475" y="4297227"/>
                <a:ext cx="2057247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SzPct val="85000"/>
                  <a:buFont typeface="Arial" charset="0"/>
                  <a:buChar char="•"/>
                  <a:defRPr sz="20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90000"/>
                  <a:buFont typeface="Arial" charset="0"/>
                  <a:buChar char="•"/>
                  <a:defRPr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1"/>
                  </a:buClr>
                  <a:buFont typeface="Arial" charset="0"/>
                  <a:buChar char="•"/>
                  <a:defRPr sz="16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100000"/>
                  <a:buFont typeface="Arial" charset="0"/>
                  <a:buChar char="•"/>
                  <a:defRPr sz="1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1400" dirty="0"/>
                  <a:t> Market demand curve:</a:t>
                </a:r>
              </a:p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=600 −50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altLang="en-US" sz="1400" dirty="0"/>
              </a:p>
            </p:txBody>
          </p:sp>
        </mc:Choice>
        <mc:Fallback xmlns="">
          <p:sp>
            <p:nvSpPr>
              <p:cNvPr id="47" name="Text Box 17">
                <a:extLst>
                  <a:ext uri="{FF2B5EF4-FFF2-40B4-BE49-F238E27FC236}">
                    <a16:creationId xmlns:a16="http://schemas.microsoft.com/office/drawing/2014/main" id="{C6BA5B1E-8F18-640E-98FC-623790AC0D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71475" y="4297227"/>
                <a:ext cx="2057247" cy="523220"/>
              </a:xfrm>
              <a:prstGeom prst="rect">
                <a:avLst/>
              </a:prstGeom>
              <a:blipFill>
                <a:blip r:embed="rId6"/>
                <a:stretch>
                  <a:fillRect t="-2326" b="-34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D18CE76-C3E8-02F8-7FDD-6B96A8189B86}"/>
              </a:ext>
            </a:extLst>
          </p:cNvPr>
          <p:cNvGrpSpPr/>
          <p:nvPr/>
        </p:nvGrpSpPr>
        <p:grpSpPr>
          <a:xfrm>
            <a:off x="304800" y="2977079"/>
            <a:ext cx="7248310" cy="3347521"/>
            <a:chOff x="304800" y="2977079"/>
            <a:chExt cx="7248310" cy="3347521"/>
          </a:xfrm>
        </p:grpSpPr>
        <p:sp>
          <p:nvSpPr>
            <p:cNvPr id="34" name="Line 4">
              <a:extLst>
                <a:ext uri="{FF2B5EF4-FFF2-40B4-BE49-F238E27FC236}">
                  <a16:creationId xmlns:a16="http://schemas.microsoft.com/office/drawing/2014/main" id="{566DC7F0-EFFA-CC1A-146B-93F6F0564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710" y="3358079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5">
              <a:extLst>
                <a:ext uri="{FF2B5EF4-FFF2-40B4-BE49-F238E27FC236}">
                  <a16:creationId xmlns:a16="http://schemas.microsoft.com/office/drawing/2014/main" id="{D0935040-971F-3400-7E9D-05657998C2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710" y="58726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Box 6">
              <a:extLst>
                <a:ext uri="{FF2B5EF4-FFF2-40B4-BE49-F238E27FC236}">
                  <a16:creationId xmlns:a16="http://schemas.microsoft.com/office/drawing/2014/main" id="{A2E5183E-CF5D-3025-2547-69A93CADFB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510" y="3510479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37" name="Text Box 7">
              <a:extLst>
                <a:ext uri="{FF2B5EF4-FFF2-40B4-BE49-F238E27FC236}">
                  <a16:creationId xmlns:a16="http://schemas.microsoft.com/office/drawing/2014/main" id="{8E11768E-51D3-4B7D-8B3E-85D0D02F08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5910" y="5948879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E955C71B-5AE1-A259-A96E-859C82A4C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5149" y="320461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BEEF689E-3513-8870-F2AD-C79716753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09910" y="58726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Box 11">
              <a:extLst>
                <a:ext uri="{FF2B5EF4-FFF2-40B4-BE49-F238E27FC236}">
                  <a16:creationId xmlns:a16="http://schemas.microsoft.com/office/drawing/2014/main" id="{CA671B01-0F0E-5F28-A90F-B39DFFCC1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2410" y="3275529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5C4BABBC-E762-1FFC-86BD-5FA0BB8B93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2110" y="594887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42" name="Text Box 13">
              <a:extLst>
                <a:ext uri="{FF2B5EF4-FFF2-40B4-BE49-F238E27FC236}">
                  <a16:creationId xmlns:a16="http://schemas.microsoft.com/office/drawing/2014/main" id="{F6EA5F93-82A1-A893-E8A1-4EC505B61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0910" y="2977079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Individual Firm</a:t>
              </a:r>
            </a:p>
          </p:txBody>
        </p:sp>
        <p:sp>
          <p:nvSpPr>
            <p:cNvPr id="43" name="Text Box 14">
              <a:extLst>
                <a:ext uri="{FF2B5EF4-FFF2-40B4-BE49-F238E27FC236}">
                  <a16:creationId xmlns:a16="http://schemas.microsoft.com/office/drawing/2014/main" id="{077FB49C-DDE3-FECF-D8ED-C91147A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79219" y="298744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44" name="Line 15">
              <a:extLst>
                <a:ext uri="{FF2B5EF4-FFF2-40B4-BE49-F238E27FC236}">
                  <a16:creationId xmlns:a16="http://schemas.microsoft.com/office/drawing/2014/main" id="{9C3FFFE2-2B20-30F6-03BE-6184B7A3CF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7373" y="342793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Line 16">
              <a:extLst>
                <a:ext uri="{FF2B5EF4-FFF2-40B4-BE49-F238E27FC236}">
                  <a16:creationId xmlns:a16="http://schemas.microsoft.com/office/drawing/2014/main" id="{827B4C76-58A4-78AC-6206-468743A150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4671" y="377082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19">
              <a:extLst>
                <a:ext uri="{FF2B5EF4-FFF2-40B4-BE49-F238E27FC236}">
                  <a16:creationId xmlns:a16="http://schemas.microsoft.com/office/drawing/2014/main" id="{7B0E1F81-C5F7-6144-9497-AAC9190BE69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3710" y="4638965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20">
              <a:extLst>
                <a:ext uri="{FF2B5EF4-FFF2-40B4-BE49-F238E27FC236}">
                  <a16:creationId xmlns:a16="http://schemas.microsoft.com/office/drawing/2014/main" id="{503775CE-0C09-6101-DF8A-E4B381DB5D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3710" y="4638965"/>
              <a:ext cx="2667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Box 21">
              <a:extLst>
                <a:ext uri="{FF2B5EF4-FFF2-40B4-BE49-F238E27FC236}">
                  <a16:creationId xmlns:a16="http://schemas.microsoft.com/office/drawing/2014/main" id="{0F77AA58-1736-DD79-D5B3-84697F3E6E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84335" y="4672529"/>
              <a:ext cx="544513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MR</a:t>
              </a:r>
            </a:p>
          </p:txBody>
        </p:sp>
        <p:sp>
          <p:nvSpPr>
            <p:cNvPr id="52" name="Text Box 24">
              <a:extLst>
                <a:ext uri="{FF2B5EF4-FFF2-40B4-BE49-F238E27FC236}">
                  <a16:creationId xmlns:a16="http://schemas.microsoft.com/office/drawing/2014/main" id="{D3988512-822E-EC39-AC3E-C7B055D43D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1843" y="3679574"/>
              <a:ext cx="865943" cy="3077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b="0" dirty="0"/>
                <a:t>MC = 2q</a:t>
              </a:r>
              <a:endParaRPr lang="en-US" altLang="en-US" sz="1400" dirty="0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EC9A7A2-FD67-6F74-8C0A-9EF3FB7D9AD6}"/>
                </a:ext>
              </a:extLst>
            </p:cNvPr>
            <p:cNvSpPr/>
            <p:nvPr/>
          </p:nvSpPr>
          <p:spPr>
            <a:xfrm>
              <a:off x="1990510" y="4615379"/>
              <a:ext cx="65088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54" name="TextBox 4">
              <a:extLst>
                <a:ext uri="{FF2B5EF4-FFF2-40B4-BE49-F238E27FC236}">
                  <a16:creationId xmlns:a16="http://schemas.microsoft.com/office/drawing/2014/main" id="{6B513504-DBC6-EC4A-0136-EA311CC94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4487347"/>
              <a:ext cx="6014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  <p:sp>
          <p:nvSpPr>
            <p:cNvPr id="55" name="Rectangle 28">
              <a:extLst>
                <a:ext uri="{FF2B5EF4-FFF2-40B4-BE49-F238E27FC236}">
                  <a16:creationId xmlns:a16="http://schemas.microsoft.com/office/drawing/2014/main" id="{2F9BD4EE-B3CB-B240-A463-B0941387F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0270" y="5891559"/>
              <a:ext cx="6655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q*=3</a:t>
              </a:r>
            </a:p>
          </p:txBody>
        </p: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B582AC7-8790-A43B-5620-B15C010D0869}"/>
                </a:ext>
              </a:extLst>
            </p:cNvPr>
            <p:cNvCxnSpPr/>
            <p:nvPr/>
          </p:nvCxnSpPr>
          <p:spPr>
            <a:xfrm>
              <a:off x="2010695" y="4672529"/>
              <a:ext cx="0" cy="12001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Line 19">
              <a:extLst>
                <a:ext uri="{FF2B5EF4-FFF2-40B4-BE49-F238E27FC236}">
                  <a16:creationId xmlns:a16="http://schemas.microsoft.com/office/drawing/2014/main" id="{EB9F4DFA-1B26-EE90-C6E6-D9804F3DB5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87685" y="4648200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19">
              <a:extLst>
                <a:ext uri="{FF2B5EF4-FFF2-40B4-BE49-F238E27FC236}">
                  <a16:creationId xmlns:a16="http://schemas.microsoft.com/office/drawing/2014/main" id="{ADAFB731-79F0-CB0C-D3D2-3DC5ACE46F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05929" y="4648200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C2B07D54-93CC-DDE4-A6C5-DE558D27F063}"/>
                </a:ext>
              </a:extLst>
            </p:cNvPr>
            <p:cNvCxnSpPr>
              <a:stCxn id="35" idx="0"/>
            </p:cNvCxnSpPr>
            <p:nvPr/>
          </p:nvCxnSpPr>
          <p:spPr>
            <a:xfrm flipV="1">
              <a:off x="923710" y="4071660"/>
              <a:ext cx="1604963" cy="180101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28">
              <a:extLst>
                <a:ext uri="{FF2B5EF4-FFF2-40B4-BE49-F238E27FC236}">
                  <a16:creationId xmlns:a16="http://schemas.microsoft.com/office/drawing/2014/main" id="{92A45BDB-92EB-188D-0BF2-6EE2C6769E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5095" y="595526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p:sp>
          <p:nvSpPr>
            <p:cNvPr id="51" name="TextBox 4">
              <a:extLst>
                <a:ext uri="{FF2B5EF4-FFF2-40B4-BE49-F238E27FC236}">
                  <a16:creationId xmlns:a16="http://schemas.microsoft.com/office/drawing/2014/main" id="{6B513504-DBC6-EC4A-0136-EA311CC942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87814" y="4472216"/>
              <a:ext cx="601447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759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3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III. Perfect competition in the long-run (Perloff 8.4)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334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E2632-3F03-ECA0-93FC-C28BACC1E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our example, do the firms earn economic profits?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EAFAA-49D0-E6CF-6E83-6A5E67D07C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this example, the competitive equilibrium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=6,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𝑇𝐶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=18−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9+</m:t>
                          </m:r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5FEAFAA-49D0-E6CF-6E83-6A5E67D07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67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7CEA8-D16E-1012-3E0A-2A9C86B8F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3A87A-E129-19F5-7D6F-7E815B614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ACDD-D908-EAEF-8CF0-AB21AC7BB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06820F3-27FC-3713-224E-F8A3069ADF91}"/>
              </a:ext>
            </a:extLst>
          </p:cNvPr>
          <p:cNvGrpSpPr/>
          <p:nvPr/>
        </p:nvGrpSpPr>
        <p:grpSpPr>
          <a:xfrm>
            <a:off x="384488" y="3281879"/>
            <a:ext cx="7768912" cy="3347521"/>
            <a:chOff x="384488" y="3281879"/>
            <a:chExt cx="7768912" cy="3347521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EA62DE2E-04F9-0EAA-0D57-70BD01B7CE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3662879"/>
              <a:ext cx="0" cy="2514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7DE66F9-0F21-3108-40E1-06CC19AAB9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61774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AA5E4157-CF59-0266-71E3-E092D121D4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198" y="3815279"/>
              <a:ext cx="3365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P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2C1C1FFB-692C-7215-AC93-02927AF8AB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598" y="6253679"/>
              <a:ext cx="32573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q</a:t>
              </a:r>
            </a:p>
          </p:txBody>
        </p:sp>
        <p:sp>
          <p:nvSpPr>
            <p:cNvPr id="11" name="Line 9">
              <a:extLst>
                <a:ext uri="{FF2B5EF4-FFF2-40B4-BE49-F238E27FC236}">
                  <a16:creationId xmlns:a16="http://schemas.microsoft.com/office/drawing/2014/main" id="{2F7A6ECA-5A6B-E5EE-C110-1B3CE40C50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4837" y="350941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1103D068-F973-B9BB-4C28-F0594CD148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89598" y="617747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F8AE0E2B-01C4-5F33-BB42-9AD380235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98" y="3580329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4" name="Text Box 12">
              <a:extLst>
                <a:ext uri="{FF2B5EF4-FFF2-40B4-BE49-F238E27FC236}">
                  <a16:creationId xmlns:a16="http://schemas.microsoft.com/office/drawing/2014/main" id="{B5009A94-50A7-577D-891E-F5AEDE2B5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1798" y="625367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F6B8E09E-33AD-F6B7-41B6-8C8967DE28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598" y="3281879"/>
              <a:ext cx="18097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Individual Firm</a:t>
              </a: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6B19CA0A-B39A-BCE9-996F-B77931A58A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58907" y="329224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17" name="Line 15">
              <a:extLst>
                <a:ext uri="{FF2B5EF4-FFF2-40B4-BE49-F238E27FC236}">
                  <a16:creationId xmlns:a16="http://schemas.microsoft.com/office/drawing/2014/main" id="{B18B47B9-E6C8-4D68-05A8-0D49BAAF0F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7061" y="373273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12750691-BB42-FB5D-3AB5-30EA7E769B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94359" y="407562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17A51867-6843-3298-F3A1-C7F2D5331C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3398" y="4958279"/>
              <a:ext cx="54864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Line 20">
              <a:extLst>
                <a:ext uri="{FF2B5EF4-FFF2-40B4-BE49-F238E27FC236}">
                  <a16:creationId xmlns:a16="http://schemas.microsoft.com/office/drawing/2014/main" id="{2D3D6CFA-3B75-D340-6B30-2FBE9F376D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3398" y="4958279"/>
              <a:ext cx="26670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Box 21">
              <a:extLst>
                <a:ext uri="{FF2B5EF4-FFF2-40B4-BE49-F238E27FC236}">
                  <a16:creationId xmlns:a16="http://schemas.microsoft.com/office/drawing/2014/main" id="{041D214A-5FED-CE8A-D51E-E5950FEB26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4023" y="4977329"/>
              <a:ext cx="544513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MR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16817E1-04DA-39FC-C34E-672AD05BE9DC}"/>
                </a:ext>
              </a:extLst>
            </p:cNvPr>
            <p:cNvSpPr/>
            <p:nvPr/>
          </p:nvSpPr>
          <p:spPr>
            <a:xfrm>
              <a:off x="2070198" y="4920179"/>
              <a:ext cx="65088" cy="5715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hangingPunct="1">
                <a:defRPr/>
              </a:pPr>
              <a:endParaRPr lang="en-US"/>
            </a:p>
          </p:txBody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55C34031-1A02-C332-F45C-F408C3E966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488" y="4792147"/>
              <a:ext cx="60144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P=6</a:t>
              </a:r>
            </a:p>
          </p:txBody>
        </p:sp>
        <p:sp>
          <p:nvSpPr>
            <p:cNvPr id="26" name="Rectangle 28">
              <a:extLst>
                <a:ext uri="{FF2B5EF4-FFF2-40B4-BE49-F238E27FC236}">
                  <a16:creationId xmlns:a16="http://schemas.microsoft.com/office/drawing/2014/main" id="{FA1ED782-1857-50E3-48EA-8C8F45BF8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9958" y="6196359"/>
              <a:ext cx="66556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q*=3</a:t>
              </a:r>
            </a:p>
          </p:txBody>
        </p: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F46F684-B403-7C25-0B71-AF6A71979A74}"/>
                </a:ext>
              </a:extLst>
            </p:cNvPr>
            <p:cNvCxnSpPr/>
            <p:nvPr/>
          </p:nvCxnSpPr>
          <p:spPr>
            <a:xfrm>
              <a:off x="2100942" y="4977329"/>
              <a:ext cx="0" cy="12001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Line 19">
              <a:extLst>
                <a:ext uri="{FF2B5EF4-FFF2-40B4-BE49-F238E27FC236}">
                  <a16:creationId xmlns:a16="http://schemas.microsoft.com/office/drawing/2014/main" id="{199865D7-ADA1-2442-E05A-DCD5E6AE49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67373" y="4958279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9">
              <a:extLst>
                <a:ext uri="{FF2B5EF4-FFF2-40B4-BE49-F238E27FC236}">
                  <a16:creationId xmlns:a16="http://schemas.microsoft.com/office/drawing/2014/main" id="{F57ED633-1ED9-88B6-EAC7-78CCF63FC5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471103" y="4948754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E76564B-9D36-E4C5-8681-C6BEFAF7FFDE}"/>
                </a:ext>
              </a:extLst>
            </p:cNvPr>
            <p:cNvCxnSpPr>
              <a:cxnSpLocks/>
              <a:stCxn id="8" idx="0"/>
            </p:cNvCxnSpPr>
            <p:nvPr/>
          </p:nvCxnSpPr>
          <p:spPr>
            <a:xfrm flipV="1">
              <a:off x="1003398" y="3999429"/>
              <a:ext cx="1964531" cy="217805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28">
              <a:extLst>
                <a:ext uri="{FF2B5EF4-FFF2-40B4-BE49-F238E27FC236}">
                  <a16:creationId xmlns:a16="http://schemas.microsoft.com/office/drawing/2014/main" id="{EED500AC-8659-CF48-0C58-191BCFE42F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4783" y="626006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p:sp>
          <p:nvSpPr>
            <p:cNvPr id="32" name="Text Box 17">
              <a:extLst>
                <a:ext uri="{FF2B5EF4-FFF2-40B4-BE49-F238E27FC236}">
                  <a16:creationId xmlns:a16="http://schemas.microsoft.com/office/drawing/2014/main" id="{64C8F6D7-D385-D7A5-531E-3CA8C2DC32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90378" y="5590192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D</a:t>
              </a:r>
              <a:endParaRPr lang="en-US" altLang="en-US" sz="1400" dirty="0"/>
            </a:p>
          </p:txBody>
        </p:sp>
        <p:sp>
          <p:nvSpPr>
            <p:cNvPr id="33" name="Text Box 17">
              <a:extLst>
                <a:ext uri="{FF2B5EF4-FFF2-40B4-BE49-F238E27FC236}">
                  <a16:creationId xmlns:a16="http://schemas.microsoft.com/office/drawing/2014/main" id="{8C615E3E-3198-C8AC-DB6B-5E86BC0A8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52869" y="3833010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  <a:endParaRPr lang="en-US" altLang="en-US" sz="1400" dirty="0"/>
            </a:p>
          </p:txBody>
        </p:sp>
        <p:sp>
          <p:nvSpPr>
            <p:cNvPr id="35" name="Text Box 21">
              <a:extLst>
                <a:ext uri="{FF2B5EF4-FFF2-40B4-BE49-F238E27FC236}">
                  <a16:creationId xmlns:a16="http://schemas.microsoft.com/office/drawing/2014/main" id="{09CA3224-60F6-C521-43D4-20741FD7B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1912" y="3743555"/>
              <a:ext cx="54373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MC</a:t>
              </a: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9B635B8-011B-3AFF-E58A-371946399140}"/>
                </a:ext>
              </a:extLst>
            </p:cNvPr>
            <p:cNvSpPr/>
            <p:nvPr/>
          </p:nvSpPr>
          <p:spPr>
            <a:xfrm>
              <a:off x="1482908" y="4200109"/>
              <a:ext cx="2069675" cy="753675"/>
            </a:xfrm>
            <a:custGeom>
              <a:avLst/>
              <a:gdLst>
                <a:gd name="connsiteX0" fmla="*/ 0 w 2069675"/>
                <a:gd name="connsiteY0" fmla="*/ 0 h 753675"/>
                <a:gd name="connsiteX1" fmla="*/ 591671 w 2069675"/>
                <a:gd name="connsiteY1" fmla="*/ 753035 h 753675"/>
                <a:gd name="connsiteX2" fmla="*/ 1893346 w 2069675"/>
                <a:gd name="connsiteY2" fmla="*/ 129091 h 753675"/>
                <a:gd name="connsiteX3" fmla="*/ 2022438 w 2069675"/>
                <a:gd name="connsiteY3" fmla="*/ 43030 h 753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69675" h="753675">
                  <a:moveTo>
                    <a:pt x="0" y="0"/>
                  </a:moveTo>
                  <a:cubicBezTo>
                    <a:pt x="138056" y="365760"/>
                    <a:pt x="276113" y="731520"/>
                    <a:pt x="591671" y="753035"/>
                  </a:cubicBezTo>
                  <a:cubicBezTo>
                    <a:pt x="907229" y="774550"/>
                    <a:pt x="1654885" y="247425"/>
                    <a:pt x="1893346" y="129091"/>
                  </a:cubicBezTo>
                  <a:cubicBezTo>
                    <a:pt x="2131807" y="10757"/>
                    <a:pt x="2077122" y="26893"/>
                    <a:pt x="2022438" y="4303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 Box 21">
              <a:extLst>
                <a:ext uri="{FF2B5EF4-FFF2-40B4-BE49-F238E27FC236}">
                  <a16:creationId xmlns:a16="http://schemas.microsoft.com/office/drawing/2014/main" id="{09A7FABD-EC90-820F-E45F-BC0BB6EA61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363" y="3836932"/>
              <a:ext cx="126412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AC = TC/q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1016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D4D38-C67B-C49F-A66F-AC126CE1C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Economic profits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62F0D7-09D4-8887-A558-04D810FA0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example above, firms earn zero </a:t>
            </a:r>
            <a:r>
              <a:rPr lang="en-US" u="sng" dirty="0"/>
              <a:t>economic profits</a:t>
            </a:r>
            <a:r>
              <a:rPr lang="en-US" dirty="0"/>
              <a:t>.</a:t>
            </a:r>
          </a:p>
          <a:p>
            <a:pPr lvl="8"/>
            <a:endParaRPr lang="en-US" dirty="0"/>
          </a:p>
          <a:p>
            <a:r>
              <a:rPr lang="en-US" dirty="0"/>
              <a:t>What does this mean? 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Economic profits include the opportunity cost of capital.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If a firm earns zero economic profits, their return in this industry is as good as the return they could receive from an equally risky industry.  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Consequently, firms do not want to enter nor exit the market.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059B1-92EB-3123-F15E-FBB748646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E890E-46ED-816B-931A-84224BE3A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5EEE2-2699-6568-C5BB-D473888D7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248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50D04-29D6-5727-1B1A-052019CB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 firms ever earn economic profits?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7934B-E725-B8D1-E503-8C28C5BF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</a:t>
            </a:r>
            <a:r>
              <a:rPr lang="en-US" u="sng" dirty="0"/>
              <a:t>short-run</a:t>
            </a:r>
            <a:r>
              <a:rPr lang="en-US" dirty="0"/>
              <a:t>, firms can change quantities, but can’t enter or exit the market.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Thus, they can make short-run economic profits or losses.</a:t>
            </a:r>
          </a:p>
          <a:p>
            <a:pPr lvl="8"/>
            <a:endParaRPr lang="en-US" dirty="0"/>
          </a:p>
          <a:p>
            <a:r>
              <a:rPr lang="en-US" dirty="0"/>
              <a:t>But, in a competitive market in the </a:t>
            </a:r>
            <a:r>
              <a:rPr lang="en-US" u="sng" dirty="0"/>
              <a:t>long-run</a:t>
            </a:r>
            <a:r>
              <a:rPr lang="en-US" dirty="0"/>
              <a:t>, firms can freely entry and exit the market.</a:t>
            </a:r>
          </a:p>
          <a:p>
            <a:pPr lvl="8"/>
            <a:endParaRPr lang="en-US" u="sng" dirty="0"/>
          </a:p>
          <a:p>
            <a:pPr lvl="1"/>
            <a:r>
              <a:rPr lang="en-US" dirty="0"/>
              <a:t>If firms are earning economic profits in the short-run, entry will shift the market supply outwards</a:t>
            </a:r>
          </a:p>
          <a:p>
            <a:pPr lvl="8"/>
            <a:endParaRPr lang="en-US" u="sng" dirty="0"/>
          </a:p>
          <a:p>
            <a:pPr lvl="1"/>
            <a:r>
              <a:rPr lang="en-US" dirty="0"/>
              <a:t>If firms are bearing economic losses in the short-run</a:t>
            </a:r>
            <a:r>
              <a:rPr lang="en-US"/>
              <a:t>, exit </a:t>
            </a:r>
            <a:r>
              <a:rPr lang="en-US" dirty="0"/>
              <a:t>will shift the market supply curve inwards</a:t>
            </a:r>
          </a:p>
          <a:p>
            <a:pPr lvl="8"/>
            <a:endParaRPr lang="en-US" dirty="0"/>
          </a:p>
          <a:p>
            <a:pPr lvl="1"/>
            <a:r>
              <a:rPr lang="en-US" dirty="0"/>
              <a:t>Entry and exit will happen until economic profits are zero.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2299C-8E93-D853-736C-49E2DA35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698FB5-D9FD-2EF3-EA6A-77F75900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78BA6-0E48-1018-FF60-FF3F762D0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375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ine 19">
            <a:extLst>
              <a:ext uri="{FF2B5EF4-FFF2-40B4-BE49-F238E27FC236}">
                <a16:creationId xmlns:a16="http://schemas.microsoft.com/office/drawing/2014/main" id="{9741E29C-C6C0-09D2-726F-CB335966A9C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71103" y="5019675"/>
            <a:ext cx="0" cy="1268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0787A6D-13C8-0637-834C-2E80BDC2054A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03398" y="4070350"/>
            <a:ext cx="1964531" cy="2178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6D179BE-B7F9-D381-F4F0-77D64743966A}"/>
              </a:ext>
            </a:extLst>
          </p:cNvPr>
          <p:cNvSpPr/>
          <p:nvPr/>
        </p:nvSpPr>
        <p:spPr>
          <a:xfrm>
            <a:off x="1482908" y="4271030"/>
            <a:ext cx="2069675" cy="753675"/>
          </a:xfrm>
          <a:custGeom>
            <a:avLst/>
            <a:gdLst>
              <a:gd name="connsiteX0" fmla="*/ 0 w 2069675"/>
              <a:gd name="connsiteY0" fmla="*/ 0 h 753675"/>
              <a:gd name="connsiteX1" fmla="*/ 591671 w 2069675"/>
              <a:gd name="connsiteY1" fmla="*/ 753035 h 753675"/>
              <a:gd name="connsiteX2" fmla="*/ 1893346 w 2069675"/>
              <a:gd name="connsiteY2" fmla="*/ 129091 h 753675"/>
              <a:gd name="connsiteX3" fmla="*/ 2022438 w 2069675"/>
              <a:gd name="connsiteY3" fmla="*/ 43030 h 753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9675" h="753675">
                <a:moveTo>
                  <a:pt x="0" y="0"/>
                </a:moveTo>
                <a:cubicBezTo>
                  <a:pt x="138056" y="365760"/>
                  <a:pt x="276113" y="731520"/>
                  <a:pt x="591671" y="753035"/>
                </a:cubicBezTo>
                <a:cubicBezTo>
                  <a:pt x="907229" y="774550"/>
                  <a:pt x="1654885" y="247425"/>
                  <a:pt x="1893346" y="129091"/>
                </a:cubicBezTo>
                <a:cubicBezTo>
                  <a:pt x="2131807" y="10757"/>
                  <a:pt x="2077122" y="26893"/>
                  <a:pt x="2022438" y="4303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ine 19">
            <a:extLst>
              <a:ext uri="{FF2B5EF4-FFF2-40B4-BE49-F238E27FC236}">
                <a16:creationId xmlns:a16="http://schemas.microsoft.com/office/drawing/2014/main" id="{6DA5F135-9736-CDFA-8C36-0A537C550DD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03398" y="5252918"/>
            <a:ext cx="5166999" cy="5205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B1E0FF-1077-2637-B37D-43BBFEFD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 with an inward demand shock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843CC-EA4A-2110-D6CA-7B50FA708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/>
          <a:lstStyle/>
          <a:p>
            <a:r>
              <a:rPr lang="en-US" sz="2000" dirty="0"/>
              <a:t>Consider restaurants at the start of COVID – let’s assume that they earn zero economic profit initially.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COVID shifts demand for restaurants inward </a:t>
            </a:r>
            <a:r>
              <a:rPr lang="en-US" sz="1800" dirty="0">
                <a:sym typeface="Wingdings" panose="05000000000000000000" pitchFamily="2" charset="2"/>
              </a:rPr>
              <a:t> Price falls</a:t>
            </a:r>
            <a:endParaRPr lang="en-US" sz="18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As equilibrium price falls, firms bear economic loses in short-run.</a:t>
            </a:r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Firms exit the market, supply shifts inward until profit is zero again.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325A4-0186-16B7-3DCB-DA5364BCC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5637B-08A5-EAF1-EE69-298DD61F5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3B460-63D3-FC5F-4991-C194D127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470A0E0E-247D-C8B9-54B7-395C1FE6C21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98" y="3733800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41566A30-5BB3-F0B9-0AFB-C403670AB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98" y="62484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5682AB34-8822-9D8C-3FE0-44F6A0120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198" y="3886200"/>
            <a:ext cx="3365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P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BE86D1F5-0A8D-56F1-B124-B0E715AF2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5598" y="6324600"/>
            <a:ext cx="32573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q</a:t>
            </a: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5D7B768E-BB6B-89C0-2F10-BDFB2416A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4837" y="3580337"/>
            <a:ext cx="4761" cy="26680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838579A9-E0E5-C4CD-CC26-034751958E3F}"/>
              </a:ext>
            </a:extLst>
          </p:cNvPr>
          <p:cNvSpPr>
            <a:spLocks noChangeShapeType="1"/>
          </p:cNvSpPr>
          <p:nvPr/>
        </p:nvSpPr>
        <p:spPr bwMode="auto">
          <a:xfrm>
            <a:off x="4889598" y="6248400"/>
            <a:ext cx="2743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Text Box 11">
            <a:extLst>
              <a:ext uri="{FF2B5EF4-FFF2-40B4-BE49-F238E27FC236}">
                <a16:creationId xmlns:a16="http://schemas.microsoft.com/office/drawing/2014/main" id="{60798377-EAB2-56F2-FB59-EA7CAA4D6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98" y="3651250"/>
            <a:ext cx="33655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/>
              <a:t>P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647C9606-F5AE-03FE-36E9-2F0427D176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98" y="6324600"/>
            <a:ext cx="3619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/>
              <a:t>Q</a:t>
            </a:r>
          </a:p>
        </p:txBody>
      </p:sp>
      <p:sp>
        <p:nvSpPr>
          <p:cNvPr id="15" name="Text Box 13">
            <a:extLst>
              <a:ext uri="{FF2B5EF4-FFF2-40B4-BE49-F238E27FC236}">
                <a16:creationId xmlns:a16="http://schemas.microsoft.com/office/drawing/2014/main" id="{0B9F4D7C-E155-47E6-27F8-F1301C1A9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98" y="3352800"/>
            <a:ext cx="180975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u="sng" dirty="0"/>
              <a:t>Individual Firm</a:t>
            </a:r>
          </a:p>
        </p:txBody>
      </p:sp>
      <p:sp>
        <p:nvSpPr>
          <p:cNvPr id="16" name="Text Box 14">
            <a:extLst>
              <a:ext uri="{FF2B5EF4-FFF2-40B4-BE49-F238E27FC236}">
                <a16:creationId xmlns:a16="http://schemas.microsoft.com/office/drawing/2014/main" id="{8ED4C5AB-F7B4-0E37-BC63-DC153B4FB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8907" y="3363170"/>
            <a:ext cx="92845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u="sng" dirty="0"/>
              <a:t>Market</a:t>
            </a:r>
          </a:p>
        </p:txBody>
      </p:sp>
      <p:sp>
        <p:nvSpPr>
          <p:cNvPr id="17" name="Line 15">
            <a:extLst>
              <a:ext uri="{FF2B5EF4-FFF2-40B4-BE49-F238E27FC236}">
                <a16:creationId xmlns:a16="http://schemas.microsoft.com/office/drawing/2014/main" id="{3B671D59-3B8E-86F4-22E0-DA13329D1D02}"/>
              </a:ext>
            </a:extLst>
          </p:cNvPr>
          <p:cNvSpPr>
            <a:spLocks noChangeShapeType="1"/>
          </p:cNvSpPr>
          <p:nvPr/>
        </p:nvSpPr>
        <p:spPr bwMode="auto">
          <a:xfrm>
            <a:off x="4907061" y="3803651"/>
            <a:ext cx="2492376" cy="191028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8" name="Line 16">
            <a:extLst>
              <a:ext uri="{FF2B5EF4-FFF2-40B4-BE49-F238E27FC236}">
                <a16:creationId xmlns:a16="http://schemas.microsoft.com/office/drawing/2014/main" id="{A4828D50-F111-59B3-4B6C-33240217A2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4359" y="4146550"/>
            <a:ext cx="2705102" cy="207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" name="Line 19">
            <a:extLst>
              <a:ext uri="{FF2B5EF4-FFF2-40B4-BE49-F238E27FC236}">
                <a16:creationId xmlns:a16="http://schemas.microsoft.com/office/drawing/2014/main" id="{F0588F4E-9982-F454-3B35-98429EF684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003398" y="5029200"/>
            <a:ext cx="54864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0" name="Line 20">
            <a:extLst>
              <a:ext uri="{FF2B5EF4-FFF2-40B4-BE49-F238E27FC236}">
                <a16:creationId xmlns:a16="http://schemas.microsoft.com/office/drawing/2014/main" id="{EC8E3368-E018-E145-71B1-783123398EA7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98" y="5029200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CFB9A059-FB0B-3264-FAC6-E4C07BD2E9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590" y="4672131"/>
            <a:ext cx="54451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MR</a:t>
            </a:r>
          </a:p>
        </p:txBody>
      </p:sp>
      <p:sp>
        <p:nvSpPr>
          <p:cNvPr id="23" name="TextBox 4">
            <a:extLst>
              <a:ext uri="{FF2B5EF4-FFF2-40B4-BE49-F238E27FC236}">
                <a16:creationId xmlns:a16="http://schemas.microsoft.com/office/drawing/2014/main" id="{A720AF28-E922-6CAF-926A-29796C9D6C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4488" y="4863068"/>
            <a:ext cx="33855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P</a:t>
            </a:r>
          </a:p>
        </p:txBody>
      </p:sp>
      <p:sp>
        <p:nvSpPr>
          <p:cNvPr id="24" name="Rectangle 28">
            <a:extLst>
              <a:ext uri="{FF2B5EF4-FFF2-40B4-BE49-F238E27FC236}">
                <a16:creationId xmlns:a16="http://schemas.microsoft.com/office/drawing/2014/main" id="{89BA9C09-D97C-A4D6-FF53-C0119E64E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3438" y="6213925"/>
            <a:ext cx="402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q*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F21DCC-E3BF-5DBE-7CC0-3E931861E5EA}"/>
              </a:ext>
            </a:extLst>
          </p:cNvPr>
          <p:cNvCxnSpPr/>
          <p:nvPr/>
        </p:nvCxnSpPr>
        <p:spPr>
          <a:xfrm>
            <a:off x="2119411" y="5048250"/>
            <a:ext cx="0" cy="1200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70FE83C1-C6AB-BE72-3637-0B34FD8219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1404" y="6330989"/>
            <a:ext cx="36420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Q</a:t>
            </a:r>
          </a:p>
        </p:txBody>
      </p:sp>
      <p:sp>
        <p:nvSpPr>
          <p:cNvPr id="30" name="Text Box 17">
            <a:extLst>
              <a:ext uri="{FF2B5EF4-FFF2-40B4-BE49-F238E27FC236}">
                <a16:creationId xmlns:a16="http://schemas.microsoft.com/office/drawing/2014/main" id="{427BCE81-2A45-E2DF-1B9B-75722789E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3738" y="5539213"/>
            <a:ext cx="5005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</a:t>
            </a:r>
            <a:endParaRPr lang="en-US" altLang="en-US" sz="1400" dirty="0"/>
          </a:p>
        </p:txBody>
      </p:sp>
      <p:sp>
        <p:nvSpPr>
          <p:cNvPr id="31" name="Text Box 17">
            <a:extLst>
              <a:ext uri="{FF2B5EF4-FFF2-40B4-BE49-F238E27FC236}">
                <a16:creationId xmlns:a16="http://schemas.microsoft.com/office/drawing/2014/main" id="{6C85CE84-4CB5-23BD-C65D-3C9E575C2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52869" y="3903931"/>
            <a:ext cx="5005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</a:t>
            </a:r>
            <a:endParaRPr lang="en-US" altLang="en-US" sz="1400" dirty="0"/>
          </a:p>
        </p:txBody>
      </p:sp>
      <p:sp>
        <p:nvSpPr>
          <p:cNvPr id="32" name="Text Box 21">
            <a:extLst>
              <a:ext uri="{FF2B5EF4-FFF2-40B4-BE49-F238E27FC236}">
                <a16:creationId xmlns:a16="http://schemas.microsoft.com/office/drawing/2014/main" id="{2CF0A6D7-87C5-AEED-0DBD-6324E91B74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1912" y="3814476"/>
            <a:ext cx="54373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MC</a:t>
            </a:r>
          </a:p>
        </p:txBody>
      </p:sp>
      <p:sp>
        <p:nvSpPr>
          <p:cNvPr id="34" name="Text Box 21">
            <a:extLst>
              <a:ext uri="{FF2B5EF4-FFF2-40B4-BE49-F238E27FC236}">
                <a16:creationId xmlns:a16="http://schemas.microsoft.com/office/drawing/2014/main" id="{D5519D60-82FF-E43E-D3C6-347D425FBA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363" y="3907853"/>
            <a:ext cx="50526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AC</a:t>
            </a:r>
          </a:p>
        </p:txBody>
      </p:sp>
      <p:sp>
        <p:nvSpPr>
          <p:cNvPr id="35" name="Line 15">
            <a:extLst>
              <a:ext uri="{FF2B5EF4-FFF2-40B4-BE49-F238E27FC236}">
                <a16:creationId xmlns:a16="http://schemas.microsoft.com/office/drawing/2014/main" id="{0A68C5DF-3881-F64E-AE68-F559388C3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66806" y="4271030"/>
            <a:ext cx="2279522" cy="175704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6" name="Text Box 17">
            <a:extLst>
              <a:ext uri="{FF2B5EF4-FFF2-40B4-BE49-F238E27FC236}">
                <a16:creationId xmlns:a16="http://schemas.microsoft.com/office/drawing/2014/main" id="{451097F0-FE88-44C7-814F-B0FCFAE1EF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16615" y="5898955"/>
            <a:ext cx="5005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D’</a:t>
            </a:r>
            <a:endParaRPr lang="en-US" altLang="en-US" sz="1400" dirty="0"/>
          </a:p>
        </p:txBody>
      </p:sp>
      <p:sp>
        <p:nvSpPr>
          <p:cNvPr id="39" name="Line 20">
            <a:extLst>
              <a:ext uri="{FF2B5EF4-FFF2-40B4-BE49-F238E27FC236}">
                <a16:creationId xmlns:a16="http://schemas.microsoft.com/office/drawing/2014/main" id="{A4B92529-8D6C-BA46-5727-EB9775629D1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3398" y="5249665"/>
            <a:ext cx="2667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0E5FCA-42D7-28D1-3235-1207E8F0B34E}"/>
              </a:ext>
            </a:extLst>
          </p:cNvPr>
          <p:cNvSpPr/>
          <p:nvPr/>
        </p:nvSpPr>
        <p:spPr>
          <a:xfrm>
            <a:off x="1014265" y="4966619"/>
            <a:ext cx="859225" cy="275542"/>
          </a:xfrm>
          <a:prstGeom prst="rect">
            <a:avLst/>
          </a:prstGeom>
          <a:solidFill>
            <a:srgbClr val="FF0000">
              <a:alpha val="32941"/>
            </a:srgb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42" name="Rectangle 28">
            <a:extLst>
              <a:ext uri="{FF2B5EF4-FFF2-40B4-BE49-F238E27FC236}">
                <a16:creationId xmlns:a16="http://schemas.microsoft.com/office/drawing/2014/main" id="{510CDC5F-DBDB-0BF4-2352-8D4119FF5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342" y="6202729"/>
            <a:ext cx="40267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q*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D5F8F4-B5C3-2BD3-808F-AD576F116166}"/>
              </a:ext>
            </a:extLst>
          </p:cNvPr>
          <p:cNvCxnSpPr/>
          <p:nvPr/>
        </p:nvCxnSpPr>
        <p:spPr>
          <a:xfrm>
            <a:off x="1873547" y="5291594"/>
            <a:ext cx="0" cy="9531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Line 16">
            <a:extLst>
              <a:ext uri="{FF2B5EF4-FFF2-40B4-BE49-F238E27FC236}">
                <a16:creationId xmlns:a16="http://schemas.microsoft.com/office/drawing/2014/main" id="{FE57443F-2146-6BE6-21DD-0028F1DA16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1143" y="3720729"/>
            <a:ext cx="2705102" cy="2076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5" name="Text Box 17">
            <a:extLst>
              <a:ext uri="{FF2B5EF4-FFF2-40B4-BE49-F238E27FC236}">
                <a16:creationId xmlns:a16="http://schemas.microsoft.com/office/drawing/2014/main" id="{0CA9DE6A-5F4D-35F7-CBD5-38A63F97C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9653" y="3478110"/>
            <a:ext cx="5005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5000"/>
              <a:buFont typeface="Arial" charset="0"/>
              <a:buChar char="•"/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90000"/>
              <a:buFont typeface="Arial" charset="0"/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Arial" charset="0"/>
              <a:buChar char="•"/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Arial" charset="0"/>
              <a:buChar char="•"/>
              <a:defRPr sz="1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S’</a:t>
            </a:r>
            <a:endParaRPr lang="en-US" altLang="en-US" sz="1400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8E0FE35-294B-884E-4B7F-64EEA402AE7B}"/>
              </a:ext>
            </a:extLst>
          </p:cNvPr>
          <p:cNvGrpSpPr/>
          <p:nvPr/>
        </p:nvGrpSpPr>
        <p:grpSpPr>
          <a:xfrm>
            <a:off x="6771806" y="5424643"/>
            <a:ext cx="366402" cy="410498"/>
            <a:chOff x="6629400" y="5029200"/>
            <a:chExt cx="366402" cy="410498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71B55BA-124D-2C67-E3E1-364852776D2B}"/>
                </a:ext>
              </a:extLst>
            </p:cNvPr>
            <p:cNvCxnSpPr/>
            <p:nvPr/>
          </p:nvCxnSpPr>
          <p:spPr>
            <a:xfrm flipH="1">
              <a:off x="6629400" y="5029200"/>
              <a:ext cx="215560" cy="2892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81A9B28-7E5E-6F0C-E96B-27F426FD50D3}"/>
                </a:ext>
              </a:extLst>
            </p:cNvPr>
            <p:cNvSpPr txBox="1"/>
            <p:nvPr/>
          </p:nvSpPr>
          <p:spPr>
            <a:xfrm>
              <a:off x="6682896" y="5070366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CE5D00C-D55D-BF22-4114-5D7096DB8C9A}"/>
              </a:ext>
            </a:extLst>
          </p:cNvPr>
          <p:cNvGrpSpPr/>
          <p:nvPr/>
        </p:nvGrpSpPr>
        <p:grpSpPr>
          <a:xfrm>
            <a:off x="6900829" y="4082555"/>
            <a:ext cx="401658" cy="434322"/>
            <a:chOff x="6758423" y="3687112"/>
            <a:chExt cx="401658" cy="434322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68DB3C05-C321-68EE-1BDC-DF4C03B8317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58423" y="3875587"/>
              <a:ext cx="215786" cy="2458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7C6AF8BE-938D-0C9D-145F-FCE30A2F8746}"/>
                </a:ext>
              </a:extLst>
            </p:cNvPr>
            <p:cNvSpPr txBox="1"/>
            <p:nvPr/>
          </p:nvSpPr>
          <p:spPr>
            <a:xfrm>
              <a:off x="6847175" y="3687112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</a:t>
              </a:r>
            </a:p>
          </p:txBody>
        </p:sp>
      </p:grpSp>
      <p:sp>
        <p:nvSpPr>
          <p:cNvPr id="62" name="Line 19">
            <a:extLst>
              <a:ext uri="{FF2B5EF4-FFF2-40B4-BE49-F238E27FC236}">
                <a16:creationId xmlns:a16="http://schemas.microsoft.com/office/drawing/2014/main" id="{1F7ACAFD-C1F3-7122-0F66-432F853383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70397" y="5249526"/>
            <a:ext cx="1275" cy="99887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" name="Line 19">
            <a:extLst>
              <a:ext uri="{FF2B5EF4-FFF2-40B4-BE49-F238E27FC236}">
                <a16:creationId xmlns:a16="http://schemas.microsoft.com/office/drawing/2014/main" id="{6FDB213C-C8A9-99CB-BFBD-6380CF0D702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857406" y="4999874"/>
            <a:ext cx="0" cy="126841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9268FAC6-2878-64C2-1198-F146795CCE7F}"/>
              </a:ext>
            </a:extLst>
          </p:cNvPr>
          <p:cNvSpPr/>
          <p:nvPr/>
        </p:nvSpPr>
        <p:spPr>
          <a:xfrm>
            <a:off x="1000362" y="5023887"/>
            <a:ext cx="4854222" cy="1207912"/>
          </a:xfrm>
          <a:custGeom>
            <a:avLst/>
            <a:gdLst>
              <a:gd name="connsiteX0" fmla="*/ 0 w 4854222"/>
              <a:gd name="connsiteY0" fmla="*/ 0 h 1207912"/>
              <a:gd name="connsiteX1" fmla="*/ 4854222 w 4854222"/>
              <a:gd name="connsiteY1" fmla="*/ 11289 h 1207912"/>
              <a:gd name="connsiteX2" fmla="*/ 4854222 w 4854222"/>
              <a:gd name="connsiteY2" fmla="*/ 1207912 h 1207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54222" h="1207912">
                <a:moveTo>
                  <a:pt x="0" y="0"/>
                </a:moveTo>
                <a:lnTo>
                  <a:pt x="4854222" y="11289"/>
                </a:lnTo>
                <a:lnTo>
                  <a:pt x="4854222" y="1207912"/>
                </a:lnTo>
              </a:path>
            </a:pathLst>
          </a:custGeom>
          <a:noFill/>
          <a:ln w="9525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853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7" grpId="0" animBg="1"/>
      <p:bldP spid="19" grpId="0" animBg="1"/>
      <p:bldP spid="20" grpId="0" animBg="1"/>
      <p:bldP spid="21" grpId="0"/>
      <p:bldP spid="24" grpId="0"/>
      <p:bldP spid="24" grpId="1"/>
      <p:bldP spid="35" grpId="0" animBg="1"/>
      <p:bldP spid="36" grpId="0"/>
      <p:bldP spid="39" grpId="0" animBg="1"/>
      <p:bldP spid="41" grpId="0" animBg="1"/>
      <p:bldP spid="41" grpId="1" animBg="1"/>
      <p:bldP spid="42" grpId="0"/>
      <p:bldP spid="42" grpId="1"/>
      <p:bldP spid="44" grpId="0" animBg="1"/>
      <p:bldP spid="45" grpId="0"/>
      <p:bldP spid="62" grpId="0" animBg="1"/>
      <p:bldP spid="63" grpId="0" animBg="1"/>
      <p:bldP spid="6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1C216-F4DA-733D-0108-CCCB202CC0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dirty="0"/>
              <a:t>IV. Perfect competition and welfare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55232-458B-CB87-9CB3-4AB6073AA5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4183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FAF55-3BA0-7442-B2C4-04D4C4622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Social Welfare and Perfect Competition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6C002-A00B-0735-FAF0-69F2045DA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/>
              <a:t>Consumer surplus</a:t>
            </a:r>
            <a:r>
              <a:rPr lang="en-US" dirty="0"/>
              <a:t> is the amount, in dollars, that consumers benefit from the existence of the market.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Graphically, CS is the area below the inverse demand curve, but above price.</a:t>
            </a:r>
          </a:p>
          <a:p>
            <a:pPr lvl="1"/>
            <a:endParaRPr lang="en-US" dirty="0"/>
          </a:p>
          <a:p>
            <a:r>
              <a:rPr lang="en-US" u="sng" dirty="0"/>
              <a:t>Producer surplus</a:t>
            </a:r>
            <a:r>
              <a:rPr lang="en-US" dirty="0"/>
              <a:t> is the amount, in dollars, that producers benefit from the existence of the market.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Graphically, PS is the area above </a:t>
            </a:r>
            <a:r>
              <a:rPr lang="en-US"/>
              <a:t>the inverse supply </a:t>
            </a:r>
            <a:r>
              <a:rPr lang="en-US" dirty="0"/>
              <a:t>curve, but below price.</a:t>
            </a:r>
          </a:p>
          <a:p>
            <a:endParaRPr lang="en-US" dirty="0"/>
          </a:p>
          <a:p>
            <a:endParaRPr lang="en-US" u="sng" dirty="0"/>
          </a:p>
          <a:p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99DB-5431-769C-51A5-7B401ED6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B973C-5AF9-87A5-F9F1-C5F5686A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8C2D4-005B-951B-31EA-4CC4CD6A1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47195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C7FF-A538-C714-1B63-D8E46263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and Producer Surplus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4CB14-E1BD-ADCF-A7E3-EE6797E85F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199" y="1600200"/>
                <a:ext cx="4192961" cy="4876800"/>
              </a:xfrm>
            </p:spPr>
            <p:txBody>
              <a:bodyPr/>
              <a:lstStyle/>
              <a:p>
                <a:r>
                  <a:rPr lang="en-US" dirty="0"/>
                  <a:t>In our example from class</a:t>
                </a:r>
              </a:p>
              <a:p>
                <a:endParaRPr lang="en-US" dirty="0"/>
              </a:p>
              <a:p>
                <a:r>
                  <a:rPr lang="en-US" dirty="0"/>
                  <a:t>Consumer surplus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12−6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=$900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</a:p>
              <a:p>
                <a:r>
                  <a:rPr lang="en-US" dirty="0"/>
                  <a:t>Producer surplus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6−0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=$900</m:t>
                      </m:r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r>
                  <a:rPr lang="en-US" dirty="0"/>
                  <a:t>Is there any deadweight loss in the diagram?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C64CB14-E1BD-ADCF-A7E3-EE6797E85F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600200"/>
                <a:ext cx="4192961" cy="4876800"/>
              </a:xfrm>
              <a:blipFill>
                <a:blip r:embed="rId2"/>
                <a:stretch>
                  <a:fillRect l="-1308" t="-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AC083-427A-E328-C5E6-B8F72525F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290A1-4CEC-1935-3F8A-102C65832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C0166-B44C-1DC3-5C0A-7DA19EE05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CD3C89E-022E-0570-3B4E-1E7AF3E19AD6}"/>
              </a:ext>
            </a:extLst>
          </p:cNvPr>
          <p:cNvGrpSpPr/>
          <p:nvPr/>
        </p:nvGrpSpPr>
        <p:grpSpPr>
          <a:xfrm>
            <a:off x="4908354" y="2302719"/>
            <a:ext cx="3794582" cy="3337151"/>
            <a:chOff x="4908354" y="2302719"/>
            <a:chExt cx="3794582" cy="3337151"/>
          </a:xfrm>
        </p:grpSpPr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46219B1-8B01-3AB0-BA7E-D6AC040B7E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4373" y="2519886"/>
              <a:ext cx="4761" cy="26680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2792422-5278-1780-94A6-5484F429E0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39134" y="5187949"/>
              <a:ext cx="2743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Box 11">
              <a:extLst>
                <a:ext uri="{FF2B5EF4-FFF2-40B4-BE49-F238E27FC236}">
                  <a16:creationId xmlns:a16="http://schemas.microsoft.com/office/drawing/2014/main" id="{58735339-BFF0-AC03-329E-D3FCD30E1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08354" y="2373275"/>
              <a:ext cx="336550" cy="3651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dirty="0"/>
                <a:t>P</a:t>
              </a:r>
            </a:p>
          </p:txBody>
        </p:sp>
        <p:sp>
          <p:nvSpPr>
            <p:cNvPr id="10" name="Text Box 12">
              <a:extLst>
                <a:ext uri="{FF2B5EF4-FFF2-40B4-BE49-F238E27FC236}">
                  <a16:creationId xmlns:a16="http://schemas.microsoft.com/office/drawing/2014/main" id="{683F8B48-02DD-D9FB-6760-4D4E1813D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1334" y="5264149"/>
              <a:ext cx="361950" cy="368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/>
                <a:t>Q</a:t>
              </a:r>
            </a:p>
          </p:txBody>
        </p:sp>
        <p:sp>
          <p:nvSpPr>
            <p:cNvPr id="11" name="Text Box 14">
              <a:extLst>
                <a:ext uri="{FF2B5EF4-FFF2-40B4-BE49-F238E27FC236}">
                  <a16:creationId xmlns:a16="http://schemas.microsoft.com/office/drawing/2014/main" id="{C8D9F079-0E12-253B-2325-837B814E5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08443" y="2302719"/>
              <a:ext cx="928459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 u="sng" dirty="0"/>
                <a:t>Market</a:t>
              </a:r>
            </a:p>
          </p:txBody>
        </p:sp>
        <p:sp>
          <p:nvSpPr>
            <p:cNvPr id="12" name="Line 15">
              <a:extLst>
                <a:ext uri="{FF2B5EF4-FFF2-40B4-BE49-F238E27FC236}">
                  <a16:creationId xmlns:a16="http://schemas.microsoft.com/office/drawing/2014/main" id="{69B43710-66F7-AAC8-565C-564CE4ACE9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56597" y="2743200"/>
              <a:ext cx="2492376" cy="1910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Line 16">
              <a:extLst>
                <a:ext uri="{FF2B5EF4-FFF2-40B4-BE49-F238E27FC236}">
                  <a16:creationId xmlns:a16="http://schemas.microsoft.com/office/drawing/2014/main" id="{7A072059-96CF-6FB6-A14D-821D5FA7B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43895" y="3086099"/>
              <a:ext cx="2705102" cy="2076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19">
              <a:extLst>
                <a:ext uri="{FF2B5EF4-FFF2-40B4-BE49-F238E27FC236}">
                  <a16:creationId xmlns:a16="http://schemas.microsoft.com/office/drawing/2014/main" id="{D73BBDB5-7B06-9DDF-FE78-9969C43D7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416909" y="3968749"/>
              <a:ext cx="162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E03B26C6-EAC1-127D-9E65-CD26795FF2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020639" y="3959224"/>
              <a:ext cx="0" cy="1268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28">
              <a:extLst>
                <a:ext uri="{FF2B5EF4-FFF2-40B4-BE49-F238E27FC236}">
                  <a16:creationId xmlns:a16="http://schemas.microsoft.com/office/drawing/2014/main" id="{A1356858-6C08-D520-74B8-BC3E622B1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34319" y="5270538"/>
              <a:ext cx="88357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Q=300</a:t>
              </a:r>
            </a:p>
          </p:txBody>
        </p:sp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F96D5C6A-33C2-FFD3-32E5-5165C6AC28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9914" y="4600662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D</a:t>
              </a:r>
              <a:endParaRPr lang="en-US" altLang="en-US" sz="1400" dirty="0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09C1E77F-17C5-4F8F-0D6B-9D63A69BEE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02405" y="2843480"/>
              <a:ext cx="5005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5000"/>
                <a:buFont typeface="Arial" charset="0"/>
                <a:buChar char="•"/>
                <a:defRPr sz="20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90000"/>
                <a:buFont typeface="Arial" charset="0"/>
                <a:buChar char="•"/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1"/>
                </a:buClr>
                <a:buFont typeface="Arial" charset="0"/>
                <a:buChar char="•"/>
                <a:defRPr sz="16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100000"/>
                <a:buFont typeface="Arial" charset="0"/>
                <a:buChar char="•"/>
                <a:defRPr sz="1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dirty="0"/>
                <a:t>S</a:t>
              </a:r>
              <a:endParaRPr lang="en-US" altLang="en-US" sz="14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D332A30-446E-EAAC-92B5-E9D471551CF5}"/>
                </a:ext>
              </a:extLst>
            </p:cNvPr>
            <p:cNvSpPr txBox="1"/>
            <p:nvPr/>
          </p:nvSpPr>
          <p:spPr>
            <a:xfrm>
              <a:off x="5068059" y="37840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6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4AA961-4795-06A3-9C9A-E371EAB63FE9}"/>
                </a:ext>
              </a:extLst>
            </p:cNvPr>
            <p:cNvSpPr txBox="1"/>
            <p:nvPr/>
          </p:nvSpPr>
          <p:spPr>
            <a:xfrm>
              <a:off x="5024331" y="2569683"/>
              <a:ext cx="44114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C35CFB9-E8B6-C073-AB24-474248A8D533}"/>
                </a:ext>
              </a:extLst>
            </p:cNvPr>
            <p:cNvSpPr txBox="1"/>
            <p:nvPr/>
          </p:nvSpPr>
          <p:spPr>
            <a:xfrm>
              <a:off x="5079342" y="497788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0</a:t>
              </a: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D21A658-A44A-92D0-2906-141252BF837F}"/>
                </a:ext>
              </a:extLst>
            </p:cNvPr>
            <p:cNvSpPr/>
            <p:nvPr/>
          </p:nvSpPr>
          <p:spPr>
            <a:xfrm>
              <a:off x="5443369" y="2753958"/>
              <a:ext cx="1581375" cy="1226371"/>
            </a:xfrm>
            <a:custGeom>
              <a:avLst/>
              <a:gdLst>
                <a:gd name="connsiteX0" fmla="*/ 0 w 1581375"/>
                <a:gd name="connsiteY0" fmla="*/ 0 h 1226371"/>
                <a:gd name="connsiteX1" fmla="*/ 0 w 1581375"/>
                <a:gd name="connsiteY1" fmla="*/ 1226371 h 1226371"/>
                <a:gd name="connsiteX2" fmla="*/ 1581375 w 1581375"/>
                <a:gd name="connsiteY2" fmla="*/ 1215614 h 1226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81375" h="1226371">
                  <a:moveTo>
                    <a:pt x="0" y="0"/>
                  </a:moveTo>
                  <a:lnTo>
                    <a:pt x="0" y="1226371"/>
                  </a:lnTo>
                  <a:lnTo>
                    <a:pt x="1581375" y="1215614"/>
                  </a:lnTo>
                </a:path>
              </a:pathLst>
            </a:custGeom>
            <a:solidFill>
              <a:srgbClr val="92D050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r>
                <a:rPr lang="en-US" dirty="0"/>
                <a:t>     </a:t>
              </a:r>
              <a:r>
                <a:rPr lang="en-US" dirty="0">
                  <a:solidFill>
                    <a:schemeClr val="tx1"/>
                  </a:solidFill>
                </a:rPr>
                <a:t>CS</a:t>
              </a:r>
              <a:r>
                <a:rPr lang="en-US" dirty="0"/>
                <a:t>   </a:t>
              </a: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7E7EBF8-A189-C7C3-CB55-76301257D9F1}"/>
                </a:ext>
              </a:extLst>
            </p:cNvPr>
            <p:cNvSpPr/>
            <p:nvPr/>
          </p:nvSpPr>
          <p:spPr>
            <a:xfrm>
              <a:off x="5454127" y="3969572"/>
              <a:ext cx="1538344" cy="1204856"/>
            </a:xfrm>
            <a:custGeom>
              <a:avLst/>
              <a:gdLst>
                <a:gd name="connsiteX0" fmla="*/ 0 w 1538344"/>
                <a:gd name="connsiteY0" fmla="*/ 1204856 h 1204856"/>
                <a:gd name="connsiteX1" fmla="*/ 0 w 1538344"/>
                <a:gd name="connsiteY1" fmla="*/ 10757 h 1204856"/>
                <a:gd name="connsiteX2" fmla="*/ 1538344 w 1538344"/>
                <a:gd name="connsiteY2" fmla="*/ 0 h 1204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38344" h="1204856">
                  <a:moveTo>
                    <a:pt x="0" y="1204856"/>
                  </a:moveTo>
                  <a:lnTo>
                    <a:pt x="0" y="10757"/>
                  </a:lnTo>
                  <a:lnTo>
                    <a:pt x="1538344" y="0"/>
                  </a:lnTo>
                </a:path>
              </a:pathLst>
            </a:custGeom>
            <a:solidFill>
              <a:srgbClr val="FF0000">
                <a:alpha val="3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     PS</a:t>
              </a: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46702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8A04-563B-9B7C-8032-37587D29D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Market Failures and Welfare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56CFA-9E45-3455-070C-917AB20E4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The perfectly competitive market maximizes welfare. </a:t>
            </a:r>
          </a:p>
          <a:p>
            <a:pPr lvl="8"/>
            <a:endParaRPr lang="en-US" sz="1200" dirty="0"/>
          </a:p>
          <a:p>
            <a:pPr lvl="1"/>
            <a:r>
              <a:rPr lang="en-US" sz="1800" dirty="0"/>
              <a:t>There is no deadweight loss and in the long-run, firms produce at the minimum of their average cost curves.</a:t>
            </a:r>
          </a:p>
          <a:p>
            <a:pPr lvl="8"/>
            <a:endParaRPr lang="en-US" sz="1200" dirty="0"/>
          </a:p>
          <a:p>
            <a:r>
              <a:rPr lang="en-US" sz="2000" dirty="0"/>
              <a:t>But, there are three common sources of </a:t>
            </a:r>
            <a:r>
              <a:rPr lang="en-US" sz="2000" u="sng" dirty="0"/>
              <a:t>market failure</a:t>
            </a:r>
            <a:r>
              <a:rPr lang="en-US" sz="2000" dirty="0"/>
              <a:t>, situations in which an unregulated market may not maximize welfare.</a:t>
            </a:r>
          </a:p>
          <a:p>
            <a:pPr lvl="8"/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Firms are not price-takers (e.g., monopoly)</a:t>
            </a:r>
          </a:p>
          <a:p>
            <a:pPr marL="2194877" lvl="8" indent="-457200">
              <a:buFont typeface="+mj-lt"/>
              <a:buAutoNum type="arabicPeriod"/>
            </a:pPr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Actions create benefits or impose costs on others (e.g., air pollution)</a:t>
            </a:r>
          </a:p>
          <a:p>
            <a:pPr marL="2194877" lvl="8" indent="-457200">
              <a:buFont typeface="+mj-lt"/>
              <a:buAutoNum type="arabicPeriod"/>
            </a:pPr>
            <a:endParaRPr lang="en-US" sz="1200" dirty="0"/>
          </a:p>
          <a:p>
            <a:pPr marL="731837" lvl="1" indent="-457200">
              <a:buFont typeface="+mj-lt"/>
              <a:buAutoNum type="arabicPeriod"/>
            </a:pPr>
            <a:r>
              <a:rPr lang="en-US" sz="1800" dirty="0"/>
              <a:t>Some parties have information that others don’t (e.g., used car reliability) </a:t>
            </a:r>
          </a:p>
          <a:p>
            <a:pPr marL="2194877" lvl="8" indent="-457200">
              <a:buFont typeface="+mj-lt"/>
              <a:buAutoNum type="arabicPeriod"/>
            </a:pPr>
            <a:endParaRPr lang="en-US" sz="1200" dirty="0"/>
          </a:p>
          <a:p>
            <a:r>
              <a:rPr lang="en-US" sz="2000" dirty="0"/>
              <a:t>This is the where economics brings real value to policy and is an outline for this course!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8B847F-B30E-4346-3DD6-2D688AC74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C0574-C8FF-C4B9-7096-93B0DF599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C6221-B9D5-00E0-ACF7-6D169308E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020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F03A-F50A-B5F2-B7E3-7295E821A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52BE8-42F7-6571-3CCD-2DAA46D20C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Perfectly competitive firms set MR = MC to maximize profits. </a:t>
            </a:r>
          </a:p>
          <a:p>
            <a:pPr lvl="8"/>
            <a:endParaRPr lang="en-US" sz="800" dirty="0"/>
          </a:p>
          <a:p>
            <a:r>
              <a:rPr lang="en-US" sz="1800" dirty="0"/>
              <a:t>Price-taking means that MR = P.  A firm can sell as much as it wants at price P without affecting the market price.</a:t>
            </a:r>
          </a:p>
          <a:p>
            <a:pPr lvl="8"/>
            <a:endParaRPr lang="en-US" sz="800" dirty="0"/>
          </a:p>
          <a:p>
            <a:r>
              <a:rPr lang="en-US" sz="1800" dirty="0"/>
              <a:t>Horizontally adding the firm supply curves together gives the market supply curve.  </a:t>
            </a:r>
          </a:p>
          <a:p>
            <a:pPr lvl="8"/>
            <a:endParaRPr lang="en-US" sz="800" dirty="0"/>
          </a:p>
          <a:p>
            <a:r>
              <a:rPr lang="en-US" sz="1800" dirty="0"/>
              <a:t>In the short-run, firms in a perfectly competitive market can earn economic profits or bear economic losses.  But, in the long-run, free entry and exit will drive economic profits to zero. </a:t>
            </a:r>
          </a:p>
          <a:p>
            <a:pPr lvl="8"/>
            <a:endParaRPr lang="en-US" sz="800" dirty="0"/>
          </a:p>
          <a:p>
            <a:r>
              <a:rPr lang="en-US" sz="1800" dirty="0"/>
              <a:t>The perfectly competitive market maximizes welfare and doesn’t create deadweight loss.  </a:t>
            </a:r>
          </a:p>
          <a:p>
            <a:pPr lvl="8"/>
            <a:endParaRPr lang="en-US" sz="800" dirty="0"/>
          </a:p>
          <a:p>
            <a:r>
              <a:rPr lang="en-US" sz="1800" dirty="0"/>
              <a:t>But, if firms are not price takers, actions create externalities, or information is asymmetric, deadweight loss might exist in the unregulated market.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C5FE3-CF88-C6A6-6A64-1490271D9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8E0BA-1706-42E8-7A69-0F493536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479E8-B658-E10A-4FA5-74C588CF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725152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28BA7-60AF-214D-E795-AE915AB54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Action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395D6-19FD-A004-F72F-8AC01552A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Review the syllabus on Canvas</a:t>
            </a:r>
          </a:p>
          <a:p>
            <a:endParaRPr lang="en-US" altLang="en-US" dirty="0"/>
          </a:p>
          <a:p>
            <a:r>
              <a:rPr lang="en-US" altLang="en-US" dirty="0"/>
              <a:t>Register for the course on </a:t>
            </a:r>
            <a:r>
              <a:rPr lang="en-US" altLang="en-US" dirty="0" err="1"/>
              <a:t>iClicker</a:t>
            </a:r>
            <a:r>
              <a:rPr lang="en-US" altLang="en-US" dirty="0"/>
              <a:t> Student</a:t>
            </a:r>
          </a:p>
          <a:p>
            <a:endParaRPr lang="en-US" altLang="en-US" dirty="0"/>
          </a:p>
          <a:p>
            <a:r>
              <a:rPr lang="en-US" altLang="en-US" dirty="0"/>
              <a:t>Handouts are available before lectures.  You can find them on Canvas.</a:t>
            </a:r>
          </a:p>
          <a:p>
            <a:endParaRPr lang="en-US" altLang="en-US" dirty="0"/>
          </a:p>
          <a:p>
            <a:r>
              <a:rPr lang="en-US" altLang="en-US" dirty="0">
                <a:sym typeface="Wingdings" panose="05000000000000000000" pitchFamily="2" charset="2"/>
              </a:rPr>
              <a:t>The textbook is available under Bookshelf on Canvas. Next class we will cover Perloff 11.1, 11.2.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5455D-FDB0-604B-4C24-ED4A9A177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ECN 100B (Muehlegger)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DFB34-F5C6-B50D-7793-5A08642F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Class 1: Introduction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541AE-D39B-2EFD-AF23-329E37D2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1CFB532-2590-40D4-9ADD-E0DA02EC8E8A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31539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larity">
    <a:dk1>
      <a:srgbClr val="292934"/>
    </a:dk1>
    <a:lt1>
      <a:srgbClr val="FFFFFF"/>
    </a:lt1>
    <a:dk2>
      <a:srgbClr val="D2533C"/>
    </a:dk2>
    <a:lt2>
      <a:srgbClr val="F3F2DC"/>
    </a:lt2>
    <a:accent1>
      <a:srgbClr val="93A299"/>
    </a:accent1>
    <a:accent2>
      <a:srgbClr val="AD8F67"/>
    </a:accent2>
    <a:accent3>
      <a:srgbClr val="726056"/>
    </a:accent3>
    <a:accent4>
      <a:srgbClr val="4C5A6A"/>
    </a:accent4>
    <a:accent5>
      <a:srgbClr val="808DA0"/>
    </a:accent5>
    <a:accent6>
      <a:srgbClr val="79463D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8349</TotalTime>
  <Words>2357</Words>
  <Application>Microsoft Office PowerPoint</Application>
  <PresentationFormat>On-screen Show (4:3)</PresentationFormat>
  <Paragraphs>484</Paragraphs>
  <Slides>34</Slides>
  <Notes>11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Cambria Math</vt:lpstr>
      <vt:lpstr>Wingdings</vt:lpstr>
      <vt:lpstr>Clarity</vt:lpstr>
      <vt:lpstr>Class 1: Introduction</vt:lpstr>
      <vt:lpstr>Announcements</vt:lpstr>
      <vt:lpstr>Class Outline</vt:lpstr>
      <vt:lpstr>I. Introduction and       course details</vt:lpstr>
      <vt:lpstr>Introduction </vt:lpstr>
      <vt:lpstr>Teaching Team</vt:lpstr>
      <vt:lpstr>Course resources</vt:lpstr>
      <vt:lpstr>Classroom engagement and clickers</vt:lpstr>
      <vt:lpstr>Canvas</vt:lpstr>
      <vt:lpstr>Course Grading (details in syllabus)</vt:lpstr>
      <vt:lpstr>II. Profit maximization (Perloff 8.2)</vt:lpstr>
      <vt:lpstr>Firms seek to maximize profits </vt:lpstr>
      <vt:lpstr>Graphical depiction of profit maximization</vt:lpstr>
      <vt:lpstr>II. Perfect competition in the short run (Perloff 8.3)</vt:lpstr>
      <vt:lpstr>What are the assumptions of perfect competition?</vt:lpstr>
      <vt:lpstr>Short-run competitive equilibrium</vt:lpstr>
      <vt:lpstr>We’ll consider a specific example</vt:lpstr>
      <vt:lpstr>Step 1: What is the firm supply curve?</vt:lpstr>
      <vt:lpstr>Profit maximization graphically</vt:lpstr>
      <vt:lpstr>Step 2: What is the market supply curve?</vt:lpstr>
      <vt:lpstr>Step 2: What is the market supply curve?</vt:lpstr>
      <vt:lpstr>Step 3: Find the competitive equilibrium</vt:lpstr>
      <vt:lpstr>Graphical depiction of the competitive equilibrium in our example</vt:lpstr>
      <vt:lpstr>III. Perfect competition in the long-run (Perloff 8.4)</vt:lpstr>
      <vt:lpstr>In our example, do the firms earn economic profits?</vt:lpstr>
      <vt:lpstr>Economic profits</vt:lpstr>
      <vt:lpstr>Can firms ever earn economic profits?</vt:lpstr>
      <vt:lpstr>Example with an inward demand shock </vt:lpstr>
      <vt:lpstr>IV. Perfect competition and welfare</vt:lpstr>
      <vt:lpstr>Social Welfare and Perfect Competition</vt:lpstr>
      <vt:lpstr>Consumer and Producer Surplus</vt:lpstr>
      <vt:lpstr>Market Failures and Welfare</vt:lpstr>
      <vt:lpstr>Major takeaways</vt:lpstr>
      <vt:lpstr>Action Items</vt:lpstr>
    </vt:vector>
  </TitlesOfParts>
  <Company>Harvard KSG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BGP-200 Strategy, Competition and Regulation</dc:title>
  <dc:creator>Erich Muehlegger</dc:creator>
  <cp:lastModifiedBy>Erich Johann Muehlegger</cp:lastModifiedBy>
  <cp:revision>245</cp:revision>
  <cp:lastPrinted>2025-03-16T17:20:31Z</cp:lastPrinted>
  <dcterms:created xsi:type="dcterms:W3CDTF">2011-01-21T00:41:49Z</dcterms:created>
  <dcterms:modified xsi:type="dcterms:W3CDTF">2026-02-19T19:06:48Z</dcterms:modified>
</cp:coreProperties>
</file>