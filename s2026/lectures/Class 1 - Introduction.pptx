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2" r:id="rId1"/>
  </p:sldMasterIdLst>
  <p:notesMasterIdLst>
    <p:notesMasterId r:id="rId36"/>
  </p:notesMasterIdLst>
  <p:sldIdLst>
    <p:sldId id="256" r:id="rId2"/>
    <p:sldId id="382" r:id="rId3"/>
    <p:sldId id="276" r:id="rId4"/>
    <p:sldId id="386" r:id="rId5"/>
    <p:sldId id="285" r:id="rId6"/>
    <p:sldId id="323" r:id="rId7"/>
    <p:sldId id="371" r:id="rId8"/>
    <p:sldId id="373" r:id="rId9"/>
    <p:sldId id="374" r:id="rId10"/>
    <p:sldId id="375" r:id="rId11"/>
    <p:sldId id="387" r:id="rId12"/>
    <p:sldId id="390" r:id="rId13"/>
    <p:sldId id="401" r:id="rId14"/>
    <p:sldId id="393" r:id="rId15"/>
    <p:sldId id="413" r:id="rId16"/>
    <p:sldId id="402" r:id="rId17"/>
    <p:sldId id="394" r:id="rId18"/>
    <p:sldId id="400" r:id="rId19"/>
    <p:sldId id="412" r:id="rId20"/>
    <p:sldId id="404" r:id="rId21"/>
    <p:sldId id="395" r:id="rId22"/>
    <p:sldId id="405" r:id="rId23"/>
    <p:sldId id="397" r:id="rId24"/>
    <p:sldId id="388" r:id="rId25"/>
    <p:sldId id="396" r:id="rId26"/>
    <p:sldId id="406" r:id="rId27"/>
    <p:sldId id="398" r:id="rId28"/>
    <p:sldId id="407" r:id="rId29"/>
    <p:sldId id="389" r:id="rId30"/>
    <p:sldId id="408" r:id="rId31"/>
    <p:sldId id="409" r:id="rId32"/>
    <p:sldId id="410" r:id="rId33"/>
    <p:sldId id="383" r:id="rId34"/>
    <p:sldId id="411" r:id="rId35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602" autoAdjust="0"/>
    <p:restoredTop sz="86330" autoAdjust="0"/>
  </p:normalViewPr>
  <p:slideViewPr>
    <p:cSldViewPr>
      <p:cViewPr varScale="1">
        <p:scale>
          <a:sx n="60" d="100"/>
          <a:sy n="60" d="100"/>
        </p:scale>
        <p:origin x="868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0C75FAF0-693A-4D52-B881-D524B40F63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68822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30C15154-5625-4E02-808B-8E24F263870F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C08E91FE-9D99-43BC-8BD1-39031587F63C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163D3750-A752-4CCD-971F-E1797B855A5C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81E7AA3E-617B-4A6B-81DA-CBCB0D4EE17B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2BB33DCF-0D3A-4EFB-A3FC-760735EF5C6F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4BAB09F-FD78-4A19-9658-C494670166D7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C183E351-F823-4633-B459-22F2FE777E43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4897EB97-0299-4A4A-BFE3-0C5498CEB2FA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59612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75FAF0-693A-4D52-B881-D524B40F63C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0900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75FAF0-693A-4D52-B881-D524B40F63C3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0847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=600 −50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=6,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=300</m:t>
                    </m:r>
                  </m:oMath>
                </a14:m>
                <a:r>
                  <a:rPr lang="en-US" dirty="0"/>
                  <a:t>, </a:t>
                </a:r>
              </a:p>
              <a:p>
                <a:pPr lvl="1"/>
                <a:r>
                  <a:rPr lang="en-US" dirty="0"/>
                  <a:t>Since the firm supply curve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each firm produces 3 units.</a:t>
                </a:r>
              </a:p>
              <a:p>
                <a:pPr lvl="1"/>
                <a:r>
                  <a:rPr lang="en-US" dirty="0"/>
                  <a:t>Alternatively,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=300</m:t>
                    </m:r>
                  </m:oMath>
                </a14:m>
                <a:r>
                  <a:rPr lang="en-US" dirty="0"/>
                  <a:t>, and N = 100,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>
                    <a:latin typeface="Cambria Math" panose="02040503050406030204" pitchFamily="18" charset="0"/>
                  </a:rPr>
                  <a:t>50𝑃=600 −50𝑃→𝑃=6, 𝑄_𝑆</a:t>
                </a:r>
                <a:r>
                  <a:rPr lang="en-US" i="0">
                    <a:latin typeface="Cambria Math" panose="02040503050406030204" pitchFamily="18" charset="0"/>
                  </a:rPr>
                  <a:t>=𝑄_𝐷</a:t>
                </a:r>
                <a:r>
                  <a:rPr lang="en-US" b="0" i="0">
                    <a:latin typeface="Cambria Math" panose="02040503050406030204" pitchFamily="18" charset="0"/>
                  </a:rPr>
                  <a:t>=300</a:t>
                </a:r>
                <a:r>
                  <a:rPr lang="en-US" dirty="0"/>
                  <a:t>, </a:t>
                </a:r>
              </a:p>
              <a:p>
                <a:pPr lvl="1"/>
                <a:r>
                  <a:rPr lang="en-US" dirty="0"/>
                  <a:t>Since the firm supply curve is </a:t>
                </a:r>
                <a:r>
                  <a:rPr lang="en-US" i="0">
                    <a:latin typeface="Cambria Math" panose="02040503050406030204" pitchFamily="18" charset="0"/>
                  </a:rPr>
                  <a:t>𝑞^∗=1/2 𝑃</a:t>
                </a:r>
                <a:r>
                  <a:rPr lang="en-US" dirty="0"/>
                  <a:t>, each firm produces 3 units.</a:t>
                </a:r>
              </a:p>
              <a:p>
                <a:pPr lvl="1"/>
                <a:r>
                  <a:rPr lang="en-US" dirty="0"/>
                  <a:t>Alternatively, since </a:t>
                </a:r>
                <a:r>
                  <a:rPr lang="en-US" i="0">
                    <a:latin typeface="Cambria Math" panose="02040503050406030204" pitchFamily="18" charset="0"/>
                  </a:rPr>
                  <a:t>𝑄_</a:t>
                </a:r>
                <a:r>
                  <a:rPr lang="en-US" b="0" i="0">
                    <a:latin typeface="Cambria Math" panose="02040503050406030204" pitchFamily="18" charset="0"/>
                  </a:rPr>
                  <a:t>𝑆</a:t>
                </a:r>
                <a:r>
                  <a:rPr lang="en-US" i="0">
                    <a:latin typeface="Cambria Math" panose="02040503050406030204" pitchFamily="18" charset="0"/>
                  </a:rPr>
                  <a:t>=300</a:t>
                </a:r>
                <a:r>
                  <a:rPr lang="en-US" dirty="0"/>
                  <a:t>, and N = 100,      </a:t>
                </a:r>
                <a:r>
                  <a:rPr lang="en-US" i="0">
                    <a:latin typeface="Cambria Math" panose="02040503050406030204" pitchFamily="18" charset="0"/>
                  </a:rPr>
                  <a:t>𝑞^∗=</a:t>
                </a:r>
                <a:r>
                  <a:rPr lang="en-US" b="0" i="0">
                    <a:latin typeface="Cambria Math" panose="02040503050406030204" pitchFamily="18" charset="0"/>
                  </a:rPr>
                  <a:t>3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75FAF0-693A-4D52-B881-D524B40F63C3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58096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75FAF0-693A-4D52-B881-D524B40F63C3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7760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85800" y="3398838"/>
            <a:ext cx="78486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5042CE5-DB0F-4355-9B3D-91ABC39AF5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7474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CFB532-2590-40D4-9ADD-E0DA02EC8E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8418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731838" y="4598988"/>
            <a:ext cx="78486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/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AB3FB82-CC6E-4E72-9D5E-52FA25EE62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22030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DB3409-07CA-424D-AEAF-BD7523AAD8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6938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 rot="5400000">
            <a:off x="2218531" y="4045744"/>
            <a:ext cx="4708525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D17CD65-02FC-4245-80F5-F727127E8B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0760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9F7528-F070-4A68-9243-0A1601C224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8711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9640AE-ABF1-484F-89E4-EE0589B88C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2068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rot="5400000">
            <a:off x="-13494" y="3580607"/>
            <a:ext cx="5578475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80A66C5-394E-4D03-87D7-BD6363FEA1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1697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27ADD-D9EB-4C92-A7F5-EF477DB081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0133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1E1D61-7009-467E-96A6-D826F29C33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341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2A03C1-726F-4EF3-869C-C3577F55E5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0034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663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9050"/>
            <a:ext cx="289560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rgbClr val="FFFFFF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9050"/>
            <a:ext cx="411480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rgbClr val="FFFFFF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9050"/>
            <a:ext cx="1066800" cy="3286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7CB3AAC-8786-4F7F-906F-0E0568EB49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30" r:id="rId1"/>
    <p:sldLayoutId id="2147484423" r:id="rId2"/>
    <p:sldLayoutId id="2147484431" r:id="rId3"/>
    <p:sldLayoutId id="2147484424" r:id="rId4"/>
    <p:sldLayoutId id="2147484432" r:id="rId5"/>
    <p:sldLayoutId id="2147484425" r:id="rId6"/>
    <p:sldLayoutId id="2147484426" r:id="rId7"/>
    <p:sldLayoutId id="2147484433" r:id="rId8"/>
    <p:sldLayoutId id="2147484427" r:id="rId9"/>
    <p:sldLayoutId id="2147484428" r:id="rId10"/>
    <p:sldLayoutId id="214748442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 spc="-1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182563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0250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004888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7450" indent="-1365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Arial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emuehlegger@ucdavis.edu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/>
              <a:t>Class 1: Introduction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ECN 100B – Intermediate Microeconomics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/>
              <a:t>Spring 2025</a:t>
            </a:r>
            <a:endParaRPr lang="en-US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Prof. </a:t>
            </a:r>
            <a:r>
              <a:rPr lang="en-US" dirty="0" err="1"/>
              <a:t>Muehlegger</a:t>
            </a:r>
            <a:r>
              <a:rPr lang="en-US" dirty="0"/>
              <a:t>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09946-D78A-4659-81C8-E90CA6087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0F1F5-2831-4500-AE38-6DBA4FE64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Sections will begin this week.</a:t>
            </a:r>
          </a:p>
          <a:p>
            <a:pPr lvl="8"/>
            <a:endParaRPr lang="en-US" dirty="0"/>
          </a:p>
          <a:p>
            <a:r>
              <a:rPr lang="en-US" dirty="0"/>
              <a:t>Office hours will start this week as well.  The dates and times are posted as a Canvas discussion item.</a:t>
            </a:r>
          </a:p>
          <a:p>
            <a:pPr lvl="8"/>
            <a:endParaRPr lang="en-US" dirty="0"/>
          </a:p>
          <a:p>
            <a:r>
              <a:rPr lang="en-US" dirty="0"/>
              <a:t>You can also find the syllabus on Canvas.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2CADB-2E68-49E0-841B-8968B0385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E5A7-E58D-43AB-A535-10295FD3C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534AE-498E-4CFC-8432-97E571CAC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04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Class Outline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Arial" charset="0"/>
              <a:buAutoNum type="arabicPeriod"/>
            </a:pPr>
            <a:r>
              <a:rPr lang="en-US" altLang="en-US" sz="2800" dirty="0"/>
              <a:t>Introduction and a few course details</a:t>
            </a:r>
          </a:p>
          <a:p>
            <a:pPr marL="514350" indent="-514350">
              <a:buFont typeface="Arial" charset="0"/>
              <a:buAutoNum type="arabicPeriod"/>
            </a:pPr>
            <a:endParaRPr lang="en-US" altLang="en-US" sz="2800" dirty="0"/>
          </a:p>
          <a:p>
            <a:pPr marL="514350" indent="-514350">
              <a:buFont typeface="Arial" charset="0"/>
              <a:buAutoNum type="arabicPeriod"/>
            </a:pPr>
            <a:r>
              <a:rPr lang="en-US" altLang="en-US" sz="2800" dirty="0"/>
              <a:t>Review of Profit Maximization and Perfect Competition</a:t>
            </a:r>
          </a:p>
          <a:p>
            <a:pPr marL="514350" indent="-514350">
              <a:buFont typeface="Arial" charset="0"/>
              <a:buAutoNum type="arabicPeriod"/>
            </a:pPr>
            <a:endParaRPr lang="en-US" altLang="en-US" sz="2800" dirty="0"/>
          </a:p>
          <a:p>
            <a:pPr marL="514350" indent="-514350">
              <a:buFont typeface="Arial" charset="0"/>
              <a:buAutoNum type="arabicPeriod"/>
            </a:pPr>
            <a:r>
              <a:rPr lang="en-US" altLang="en-US" sz="2800" dirty="0"/>
              <a:t>Questions</a:t>
            </a:r>
          </a:p>
        </p:txBody>
      </p:sp>
      <p:sp>
        <p:nvSpPr>
          <p:cNvPr id="7172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ECN 100B (Muehlegger)</a:t>
            </a:r>
          </a:p>
        </p:txBody>
      </p:sp>
      <p:sp>
        <p:nvSpPr>
          <p:cNvPr id="717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Class 1: Introduction</a:t>
            </a:r>
          </a:p>
        </p:txBody>
      </p:sp>
      <p:sp>
        <p:nvSpPr>
          <p:cNvPr id="7174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01D503-B997-48FD-BA68-74AB70F99267}" type="slidenum">
              <a:rPr lang="en-US" altLang="en-US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C216-F4DA-733D-0108-CCCB202CC0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dirty="0"/>
              <a:t>I. Introduction and       course details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55232-458B-CB87-9CB3-4AB6073AA5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147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	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My contact information:</a:t>
            </a:r>
          </a:p>
          <a:p>
            <a:pPr marL="1737360" lvl="8" indent="0">
              <a:buNone/>
            </a:pPr>
            <a:r>
              <a:rPr lang="en-US" altLang="en-US" dirty="0"/>
              <a:t>	</a:t>
            </a:r>
          </a:p>
          <a:p>
            <a:pPr marL="273050" lvl="1" indent="0">
              <a:buFont typeface="Arial" charset="0"/>
              <a:buNone/>
            </a:pPr>
            <a:r>
              <a:rPr lang="en-US" altLang="en-US" dirty="0"/>
              <a:t>Office: 1120 SS&amp;H</a:t>
            </a:r>
          </a:p>
          <a:p>
            <a:pPr marL="273050" lvl="1" indent="0">
              <a:buFont typeface="Arial" charset="0"/>
              <a:buNone/>
            </a:pPr>
            <a:endParaRPr lang="en-US" altLang="en-US" sz="1100" dirty="0"/>
          </a:p>
          <a:p>
            <a:pPr marL="273050" lvl="1" indent="0">
              <a:buFont typeface="Arial" charset="0"/>
              <a:buNone/>
            </a:pPr>
            <a:r>
              <a:rPr lang="en-US" altLang="en-US" dirty="0"/>
              <a:t>Office Hours: 	Thursday, 11 – 1pm, in person 	</a:t>
            </a:r>
          </a:p>
          <a:p>
            <a:pPr marL="273050" lvl="1" indent="0">
              <a:buFont typeface="Arial" charset="0"/>
              <a:buNone/>
            </a:pPr>
            <a:endParaRPr lang="en-US" altLang="en-US" dirty="0"/>
          </a:p>
          <a:p>
            <a:pPr marL="273050" lvl="1" indent="0">
              <a:buFont typeface="Arial" charset="0"/>
              <a:buNone/>
            </a:pPr>
            <a:r>
              <a:rPr lang="en-US" altLang="en-US" dirty="0"/>
              <a:t>Email: </a:t>
            </a:r>
            <a:r>
              <a:rPr lang="en-US" altLang="en-US" dirty="0">
                <a:hlinkClick r:id="rId3"/>
              </a:rPr>
              <a:t>emuehlegger@ucdavis.edu</a:t>
            </a:r>
            <a:endParaRPr lang="en-US" altLang="en-US" dirty="0"/>
          </a:p>
          <a:p>
            <a:pPr marL="273050" lvl="1" indent="0">
              <a:buFont typeface="Arial" charset="0"/>
              <a:buNone/>
            </a:pPr>
            <a:r>
              <a:rPr lang="en-US" altLang="en-US" dirty="0"/>
              <a:t>Twitter: @erichmuehlegger </a:t>
            </a:r>
          </a:p>
          <a:p>
            <a:pPr marL="273050" lvl="1" indent="0">
              <a:buFont typeface="Arial" charset="0"/>
              <a:buNone/>
            </a:pPr>
            <a:endParaRPr lang="en-US" altLang="en-US" sz="1400" dirty="0"/>
          </a:p>
          <a:p>
            <a:pPr marL="273050" lvl="1" indent="0">
              <a:buFont typeface="Arial" charset="0"/>
              <a:buNone/>
            </a:pPr>
            <a:r>
              <a:rPr lang="en-US" altLang="en-US" dirty="0"/>
              <a:t>My Other Day Job: Economist studying environmental regulation / energy policy.</a:t>
            </a:r>
          </a:p>
        </p:txBody>
      </p:sp>
      <p:sp>
        <p:nvSpPr>
          <p:cNvPr id="8196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ECN 100B (Muehlegger)</a:t>
            </a:r>
          </a:p>
        </p:txBody>
      </p:sp>
      <p:sp>
        <p:nvSpPr>
          <p:cNvPr id="819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Class 1: Introduction</a:t>
            </a:r>
          </a:p>
        </p:txBody>
      </p:sp>
      <p:sp>
        <p:nvSpPr>
          <p:cNvPr id="819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8FCC2A7-A1C1-43D5-96E4-1CB3CF34FFA7}" type="slidenum">
              <a:rPr lang="en-US" altLang="en-US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Teaching Team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We have four great TAs who’ll be part of the teaching team for the course.</a:t>
            </a:r>
          </a:p>
          <a:p>
            <a:pPr lvl="4"/>
            <a:endParaRPr lang="en-US" altLang="en-US" dirty="0"/>
          </a:p>
          <a:p>
            <a:pPr lvl="1"/>
            <a:r>
              <a:rPr lang="en-US" altLang="en-US" dirty="0"/>
              <a:t>Francisco </a:t>
            </a:r>
            <a:r>
              <a:rPr lang="en-US" altLang="en-US" dirty="0" err="1"/>
              <a:t>Pizzi</a:t>
            </a:r>
            <a:endParaRPr lang="en-US" altLang="en-US" dirty="0"/>
          </a:p>
          <a:p>
            <a:pPr lvl="1"/>
            <a:r>
              <a:rPr lang="en-US" altLang="en-US" dirty="0"/>
              <a:t>Jessica </a:t>
            </a:r>
            <a:r>
              <a:rPr lang="en-US" altLang="en-US" dirty="0" err="1"/>
              <a:t>Lyu</a:t>
            </a:r>
            <a:endParaRPr lang="en-US" altLang="en-US" dirty="0"/>
          </a:p>
          <a:p>
            <a:pPr lvl="1"/>
            <a:r>
              <a:rPr lang="en-US" altLang="en-US" dirty="0"/>
              <a:t>Maria Pulido</a:t>
            </a:r>
          </a:p>
          <a:p>
            <a:pPr lvl="1"/>
            <a:r>
              <a:rPr lang="en-US" altLang="en-US" dirty="0"/>
              <a:t>Robert </a:t>
            </a:r>
            <a:r>
              <a:rPr lang="en-US" altLang="en-US" dirty="0" err="1"/>
              <a:t>Reaser</a:t>
            </a:r>
            <a:endParaRPr lang="en-US" altLang="en-US" dirty="0"/>
          </a:p>
          <a:p>
            <a:pPr lvl="8"/>
            <a:endParaRPr lang="en-US" altLang="en-US" dirty="0"/>
          </a:p>
          <a:p>
            <a:r>
              <a:rPr lang="en-US" altLang="en-US" dirty="0"/>
              <a:t>You can find the office hour schedule on Canvas.  </a:t>
            </a:r>
          </a:p>
          <a:p>
            <a:pPr lvl="8"/>
            <a:endParaRPr lang="en-US" altLang="en-US" dirty="0"/>
          </a:p>
          <a:p>
            <a:r>
              <a:rPr lang="en-US" altLang="en-US" dirty="0"/>
              <a:t>You should feel free to attend any TA office hours.</a:t>
            </a:r>
          </a:p>
        </p:txBody>
      </p:sp>
      <p:sp>
        <p:nvSpPr>
          <p:cNvPr id="9220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ECN 100B (Muehlegger)</a:t>
            </a:r>
          </a:p>
        </p:txBody>
      </p:sp>
      <p:sp>
        <p:nvSpPr>
          <p:cNvPr id="9221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Class 1: Introduction</a:t>
            </a:r>
          </a:p>
        </p:txBody>
      </p:sp>
      <p:sp>
        <p:nvSpPr>
          <p:cNvPr id="9222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D59A7B-4343-47D5-B4C0-399FA8921D75}" type="slidenum">
              <a:rPr lang="en-US" altLang="en-US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Course resources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Lectures are the primary source of material for the course and all exams.   </a:t>
            </a:r>
          </a:p>
          <a:p>
            <a:pPr lvl="8"/>
            <a:endParaRPr lang="en-US" altLang="en-US" b="1" dirty="0"/>
          </a:p>
          <a:p>
            <a:pPr lvl="1"/>
            <a:r>
              <a:rPr lang="en-US" altLang="en-US" dirty="0"/>
              <a:t>I provide handouts for lectures.  I post them prior to class so you can take notes on them if you’d like.  You can find them in Canvas </a:t>
            </a:r>
            <a:r>
              <a:rPr lang="en-US" altLang="en-US" dirty="0">
                <a:sym typeface="Wingdings" panose="05000000000000000000" pitchFamily="2" charset="2"/>
              </a:rPr>
              <a:t> Files  Lecture Slides.</a:t>
            </a:r>
          </a:p>
          <a:p>
            <a:pPr lvl="8"/>
            <a:endParaRPr lang="en-US" altLang="en-US" dirty="0">
              <a:sym typeface="Wingdings" panose="05000000000000000000" pitchFamily="2" charset="2"/>
            </a:endParaRPr>
          </a:p>
          <a:p>
            <a:r>
              <a:rPr lang="en-US" altLang="en-US" b="1" dirty="0">
                <a:sym typeface="Wingdings" panose="05000000000000000000" pitchFamily="2" charset="2"/>
              </a:rPr>
              <a:t>Recommended Textbook</a:t>
            </a:r>
          </a:p>
          <a:p>
            <a:pPr lvl="8"/>
            <a:endParaRPr lang="en-US" altLang="en-US" dirty="0">
              <a:sym typeface="Wingdings" panose="05000000000000000000" pitchFamily="2" charset="2"/>
            </a:endParaRPr>
          </a:p>
          <a:p>
            <a:pPr lvl="1"/>
            <a:r>
              <a:rPr lang="en-US" i="1" dirty="0"/>
              <a:t>Microeconomics: Theory and Applications with Calculus</a:t>
            </a:r>
            <a:r>
              <a:rPr lang="en-US" dirty="0"/>
              <a:t>, by Jeffrey M. Perloff </a:t>
            </a:r>
          </a:p>
          <a:p>
            <a:pPr lvl="8"/>
            <a:endParaRPr lang="en-US" dirty="0"/>
          </a:p>
          <a:p>
            <a:pPr lvl="1"/>
            <a:r>
              <a:rPr lang="en-US" altLang="en-US" dirty="0">
                <a:sym typeface="Wingdings" panose="05000000000000000000" pitchFamily="2" charset="2"/>
              </a:rPr>
              <a:t>Available through Open Access, any edition is fine.</a:t>
            </a:r>
          </a:p>
          <a:p>
            <a:pPr lvl="8"/>
            <a:endParaRPr lang="en-US" altLang="en-US" dirty="0">
              <a:sym typeface="Wingdings" panose="05000000000000000000" pitchFamily="2" charset="2"/>
            </a:endParaRPr>
          </a:p>
          <a:p>
            <a:pPr lvl="1"/>
            <a:r>
              <a:rPr lang="en-US" altLang="en-US" dirty="0">
                <a:sym typeface="Wingdings" panose="05000000000000000000" pitchFamily="2" charset="2"/>
              </a:rPr>
              <a:t>You can find it under “Bookshelf” on Canvas</a:t>
            </a:r>
          </a:p>
        </p:txBody>
      </p:sp>
      <p:sp>
        <p:nvSpPr>
          <p:cNvPr id="1126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ECN 100B (Muehlegger)</a:t>
            </a:r>
          </a:p>
        </p:txBody>
      </p:sp>
      <p:sp>
        <p:nvSpPr>
          <p:cNvPr id="1126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Class 1: Introduction</a:t>
            </a:r>
          </a:p>
        </p:txBody>
      </p:sp>
      <p:sp>
        <p:nvSpPr>
          <p:cNvPr id="1127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414BD02-14CC-4632-960F-67946C73445C}" type="slidenum">
              <a:rPr lang="en-US" altLang="en-US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Classroom engagement and clickers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This course will use “in-class” polling.</a:t>
            </a:r>
          </a:p>
          <a:p>
            <a:pPr marL="730250" lvl="1" indent="-457200">
              <a:buFont typeface="Arial" charset="0"/>
              <a:buAutoNum type="arabicPeriod"/>
              <a:defRPr/>
            </a:pPr>
            <a:r>
              <a:rPr lang="en-US" altLang="en-US" dirty="0"/>
              <a:t>It helps keep you engaged in the material</a:t>
            </a:r>
          </a:p>
          <a:p>
            <a:pPr marL="730250" lvl="1" indent="-457200">
              <a:buFont typeface="Arial" charset="0"/>
              <a:buAutoNum type="arabicPeriod"/>
              <a:defRPr/>
            </a:pPr>
            <a:r>
              <a:rPr lang="en-US" altLang="en-US" dirty="0"/>
              <a:t>It lets you know whether or not you understand the material</a:t>
            </a:r>
          </a:p>
          <a:p>
            <a:pPr marL="730250" lvl="1" indent="-457200">
              <a:buFont typeface="Arial" charset="0"/>
              <a:buAutoNum type="arabicPeriod"/>
              <a:defRPr/>
            </a:pPr>
            <a:r>
              <a:rPr lang="en-US" altLang="en-US" dirty="0"/>
              <a:t>It give me real-time feedback on whether I’ve presented the material clearly </a:t>
            </a:r>
          </a:p>
          <a:p>
            <a:pPr marL="730250" lvl="1" indent="-457200">
              <a:buFont typeface="Arial" charset="0"/>
              <a:buAutoNum type="arabicPeriod"/>
              <a:defRPr/>
            </a:pPr>
            <a:r>
              <a:rPr lang="en-US" altLang="en-US" dirty="0"/>
              <a:t>It facilitates class discussion</a:t>
            </a:r>
          </a:p>
          <a:p>
            <a:pPr lvl="8"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Clicker questions will not be graded, nor will participation.</a:t>
            </a:r>
          </a:p>
          <a:p>
            <a:pPr lvl="8"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We will use </a:t>
            </a:r>
            <a:r>
              <a:rPr lang="en-US" altLang="en-US" dirty="0" err="1"/>
              <a:t>iClicker</a:t>
            </a:r>
            <a:r>
              <a:rPr lang="en-US" altLang="en-US" dirty="0"/>
              <a:t> which is free for UC Davis students.</a:t>
            </a:r>
          </a:p>
        </p:txBody>
      </p:sp>
      <p:sp>
        <p:nvSpPr>
          <p:cNvPr id="13316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ECN 100B (Muehlegger)</a:t>
            </a:r>
          </a:p>
        </p:txBody>
      </p:sp>
      <p:sp>
        <p:nvSpPr>
          <p:cNvPr id="1331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Class 1: Introduction</a:t>
            </a:r>
          </a:p>
        </p:txBody>
      </p:sp>
      <p:sp>
        <p:nvSpPr>
          <p:cNvPr id="1331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4AECFC-6037-442E-9240-FCD3193E6D92}" type="slidenum">
              <a:rPr lang="en-US" altLang="en-US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Canvas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 will disseminate material for the course through Canvas</a:t>
            </a:r>
          </a:p>
          <a:p>
            <a:pPr lvl="8"/>
            <a:endParaRPr lang="en-US" altLang="en-US" dirty="0"/>
          </a:p>
          <a:p>
            <a:r>
              <a:rPr lang="en-US" altLang="en-US" dirty="0"/>
              <a:t>This includes:</a:t>
            </a:r>
          </a:p>
          <a:p>
            <a:pPr lvl="8"/>
            <a:endParaRPr lang="en-US" altLang="en-US" dirty="0"/>
          </a:p>
          <a:p>
            <a:pPr lvl="1"/>
            <a:r>
              <a:rPr lang="en-US" altLang="en-US" dirty="0"/>
              <a:t>Lecture Handouts</a:t>
            </a:r>
          </a:p>
          <a:p>
            <a:pPr lvl="8"/>
            <a:endParaRPr lang="en-US" altLang="en-US" dirty="0"/>
          </a:p>
          <a:p>
            <a:pPr lvl="1"/>
            <a:r>
              <a:rPr lang="en-US" altLang="en-US" dirty="0"/>
              <a:t>Problem Sets and Solutions</a:t>
            </a:r>
          </a:p>
          <a:p>
            <a:pPr lvl="8"/>
            <a:endParaRPr lang="en-US" altLang="en-US" dirty="0"/>
          </a:p>
          <a:p>
            <a:pPr lvl="1"/>
            <a:r>
              <a:rPr lang="en-US" altLang="en-US" dirty="0"/>
              <a:t>Questions to previous midterm and final</a:t>
            </a:r>
          </a:p>
          <a:p>
            <a:pPr lvl="8"/>
            <a:endParaRPr lang="en-US" altLang="en-US" dirty="0"/>
          </a:p>
          <a:p>
            <a:r>
              <a:rPr lang="en-US" altLang="en-US" dirty="0"/>
              <a:t>Check Canvas often!  </a:t>
            </a:r>
          </a:p>
          <a:p>
            <a:pPr lvl="8"/>
            <a:endParaRPr lang="en-US" altLang="en-US" dirty="0"/>
          </a:p>
          <a:p>
            <a:r>
              <a:rPr lang="en-US" altLang="en-US" dirty="0"/>
              <a:t>Set your preferences to receive announcements by email!  </a:t>
            </a:r>
          </a:p>
        </p:txBody>
      </p:sp>
      <p:sp>
        <p:nvSpPr>
          <p:cNvPr id="14340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ECN 100B (Muehlegger)</a:t>
            </a:r>
          </a:p>
        </p:txBody>
      </p:sp>
      <p:sp>
        <p:nvSpPr>
          <p:cNvPr id="14341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Class 1: Introduction</a:t>
            </a:r>
          </a:p>
        </p:txBody>
      </p:sp>
      <p:sp>
        <p:nvSpPr>
          <p:cNvPr id="1434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47F3A7-5FB0-4D57-A926-A9D621A73BF7}" type="slidenum">
              <a:rPr lang="en-US" altLang="en-US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Course Grading (details in syllabus)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marL="514350" indent="-51435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altLang="en-US" sz="2800" b="1" dirty="0"/>
              <a:t>Final Exam (35%)</a:t>
            </a:r>
          </a:p>
          <a:p>
            <a:pPr marL="2252027" lvl="8" indent="-514350">
              <a:lnSpc>
                <a:spcPct val="80000"/>
              </a:lnSpc>
              <a:buFont typeface="+mj-lt"/>
              <a:buAutoNum type="arabicPeriod"/>
              <a:defRPr/>
            </a:pPr>
            <a:endParaRPr lang="en-US" altLang="en-US" sz="1700" dirty="0"/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altLang="en-US" sz="2800" b="1" dirty="0"/>
              <a:t>Midterm Exam (25%)</a:t>
            </a:r>
          </a:p>
          <a:p>
            <a:pPr marL="731837" lvl="1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endParaRPr lang="en-US" altLang="en-US" b="1" dirty="0"/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altLang="en-US" sz="2800" b="1" dirty="0"/>
              <a:t>Problem sets (20%)</a:t>
            </a:r>
          </a:p>
          <a:p>
            <a:pPr marL="1828800" lvl="6" indent="-457200">
              <a:lnSpc>
                <a:spcPct val="80000"/>
              </a:lnSpc>
              <a:buFont typeface="+mj-lt"/>
              <a:buAutoNum type="arabicPeriod"/>
              <a:defRPr/>
            </a:pPr>
            <a:endParaRPr lang="en-US" altLang="en-US" sz="1800" b="1" dirty="0"/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altLang="en-US" sz="2800" b="1" dirty="0"/>
              <a:t>Weekly Quizzes (20%)</a:t>
            </a:r>
          </a:p>
          <a:p>
            <a:pPr marL="1050925" lvl="4" indent="0" eaLnBrk="1" hangingPunct="1">
              <a:lnSpc>
                <a:spcPct val="80000"/>
              </a:lnSpc>
              <a:buFont typeface="Arial" charset="0"/>
              <a:buNone/>
              <a:defRPr/>
            </a:pPr>
            <a:endParaRPr lang="en-US" altLang="en-US" sz="2400" dirty="0"/>
          </a:p>
        </p:txBody>
      </p:sp>
      <p:sp>
        <p:nvSpPr>
          <p:cNvPr id="15364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ECN 100B (Muehlegger)</a:t>
            </a:r>
          </a:p>
        </p:txBody>
      </p:sp>
      <p:sp>
        <p:nvSpPr>
          <p:cNvPr id="1536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Class 1: Introduction</a:t>
            </a:r>
          </a:p>
        </p:txBody>
      </p:sp>
      <p:sp>
        <p:nvSpPr>
          <p:cNvPr id="15366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6601C90-4C4F-4772-BEC8-F6747156ED45}" type="slidenum">
              <a:rPr lang="en-US" altLang="en-US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289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C216-F4DA-733D-0108-CCCB202CC0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dirty="0"/>
              <a:t>II. Profit maximization (Perloff 8.2)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55232-458B-CB87-9CB3-4AB6073AA5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85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F24F2-01EE-21B1-A1B5-C1C194F8C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Firms seek to maximize profits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5979A4-A41F-52F7-86DD-75638D72FC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/>
                  <a:t>We assume that the firm’s objective is to maximize profits, subject to a variable the firm controls (often quantity)</a:t>
                </a:r>
                <a:r>
                  <a:rPr lang="en-US" sz="2000" b="0" i="0" dirty="0"/>
                  <a:t>.  </a:t>
                </a:r>
              </a:p>
              <a:p>
                <a:pPr lvl="8"/>
                <a:endParaRPr lang="en-US" sz="1200" b="0" i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lim>
                      </m:limLow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 lvl="8"/>
                <a:endParaRPr lang="en-US" sz="1200" dirty="0"/>
              </a:p>
              <a:p>
                <a:r>
                  <a:rPr lang="en-US" sz="2000" dirty="0"/>
                  <a:t>Taking the derivative and setting equal to zero.</a:t>
                </a:r>
              </a:p>
              <a:p>
                <a:pPr lvl="8"/>
                <a:endParaRPr lang="en-US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𝑑𝑞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𝑑𝑇𝑅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𝑑𝑞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𝑑𝑇𝐶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𝑑𝑞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𝑀𝐶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  <a:p>
                <a:pPr lvl="8"/>
                <a:endParaRPr lang="en-US" sz="1200" b="0" dirty="0"/>
              </a:p>
              <a:p>
                <a:r>
                  <a:rPr lang="en-US" sz="2000" b="0" dirty="0"/>
                  <a:t>Rearranging, we get the condition for </a:t>
                </a:r>
                <a:r>
                  <a:rPr lang="en-US" sz="2000" dirty="0"/>
                  <a:t>firm profit maximization</a:t>
                </a:r>
              </a:p>
              <a:p>
                <a:pPr lvl="8"/>
                <a:endParaRPr lang="en-US" sz="12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𝑀𝐶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sz="2000" b="0" dirty="0"/>
              </a:p>
              <a:p>
                <a:pPr lvl="8"/>
                <a:endParaRPr lang="en-US" sz="1200" b="0" dirty="0"/>
              </a:p>
              <a:p>
                <a:r>
                  <a:rPr lang="en-US" sz="2000" b="0" dirty="0"/>
                  <a:t>What is the intuition here?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5979A4-A41F-52F7-86DD-75638D72FC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70" t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9E83C-2DEC-E734-8A03-F41958A3E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24874-0B36-784B-344A-696B952ED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7135E-93D8-55E5-42A2-480ED6287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08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C216-F4DA-733D-0108-CCCB202CC0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dirty="0"/>
              <a:t>II. Perfect competition in the short run (Perloff 8.3)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55232-458B-CB87-9CB3-4AB6073AA5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256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E5E32-78E1-0571-2006-29DF6AA1F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What are the assumptions of perfect competition?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29DAAA-1EF3-BE51-EE05-51A0250D8F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There are many, many firms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Firms sell identical products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All firms have full information about price and product characteristics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There are no transaction costs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Entry and exit from the market is free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r>
                  <a:rPr lang="en-US" sz="2000" dirty="0"/>
                  <a:t>These assumptions have two important implications.		</a:t>
                </a:r>
              </a:p>
              <a:p>
                <a:pPr lvl="8"/>
                <a:endParaRPr lang="en-US" sz="9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Firms are </a:t>
                </a:r>
                <a:r>
                  <a:rPr lang="en-US" sz="2000" u="sng" dirty="0"/>
                  <a:t>price takers</a:t>
                </a:r>
                <a:r>
                  <a:rPr lang="en-US" sz="2000" dirty="0"/>
                  <a:t>.  They can sell as much as they want without affecting the market price.  </a:t>
                </a:r>
                <a:r>
                  <a:rPr lang="en-US" sz="2000" b="1" dirty="0"/>
                  <a:t>This means that firms face a flat marginal revenue curve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𝑴𝑹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9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In the long-run, entry and exit lead economic profits to be zero.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29DAAA-1EF3-BE51-EE05-51A0250D8F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0" t="-625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99137-AA02-ACBA-6D74-78FE98A1D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B75E9-CB04-4FD3-609F-4B92BB295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6B6BB-A440-8F0A-5851-638F785CB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53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88EC8-3E02-6A41-1A30-496A445BF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2B1D8-C69D-0DEA-4420-D511A6E2E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These assumptions have two important implications.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10FAA6-2518-A69E-8992-0BF8720714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8"/>
                <a:endParaRPr lang="en-US" sz="105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800" dirty="0"/>
                  <a:t>Firms are </a:t>
                </a:r>
                <a:r>
                  <a:rPr lang="en-US" sz="2800" u="sng" dirty="0"/>
                  <a:t>price takers</a:t>
                </a:r>
                <a:r>
                  <a:rPr lang="en-US" sz="2800" dirty="0"/>
                  <a:t>.  They can sell as much as they want without affecting the market price.  </a:t>
                </a:r>
              </a:p>
              <a:p>
                <a:pPr marL="731837" lvl="1" indent="-457200">
                  <a:buFont typeface="+mj-lt"/>
                  <a:buAutoNum type="arabicPeriod"/>
                </a:pPr>
                <a:endParaRPr lang="en-US" b="1" dirty="0"/>
              </a:p>
              <a:p>
                <a:pPr lvl="2"/>
                <a:r>
                  <a:rPr lang="en-US" sz="2600" dirty="0"/>
                  <a:t>This means that firms face a flat marginal revenue curve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60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105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800" dirty="0"/>
                  <a:t>Free entry and exit will occur if there are economic profits or losses.</a:t>
                </a:r>
              </a:p>
              <a:p>
                <a:pPr marL="2194877" lvl="8" indent="-457200">
                  <a:buFont typeface="+mj-lt"/>
                  <a:buAutoNum type="arabicPeriod"/>
                </a:pPr>
                <a:endParaRPr lang="en-US" sz="1700" dirty="0"/>
              </a:p>
              <a:p>
                <a:pPr lvl="1"/>
                <a:r>
                  <a:rPr lang="en-US" sz="2400" dirty="0"/>
                  <a:t>In the long-run, economic profits to be zero.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10FAA6-2518-A69E-8992-0BF8720714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r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E350F-DC0F-87A6-C63C-D2C975453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15D6C-B4D0-BEEA-F0F3-4B3C57A20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D403E-B64A-480C-227B-7D252F504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808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03CF2-634E-AA33-FD26-F2E77D7D0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Short-run competitive equilibrium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C0430-772F-7ADE-491D-0900CB75E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u="sng" dirty="0"/>
              <a:t>competitive equilibrium</a:t>
            </a:r>
            <a:r>
              <a:rPr lang="en-US" dirty="0"/>
              <a:t> is the price and quantity where market supply equals market demand.  </a:t>
            </a:r>
          </a:p>
          <a:p>
            <a:endParaRPr lang="en-US" dirty="0"/>
          </a:p>
          <a:p>
            <a:r>
              <a:rPr lang="en-US" dirty="0"/>
              <a:t>We can find the competitive equilibrium in three steps:</a:t>
            </a:r>
          </a:p>
          <a:p>
            <a:pPr lvl="8"/>
            <a:endParaRPr lang="en-US" dirty="0"/>
          </a:p>
          <a:p>
            <a:pPr marL="731837" lvl="1" indent="-457200">
              <a:buFont typeface="+mj-lt"/>
              <a:buAutoNum type="arabicPeriod"/>
            </a:pPr>
            <a:r>
              <a:rPr lang="en-US" dirty="0"/>
              <a:t>Calculate the </a:t>
            </a:r>
            <a:r>
              <a:rPr lang="en-US" u="sng" dirty="0"/>
              <a:t>firm supply curve</a:t>
            </a:r>
            <a:r>
              <a:rPr lang="en-US" dirty="0"/>
              <a:t>, how much each firm will produce as a function of price.</a:t>
            </a:r>
          </a:p>
          <a:p>
            <a:pPr marL="2194877" lvl="8" indent="-457200">
              <a:buFont typeface="+mj-lt"/>
              <a:buAutoNum type="arabicPeriod"/>
            </a:pPr>
            <a:endParaRPr lang="en-US" dirty="0"/>
          </a:p>
          <a:p>
            <a:pPr marL="731837" lvl="1" indent="-457200">
              <a:buFont typeface="+mj-lt"/>
              <a:buAutoNum type="arabicPeriod"/>
            </a:pPr>
            <a:r>
              <a:rPr lang="en-US" dirty="0"/>
              <a:t>Sum the firm supply curves horizontally to get the </a:t>
            </a:r>
            <a:r>
              <a:rPr lang="en-US" u="sng" dirty="0"/>
              <a:t>market supply curve</a:t>
            </a:r>
            <a:r>
              <a:rPr lang="en-US" dirty="0"/>
              <a:t>, how much all firms will produce as a function of price</a:t>
            </a:r>
          </a:p>
          <a:p>
            <a:pPr marL="2194877" lvl="8" indent="-457200">
              <a:buFont typeface="+mj-lt"/>
              <a:buAutoNum type="arabicPeriod"/>
            </a:pPr>
            <a:endParaRPr lang="en-US" dirty="0"/>
          </a:p>
          <a:p>
            <a:pPr marL="731837" lvl="1" indent="-457200">
              <a:buFont typeface="+mj-lt"/>
              <a:buAutoNum type="arabicPeriod"/>
            </a:pPr>
            <a:r>
              <a:rPr lang="en-US" dirty="0"/>
              <a:t>Equate market supply and market demand.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8FA7F-5E65-11BF-0C18-AE24BB6C3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1801A-575F-3678-027F-CFF22418A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4BB2A-AB1F-F393-B21E-C5F94D06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7062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D4F53-4390-10C6-9365-D15381248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We’ll consider a specific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55125-235F-373B-F550-B4CBF46BB7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this example, we assume the following:</a:t>
                </a:r>
              </a:p>
              <a:p>
                <a:pPr lvl="8"/>
                <a:endParaRPr lang="en-US" dirty="0"/>
              </a:p>
              <a:p>
                <a:pPr lvl="1"/>
                <a:r>
                  <a:rPr lang="en-US" dirty="0"/>
                  <a:t>Market demand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=600 −50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8"/>
                <a:endParaRPr lang="en-US" dirty="0"/>
              </a:p>
              <a:p>
                <a:pPr lvl="1"/>
                <a:r>
                  <a:rPr lang="en-US" dirty="0"/>
                  <a:t>The market is perfectly competitive</a:t>
                </a:r>
              </a:p>
              <a:p>
                <a:pPr lvl="8"/>
                <a:endParaRPr lang="en-US" dirty="0"/>
              </a:p>
              <a:p>
                <a:pPr lvl="1"/>
                <a:r>
                  <a:rPr lang="en-US" dirty="0"/>
                  <a:t>There are 100 identical firms in the market</a:t>
                </a:r>
              </a:p>
              <a:p>
                <a:pPr lvl="8"/>
                <a:endParaRPr lang="en-US" dirty="0"/>
              </a:p>
              <a:p>
                <a:pPr lvl="1"/>
                <a:r>
                  <a:rPr lang="en-US" dirty="0"/>
                  <a:t>Each firm has identical costs: TC(q) = 9 + q</a:t>
                </a:r>
                <a:r>
                  <a:rPr lang="en-US" baseline="30000" dirty="0"/>
                  <a:t>2</a:t>
                </a:r>
              </a:p>
              <a:p>
                <a:pPr lvl="1"/>
                <a:endParaRPr lang="en-US" baseline="30000" dirty="0"/>
              </a:p>
              <a:p>
                <a:pPr lvl="1"/>
                <a:endParaRPr lang="en-US" baseline="30000" dirty="0"/>
              </a:p>
              <a:p>
                <a:pPr lvl="8"/>
                <a:endParaRPr lang="en-US" baseline="30000" dirty="0"/>
              </a:p>
              <a:p>
                <a:r>
                  <a:rPr lang="en-US" dirty="0"/>
                  <a:t>Question: What can we learn about firm costs just from looking at the equation for TC?</a:t>
                </a:r>
              </a:p>
              <a:p>
                <a:pPr lvl="8"/>
                <a:endParaRPr lang="en-US" baseline="30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55125-235F-373B-F550-B4CBF46BB7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52B68-8CA6-D606-7E9A-9F52D00C8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916EE-243B-B64E-12B0-599488641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9255-0445-BAA7-8077-7054497A1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6293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307A8B-A061-6149-9DD8-BC7DDEAFC2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8"/>
                <a:endParaRPr lang="en-US" u="sng" dirty="0"/>
              </a:p>
              <a:p>
                <a:r>
                  <a:rPr lang="en-US" dirty="0"/>
                  <a:t>To find the </a:t>
                </a:r>
                <a:r>
                  <a:rPr lang="en-US" u="sng" dirty="0"/>
                  <a:t>firm supply curve</a:t>
                </a:r>
                <a:r>
                  <a:rPr lang="en-US" dirty="0"/>
                  <a:t>, maximize profits </a:t>
                </a:r>
                <a:r>
                  <a:rPr lang="en-US" dirty="0" err="1"/>
                  <a:t>wrt</a:t>
                </a:r>
                <a:r>
                  <a:rPr lang="en-US" dirty="0"/>
                  <a:t> to q.</a:t>
                </a:r>
              </a:p>
              <a:p>
                <a:pPr lvl="8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lim>
                      </m:limLow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𝑇𝐶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𝑑𝑞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/>
              </a:p>
              <a:p>
                <a:endParaRPr lang="en-US" dirty="0"/>
              </a:p>
              <a:p>
                <a:r>
                  <a:rPr lang="en-US" dirty="0"/>
                  <a:t>There are two things to note here.</a:t>
                </a:r>
              </a:p>
              <a:p>
                <a:pPr marL="731837" lvl="1" indent="-457200">
                  <a:buFont typeface="+mj-lt"/>
                  <a:buAutoNum type="arabicPeriod"/>
                </a:pPr>
                <a:r>
                  <a:rPr lang="en-US" dirty="0"/>
                  <a:t>The firm is maximizing profits, because MR = MC.</a:t>
                </a:r>
              </a:p>
              <a:p>
                <a:pPr marL="731837" lvl="1" indent="-457200">
                  <a:buFont typeface="+mj-lt"/>
                  <a:buAutoNum type="arabicPeriod"/>
                </a:pPr>
                <a:r>
                  <a:rPr lang="en-US" dirty="0"/>
                  <a:t>Since the market is perfectly competitive, MR = P.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307A8B-A061-6149-9DD8-BC7DDEAFC2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3D9387A-865E-FC0C-05CB-EA2702805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1: What is the firm supply curve?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CCD96-0B09-436C-8417-9EBD3E535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197EB-389D-FCBB-8CE3-F91040288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C544A-D934-C046-DA8E-44C8D6A61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3587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AAF03-37CC-D422-9B02-7C21CB31F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graphically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C7F9B4-178D-0001-C462-E0BB92A1AA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0274" y="1432517"/>
                <a:ext cx="8229600" cy="4876800"/>
              </a:xfrm>
            </p:spPr>
            <p:txBody>
              <a:bodyPr/>
              <a:lstStyle/>
              <a:p>
                <a:r>
                  <a:rPr lang="en-US" sz="2000" dirty="0"/>
                  <a:t>Using an example with P = 10, and our firm supply curve,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000" b="0" dirty="0"/>
              </a:p>
              <a:p>
                <a:pPr marL="0" indent="0">
                  <a:buNone/>
                </a:pPr>
                <a:endParaRPr lang="en-US" sz="11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𝑇𝐶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−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9+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C7F9B4-178D-0001-C462-E0BB92A1AA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0274" y="1432517"/>
                <a:ext cx="8229600" cy="4876800"/>
              </a:xfrm>
              <a:blipFill>
                <a:blip r:embed="rId3"/>
                <a:stretch>
                  <a:fillRect l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B0E4B-A086-CE94-2A3F-489797710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76F79-5777-0F07-4145-D1A7AECE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49C2E-B338-4B94-6409-BB19F1C3B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7936402-09E0-671E-53BD-CB53BE424845}"/>
              </a:ext>
            </a:extLst>
          </p:cNvPr>
          <p:cNvGrpSpPr/>
          <p:nvPr/>
        </p:nvGrpSpPr>
        <p:grpSpPr>
          <a:xfrm>
            <a:off x="420274" y="2667000"/>
            <a:ext cx="8647526" cy="4171950"/>
            <a:chOff x="420274" y="2667000"/>
            <a:chExt cx="8647526" cy="41719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65DABE9-4AEA-F5C8-1C56-868FC76F9B7E}"/>
                </a:ext>
              </a:extLst>
            </p:cNvPr>
            <p:cNvSpPr/>
            <p:nvPr/>
          </p:nvSpPr>
          <p:spPr>
            <a:xfrm>
              <a:off x="420274" y="2667000"/>
              <a:ext cx="8647526" cy="4171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5832613-BFDB-4D8F-225F-59B2A5D67344}"/>
                </a:ext>
              </a:extLst>
            </p:cNvPr>
            <p:cNvGrpSpPr/>
            <p:nvPr/>
          </p:nvGrpSpPr>
          <p:grpSpPr>
            <a:xfrm>
              <a:off x="494126" y="2819400"/>
              <a:ext cx="8274577" cy="3862754"/>
              <a:chOff x="338360" y="2842846"/>
              <a:chExt cx="8274577" cy="3862754"/>
            </a:xfrm>
            <a:noFill/>
          </p:grpSpPr>
          <p:sp>
            <p:nvSpPr>
              <p:cNvPr id="7" name="Line 4">
                <a:extLst>
                  <a:ext uri="{FF2B5EF4-FFF2-40B4-BE49-F238E27FC236}">
                    <a16:creationId xmlns:a16="http://schemas.microsoft.com/office/drawing/2014/main" id="{E79318FB-6FAF-AFC6-B4C5-2A9BA2FD26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5290" y="2875536"/>
                <a:ext cx="10847" cy="3406829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Line 5">
                <a:extLst>
                  <a:ext uri="{FF2B5EF4-FFF2-40B4-BE49-F238E27FC236}">
                    <a16:creationId xmlns:a16="http://schemas.microsoft.com/office/drawing/2014/main" id="{D31AD8CF-7F33-BFE9-3148-0BDFA32409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48716" y="6279733"/>
                <a:ext cx="3282002" cy="2632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8280354F-D23F-3C34-4C5F-1BE56FBD45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360" y="3559016"/>
                <a:ext cx="336550" cy="368300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charset="0"/>
                  <a:buChar char="•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Arial" charset="0"/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Arial" charset="0"/>
                  <a:buChar char="•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 dirty="0"/>
                  <a:t>P</a:t>
                </a:r>
              </a:p>
            </p:txBody>
          </p:sp>
          <p:sp>
            <p:nvSpPr>
              <p:cNvPr id="10" name="Text Box 7">
                <a:extLst>
                  <a:ext uri="{FF2B5EF4-FFF2-40B4-BE49-F238E27FC236}">
                    <a16:creationId xmlns:a16="http://schemas.microsoft.com/office/drawing/2014/main" id="{D739EE95-554F-B894-162F-3AD1847B50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4486" y="6336268"/>
                <a:ext cx="325730" cy="369332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charset="0"/>
                  <a:buChar char="•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Arial" charset="0"/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Arial" charset="0"/>
                  <a:buChar char="•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 dirty="0"/>
                  <a:t>q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878FCFE-CE6A-9E49-8EB8-8F0FF918D717}"/>
                  </a:ext>
                </a:extLst>
              </p:cNvPr>
              <p:cNvSpPr txBox="1"/>
              <p:nvPr/>
            </p:nvSpPr>
            <p:spPr>
              <a:xfrm>
                <a:off x="1820069" y="6307773"/>
                <a:ext cx="312906" cy="369332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B3B2C99-B913-1462-7604-859FD78891F5}"/>
                  </a:ext>
                </a:extLst>
              </p:cNvPr>
              <p:cNvSpPr txBox="1"/>
              <p:nvPr/>
            </p:nvSpPr>
            <p:spPr>
              <a:xfrm>
                <a:off x="2514600" y="6326534"/>
                <a:ext cx="312906" cy="369332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85918B0-6C38-BF60-37F7-478324BF17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14039" y="4288465"/>
                <a:ext cx="1538570" cy="21262"/>
              </a:xfrm>
              <a:prstGeom prst="line">
                <a:avLst/>
              </a:prstGeom>
              <a:grpFill/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9ACDDF4-3B55-35D7-21C8-D9D6A54FCAC4}"/>
                  </a:ext>
                </a:extLst>
              </p:cNvPr>
              <p:cNvSpPr txBox="1"/>
              <p:nvPr/>
            </p:nvSpPr>
            <p:spPr>
              <a:xfrm>
                <a:off x="3184771" y="2866634"/>
                <a:ext cx="1063112" cy="369332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MC = 2q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953ACC10-F4AF-6C47-75D0-9AF91111C88B}"/>
                  </a:ext>
                </a:extLst>
              </p:cNvPr>
              <p:cNvSpPr/>
              <p:nvPr/>
            </p:nvSpPr>
            <p:spPr>
              <a:xfrm>
                <a:off x="1126913" y="3460332"/>
                <a:ext cx="2213010" cy="2819400"/>
              </a:xfrm>
              <a:prstGeom prst="rect">
                <a:avLst/>
              </a:prstGeom>
              <a:grpFill/>
              <a:ln w="9525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5F40383-BCE3-8440-6D7D-4E0DEB9EA7DD}"/>
                  </a:ext>
                </a:extLst>
              </p:cNvPr>
              <p:cNvSpPr txBox="1"/>
              <p:nvPr/>
            </p:nvSpPr>
            <p:spPr>
              <a:xfrm>
                <a:off x="3177533" y="6326534"/>
                <a:ext cx="312906" cy="369332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C8E1509-72F8-F96C-5492-848C64075AF1}"/>
                  </a:ext>
                </a:extLst>
              </p:cNvPr>
              <p:cNvSpPr txBox="1"/>
              <p:nvPr/>
            </p:nvSpPr>
            <p:spPr>
              <a:xfrm>
                <a:off x="741713" y="4971159"/>
                <a:ext cx="312906" cy="369332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13CAA0-8FC6-3926-D3A0-22F37762ABF4}"/>
                  </a:ext>
                </a:extLst>
              </p:cNvPr>
              <p:cNvSpPr txBox="1"/>
              <p:nvPr/>
            </p:nvSpPr>
            <p:spPr>
              <a:xfrm>
                <a:off x="668641" y="4125061"/>
                <a:ext cx="441146" cy="369332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10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457A371-769F-580C-DD41-D8A84990A068}"/>
                  </a:ext>
                </a:extLst>
              </p:cNvPr>
              <p:cNvSpPr txBox="1"/>
              <p:nvPr/>
            </p:nvSpPr>
            <p:spPr>
              <a:xfrm>
                <a:off x="674910" y="3275666"/>
                <a:ext cx="441146" cy="369332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14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3214590-B826-2BDF-6078-26D435897722}"/>
                  </a:ext>
                </a:extLst>
              </p:cNvPr>
              <p:cNvSpPr txBox="1"/>
              <p:nvPr/>
            </p:nvSpPr>
            <p:spPr>
              <a:xfrm>
                <a:off x="3777069" y="4103799"/>
                <a:ext cx="1030138" cy="369332"/>
              </a:xfrm>
              <a:prstGeom prst="rect">
                <a:avLst/>
              </a:prstGeom>
              <a:grp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MR = P</a:t>
                </a:r>
              </a:p>
            </p:txBody>
          </p:sp>
          <p:sp>
            <p:nvSpPr>
              <p:cNvPr id="54" name="Line 4">
                <a:extLst>
                  <a:ext uri="{FF2B5EF4-FFF2-40B4-BE49-F238E27FC236}">
                    <a16:creationId xmlns:a16="http://schemas.microsoft.com/office/drawing/2014/main" id="{CBAEF71B-B870-EDFD-C6F0-FD26238F4F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98011" y="2842846"/>
                <a:ext cx="10847" cy="3406829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Line 5">
                <a:extLst>
                  <a:ext uri="{FF2B5EF4-FFF2-40B4-BE49-F238E27FC236}">
                    <a16:creationId xmlns:a16="http://schemas.microsoft.com/office/drawing/2014/main" id="{1C372B6A-1528-C662-236D-E57FD8177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31437" y="6247043"/>
                <a:ext cx="3282002" cy="2632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Text Box 6">
                <a:extLst>
                  <a:ext uri="{FF2B5EF4-FFF2-40B4-BE49-F238E27FC236}">
                    <a16:creationId xmlns:a16="http://schemas.microsoft.com/office/drawing/2014/main" id="{0E42C76E-419A-CBBF-5C73-5459880A36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3025" y="3052367"/>
                <a:ext cx="787395" cy="369332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charset="0"/>
                  <a:buChar char="•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Arial" charset="0"/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Arial" charset="0"/>
                  <a:buChar char="•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 dirty="0"/>
                  <a:t>Profit</a:t>
                </a:r>
              </a:p>
            </p:txBody>
          </p:sp>
          <p:sp>
            <p:nvSpPr>
              <p:cNvPr id="57" name="Text Box 7">
                <a:extLst>
                  <a:ext uri="{FF2B5EF4-FFF2-40B4-BE49-F238E27FC236}">
                    <a16:creationId xmlns:a16="http://schemas.microsoft.com/office/drawing/2014/main" id="{23B3D9CC-FBBD-3F22-013D-25E47D876A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87207" y="6303578"/>
                <a:ext cx="325730" cy="369332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charset="0"/>
                  <a:buChar char="•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Arial" charset="0"/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Arial" charset="0"/>
                  <a:buChar char="•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 dirty="0"/>
                  <a:t>q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55DD21D-A20F-357D-1770-C5F8E522FBB8}"/>
                  </a:ext>
                </a:extLst>
              </p:cNvPr>
              <p:cNvSpPr txBox="1"/>
              <p:nvPr/>
            </p:nvSpPr>
            <p:spPr>
              <a:xfrm>
                <a:off x="5902790" y="6275083"/>
                <a:ext cx="312906" cy="369332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FE88784-E6F1-AA64-684C-1CDE3AD1FBA7}"/>
                  </a:ext>
                </a:extLst>
              </p:cNvPr>
              <p:cNvSpPr txBox="1"/>
              <p:nvPr/>
            </p:nvSpPr>
            <p:spPr>
              <a:xfrm>
                <a:off x="6565408" y="6293844"/>
                <a:ext cx="312906" cy="369332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8685018-5295-4D5F-4C44-C47C112B11B3}"/>
                  </a:ext>
                </a:extLst>
              </p:cNvPr>
              <p:cNvSpPr txBox="1"/>
              <p:nvPr/>
            </p:nvSpPr>
            <p:spPr>
              <a:xfrm>
                <a:off x="7260254" y="6293844"/>
                <a:ext cx="312906" cy="369332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0AC091D-CBF3-6ABC-5056-384033EEEF93}"/>
                  </a:ext>
                </a:extLst>
              </p:cNvPr>
              <p:cNvSpPr txBox="1"/>
              <p:nvPr/>
            </p:nvSpPr>
            <p:spPr>
              <a:xfrm>
                <a:off x="4688727" y="4680842"/>
                <a:ext cx="441146" cy="369332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12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9327E7E-2532-C856-9809-D351F2B05CF4}"/>
                  </a:ext>
                </a:extLst>
              </p:cNvPr>
              <p:cNvSpPr txBox="1"/>
              <p:nvPr/>
            </p:nvSpPr>
            <p:spPr>
              <a:xfrm>
                <a:off x="4630975" y="3701777"/>
                <a:ext cx="441146" cy="369332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16</a:t>
                </a: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FEC7DD76-57F5-F9CB-FA15-35ADB5F3E576}"/>
                  </a:ext>
                </a:extLst>
              </p:cNvPr>
              <p:cNvSpPr/>
              <p:nvPr/>
            </p:nvSpPr>
            <p:spPr>
              <a:xfrm>
                <a:off x="5199101" y="4862268"/>
                <a:ext cx="819368" cy="1388790"/>
              </a:xfrm>
              <a:prstGeom prst="rect">
                <a:avLst/>
              </a:prstGeom>
              <a:grpFill/>
              <a:ln w="9525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FA70938-C278-EC96-967E-3B6796E404A2}"/>
                  </a:ext>
                </a:extLst>
              </p:cNvPr>
              <p:cNvSpPr txBox="1"/>
              <p:nvPr/>
            </p:nvSpPr>
            <p:spPr>
              <a:xfrm>
                <a:off x="6605173" y="3299115"/>
                <a:ext cx="228367" cy="369332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q*</a:t>
                </a: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622B97B0-B058-EDC0-1C7F-360C666EA0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81200" y="5136732"/>
                <a:ext cx="0" cy="1143000"/>
              </a:xfrm>
              <a:prstGeom prst="line">
                <a:avLst/>
              </a:prstGeom>
              <a:grpFill/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AC12AEC-EF95-CFF2-1F47-C9CAA047E5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2609" y="4334523"/>
                <a:ext cx="0" cy="1945209"/>
              </a:xfrm>
              <a:prstGeom prst="line">
                <a:avLst/>
              </a:prstGeom>
              <a:grpFill/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8CDEF66-919B-1456-D30F-86B6F0E316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4039" y="5170311"/>
                <a:ext cx="867161" cy="0"/>
              </a:xfrm>
              <a:prstGeom prst="line">
                <a:avLst/>
              </a:prstGeom>
              <a:grpFill/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A04A7FF-0FB7-611C-A918-2C0465D686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0713" y="4277621"/>
                <a:ext cx="2633777" cy="32200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F8E87EC-2DBF-819A-9110-DD5C2B84E3BA}"/>
                  </a:ext>
                </a:extLst>
              </p:cNvPr>
              <p:cNvCxnSpPr>
                <a:cxnSpLocks/>
                <a:stCxn id="8" idx="0"/>
              </p:cNvCxnSpPr>
              <p:nvPr/>
            </p:nvCxnSpPr>
            <p:spPr>
              <a:xfrm flipV="1">
                <a:off x="1148716" y="3201732"/>
                <a:ext cx="2356484" cy="3080633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587226D2-5921-DB63-28A8-4357181599AC}"/>
                  </a:ext>
                </a:extLst>
              </p:cNvPr>
              <p:cNvSpPr/>
              <p:nvPr/>
            </p:nvSpPr>
            <p:spPr>
              <a:xfrm>
                <a:off x="5209633" y="4858252"/>
                <a:ext cx="2264955" cy="1388790"/>
              </a:xfrm>
              <a:prstGeom prst="rect">
                <a:avLst/>
              </a:prstGeom>
              <a:grpFill/>
              <a:ln w="9525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6CFE2B3-3505-04A8-FBC7-10BE413060FA}"/>
                  </a:ext>
                </a:extLst>
              </p:cNvPr>
              <p:cNvSpPr/>
              <p:nvPr/>
            </p:nvSpPr>
            <p:spPr>
              <a:xfrm>
                <a:off x="5542844" y="3875197"/>
                <a:ext cx="2449689" cy="2370668"/>
              </a:xfrm>
              <a:custGeom>
                <a:avLst/>
                <a:gdLst>
                  <a:gd name="connsiteX0" fmla="*/ 0 w 2449689"/>
                  <a:gd name="connsiteY0" fmla="*/ 2370668 h 2370668"/>
                  <a:gd name="connsiteX1" fmla="*/ 1207912 w 2449689"/>
                  <a:gd name="connsiteY1" fmla="*/ 2 h 2370668"/>
                  <a:gd name="connsiteX2" fmla="*/ 2449689 w 2449689"/>
                  <a:gd name="connsiteY2" fmla="*/ 2359379 h 2370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9689" h="2370668">
                    <a:moveTo>
                      <a:pt x="0" y="2370668"/>
                    </a:moveTo>
                    <a:cubicBezTo>
                      <a:pt x="399815" y="1186275"/>
                      <a:pt x="799631" y="1883"/>
                      <a:pt x="1207912" y="2"/>
                    </a:cubicBezTo>
                    <a:cubicBezTo>
                      <a:pt x="1616193" y="-1879"/>
                      <a:pt x="2032941" y="1178750"/>
                      <a:pt x="2449689" y="2359379"/>
                    </a:cubicBezTo>
                  </a:path>
                </a:pathLst>
              </a:cu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362FA4EC-0DC7-17D2-02F4-71AD605708B6}"/>
                  </a:ext>
                </a:extLst>
              </p:cNvPr>
              <p:cNvSpPr/>
              <p:nvPr/>
            </p:nvSpPr>
            <p:spPr>
              <a:xfrm>
                <a:off x="5192508" y="3888090"/>
                <a:ext cx="1543198" cy="2359035"/>
              </a:xfrm>
              <a:prstGeom prst="rect">
                <a:avLst/>
              </a:prstGeom>
              <a:grpFill/>
              <a:ln w="9525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0666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8B564-4DF0-F01A-0721-46D3122DB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2: What is the market supply curve?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0602EC-4657-875E-EC77-309B79E3EF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find the </a:t>
                </a:r>
                <a:r>
                  <a:rPr lang="en-US" u="sng" dirty="0"/>
                  <a:t>market supply curve</a:t>
                </a:r>
                <a:r>
                  <a:rPr lang="en-US" dirty="0"/>
                  <a:t>, we sum the 100 firm supply curves horizontally.  </a:t>
                </a:r>
              </a:p>
              <a:p>
                <a:pPr lvl="8"/>
                <a:endParaRPr lang="en-US" dirty="0"/>
              </a:p>
              <a:p>
                <a:pPr lvl="1"/>
                <a:r>
                  <a:rPr lang="en-US" dirty="0"/>
                  <a:t>Firm supply curve: 		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Market supply curve:  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lvl="8"/>
                <a:endParaRPr lang="en-US" dirty="0"/>
              </a:p>
              <a:p>
                <a:r>
                  <a:rPr lang="en-US" dirty="0"/>
                  <a:t>Since we graph supply and demand with price on the vertical axis, we calculate the </a:t>
                </a:r>
                <a:r>
                  <a:rPr lang="en-US" u="sng" dirty="0"/>
                  <a:t>inverse market supply curve </a:t>
                </a:r>
                <a:r>
                  <a:rPr lang="en-US" dirty="0"/>
                  <a:t>by putting price on the left-hand side.  </a:t>
                </a:r>
              </a:p>
              <a:p>
                <a:pPr lvl="8"/>
                <a:endParaRPr lang="en-US" dirty="0"/>
              </a:p>
              <a:p>
                <a:pPr lvl="1"/>
                <a:r>
                  <a:rPr lang="en-US" dirty="0"/>
                  <a:t>Inverse Market supply curve:   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8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0602EC-4657-875E-EC77-309B79E3EF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75" r="-1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630FE-DF8B-5478-78F6-D19A5201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C2A7B-2A75-0448-7A8A-54911052B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6F15E-62B3-8E87-2E24-5D96C1210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224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8B564-4DF0-F01A-0721-46D3122DB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2: What is the market supply curve?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602EC-4657-875E-EC77-309B79E3E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Graphically, we horizontally sum the 100 firm supply curves to get the </a:t>
            </a:r>
            <a:r>
              <a:rPr lang="en-US" u="sng" dirty="0"/>
              <a:t>market supply curve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630FE-DF8B-5478-78F6-D19A5201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C2A7B-2A75-0448-7A8A-54911052B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6F15E-62B3-8E87-2E24-5D96C1210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0BC95A3-010E-DC48-B744-79D91514590F}"/>
              </a:ext>
            </a:extLst>
          </p:cNvPr>
          <p:cNvGrpSpPr/>
          <p:nvPr/>
        </p:nvGrpSpPr>
        <p:grpSpPr>
          <a:xfrm>
            <a:off x="304800" y="2667000"/>
            <a:ext cx="8534400" cy="3810000"/>
            <a:chOff x="304800" y="2667000"/>
            <a:chExt cx="8534400" cy="381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F0D46BE-F258-AD8D-9CC7-6E4CA0123D47}"/>
                </a:ext>
              </a:extLst>
            </p:cNvPr>
            <p:cNvSpPr/>
            <p:nvPr/>
          </p:nvSpPr>
          <p:spPr>
            <a:xfrm>
              <a:off x="304800" y="2667000"/>
              <a:ext cx="8534400" cy="381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895097A6-AD1C-7F6C-30E0-558411CC51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3352800"/>
              <a:ext cx="0" cy="2514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E3F60140-E9BE-3FE7-9F09-74D07031DF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5867400"/>
              <a:ext cx="274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5CD2138C-6A68-2BF5-17A9-C6948DD066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" y="3505200"/>
              <a:ext cx="3365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P</a:t>
              </a: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925FC448-88D3-EC28-0536-30CC544BFD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5943600"/>
              <a:ext cx="32573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q</a:t>
              </a: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2E52DD55-CABA-240F-A369-E272DE4CC4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0639" y="3199337"/>
              <a:ext cx="4761" cy="266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F24F7DF2-9A30-B95E-7E3B-7B47A0B7F5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5400" y="5867400"/>
              <a:ext cx="274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68918245-6F60-F09D-183B-3BC832D7B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7900" y="3270250"/>
              <a:ext cx="336550" cy="365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P</a:t>
              </a:r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C229889C-17C4-8B72-AAF5-4F8D0C569F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7600" y="5943600"/>
              <a:ext cx="3619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Q</a:t>
              </a: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EB8C04F4-6705-BF1E-945B-56D3D64BE7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2971800"/>
              <a:ext cx="18097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Individual Firm</a:t>
              </a:r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32257644-FC48-F86C-CC2B-277B3070B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2971800"/>
              <a:ext cx="17589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Overall Market</a:t>
              </a:r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EFB55FD9-C25D-2310-F7DE-06101704AC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0161" y="3765550"/>
              <a:ext cx="2705102" cy="2076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Box 17">
              <a:extLst>
                <a:ext uri="{FF2B5EF4-FFF2-40B4-BE49-F238E27FC236}">
                  <a16:creationId xmlns:a16="http://schemas.microsoft.com/office/drawing/2014/main" id="{A86AFCDF-3ADA-69F0-A9C6-A6C6FD86CF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4764" y="3417440"/>
              <a:ext cx="3365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 Box 24">
                  <a:extLst>
                    <a:ext uri="{FF2B5EF4-FFF2-40B4-BE49-F238E27FC236}">
                      <a16:creationId xmlns:a16="http://schemas.microsoft.com/office/drawing/2014/main" id="{A54E4502-FA96-DCFE-7810-DA0B47BA55E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63373" y="3621535"/>
                  <a:ext cx="471347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Arial" charset="0"/>
                    <a:buChar char="•"/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Arial" charset="0"/>
                    <a:buChar char="•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en-US" sz="1800" dirty="0"/>
                </a:p>
              </p:txBody>
            </p:sp>
          </mc:Choice>
          <mc:Fallback xmlns="">
            <p:sp>
              <p:nvSpPr>
                <p:cNvPr id="24" name="Text Box 24">
                  <a:extLst>
                    <a:ext uri="{FF2B5EF4-FFF2-40B4-BE49-F238E27FC236}">
                      <a16:creationId xmlns:a16="http://schemas.microsoft.com/office/drawing/2014/main" id="{A54E4502-FA96-DCFE-7810-DA0B47BA5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63373" y="3621535"/>
                  <a:ext cx="471347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819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263E18F-136F-3CBF-13B0-B9CE5BA5B1A4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1219200" y="4067067"/>
              <a:ext cx="876302" cy="18003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839F92E-19B5-A240-1FD2-B38E4FEF6447}"/>
                </a:ext>
              </a:extLst>
            </p:cNvPr>
            <p:cNvCxnSpPr>
              <a:cxnSpLocks/>
            </p:cNvCxnSpPr>
            <p:nvPr/>
          </p:nvCxnSpPr>
          <p:spPr>
            <a:xfrm>
              <a:off x="1219200" y="4610100"/>
              <a:ext cx="6742114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3E2A12C-40F1-16E7-04E5-6CF815331B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9200" y="4067066"/>
              <a:ext cx="1752600" cy="17928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C593A67-81B1-EFA5-DD85-7F47709C9E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3766" y="4067066"/>
              <a:ext cx="2729584" cy="17928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 Box 24">
                  <a:extLst>
                    <a:ext uri="{FF2B5EF4-FFF2-40B4-BE49-F238E27FC236}">
                      <a16:creationId xmlns:a16="http://schemas.microsoft.com/office/drawing/2014/main" id="{BC4060CB-EC33-CBCC-4294-3997CEEDB66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62200" y="3629603"/>
                  <a:ext cx="974947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Arial" charset="0"/>
                    <a:buChar char="•"/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Arial" charset="0"/>
                    <a:buChar char="•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en-US" sz="1800" dirty="0"/>
                </a:p>
              </p:txBody>
            </p:sp>
          </mc:Choice>
          <mc:Fallback xmlns="">
            <p:sp>
              <p:nvSpPr>
                <p:cNvPr id="43" name="Text Box 24">
                  <a:extLst>
                    <a:ext uri="{FF2B5EF4-FFF2-40B4-BE49-F238E27FC236}">
                      <a16:creationId xmlns:a16="http://schemas.microsoft.com/office/drawing/2014/main" id="{BC4060CB-EC33-CBCC-4294-3997CEEDB6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62200" y="3629603"/>
                  <a:ext cx="974947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819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7E0149-BE7B-47FA-D9F7-B0DC895328E5}"/>
                </a:ext>
              </a:extLst>
            </p:cNvPr>
            <p:cNvSpPr txBox="1"/>
            <p:nvPr/>
          </p:nvSpPr>
          <p:spPr>
            <a:xfrm>
              <a:off x="4615750" y="4450835"/>
              <a:ext cx="44114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 Box 24">
                  <a:extLst>
                    <a:ext uri="{FF2B5EF4-FFF2-40B4-BE49-F238E27FC236}">
                      <a16:creationId xmlns:a16="http://schemas.microsoft.com/office/drawing/2014/main" id="{4BC02432-2DA9-777B-4447-E79243AB2AE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29000" y="3643922"/>
                  <a:ext cx="1478546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Arial" charset="0"/>
                    <a:buChar char="•"/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Arial" charset="0"/>
                    <a:buChar char="•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en-US" sz="1800" dirty="0"/>
                </a:p>
              </p:txBody>
            </p:sp>
          </mc:Choice>
          <mc:Fallback xmlns="">
            <p:sp>
              <p:nvSpPr>
                <p:cNvPr id="46" name="Text Box 24">
                  <a:extLst>
                    <a:ext uri="{FF2B5EF4-FFF2-40B4-BE49-F238E27FC236}">
                      <a16:creationId xmlns:a16="http://schemas.microsoft.com/office/drawing/2014/main" id="{4BC02432-2DA9-777B-4447-E79243AB2A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29000" y="3643922"/>
                  <a:ext cx="1478546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8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40859B9-61F2-CF91-E129-2F1F4569CBC8}"/>
                </a:ext>
              </a:extLst>
            </p:cNvPr>
            <p:cNvCxnSpPr/>
            <p:nvPr/>
          </p:nvCxnSpPr>
          <p:spPr>
            <a:xfrm>
              <a:off x="1828800" y="4610100"/>
              <a:ext cx="0" cy="12573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D9B2213-6D74-DC6A-EBD6-4163E73F4000}"/>
                </a:ext>
              </a:extLst>
            </p:cNvPr>
            <p:cNvCxnSpPr/>
            <p:nvPr/>
          </p:nvCxnSpPr>
          <p:spPr>
            <a:xfrm>
              <a:off x="2438400" y="4635501"/>
              <a:ext cx="0" cy="12573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13D1604-CA9B-E0C3-9593-A65C828A7E37}"/>
                </a:ext>
              </a:extLst>
            </p:cNvPr>
            <p:cNvCxnSpPr/>
            <p:nvPr/>
          </p:nvCxnSpPr>
          <p:spPr>
            <a:xfrm>
              <a:off x="3124200" y="4610100"/>
              <a:ext cx="0" cy="12573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FA3A032-F3BA-19B3-6294-27433DCDB3DA}"/>
                </a:ext>
              </a:extLst>
            </p:cNvPr>
            <p:cNvSpPr txBox="1"/>
            <p:nvPr/>
          </p:nvSpPr>
          <p:spPr>
            <a:xfrm>
              <a:off x="1676400" y="589280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8255174-728E-D030-BB67-724427C0D177}"/>
                </a:ext>
              </a:extLst>
            </p:cNvPr>
            <p:cNvSpPr txBox="1"/>
            <p:nvPr/>
          </p:nvSpPr>
          <p:spPr>
            <a:xfrm>
              <a:off x="2281947" y="589280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99887F5-ADE4-3B20-4B01-309B568EF40F}"/>
                </a:ext>
              </a:extLst>
            </p:cNvPr>
            <p:cNvSpPr txBox="1"/>
            <p:nvPr/>
          </p:nvSpPr>
          <p:spPr>
            <a:xfrm>
              <a:off x="2950410" y="589280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15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76FF85B-F62E-EDCA-046B-3EA1277FF297}"/>
                </a:ext>
              </a:extLst>
            </p:cNvPr>
            <p:cNvCxnSpPr/>
            <p:nvPr/>
          </p:nvCxnSpPr>
          <p:spPr>
            <a:xfrm>
              <a:off x="6705600" y="4610100"/>
              <a:ext cx="0" cy="12573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3D8FADE-129B-5F41-B4D6-419CDEBB8F51}"/>
                </a:ext>
              </a:extLst>
            </p:cNvPr>
            <p:cNvSpPr txBox="1"/>
            <p:nvPr/>
          </p:nvSpPr>
          <p:spPr>
            <a:xfrm>
              <a:off x="6422316" y="5897732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249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3B81B-1670-FE80-096A-468EF7ABE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3: Find the competitive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85B90-A459-31E2-7F59-52FDC33D66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calculate the competitive equilibrium by equating market supply and demand.</a:t>
                </a:r>
              </a:p>
              <a:p>
                <a:pPr lvl="8"/>
                <a:endParaRPr lang="en-US" dirty="0"/>
              </a:p>
              <a:p>
                <a:pPr lvl="1"/>
                <a:r>
                  <a:rPr lang="en-US" dirty="0"/>
                  <a:t>Market supply curve: 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Market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b="0" i="0" dirty="0" smtClean="0"/>
                      <m:t>demand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curve</m:t>
                    </m:r>
                    <m:r>
                      <m:rPr>
                        <m:nor/>
                      </m:rPr>
                      <a:rPr lang="en-US" dirty="0"/>
                      <m:t>: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	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=600 −50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Setting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/>
                  <a:t>, we have: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Each firm, consequently produces: 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85B90-A459-31E2-7F59-52FDC33D66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2D447-CE25-A536-95A3-825440B41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50108-D878-1BB3-D88D-8B3F1C65E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A9421-BF1B-1F5D-ED30-D665EA1D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3194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27D3B-038A-D00E-0AB2-1785B335D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Graphical depiction of the competitive equilibrium in our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AD100-B9BA-0602-2589-ECC24179E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we graph with price on the vertical axis, we always want to have price on the left-hand side.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8BFFD-75D3-3217-85D4-09492701A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3124-3CFF-18A1-BE47-DF2751BBC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9C63A-72D9-6886-FC24-A55BEFEC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E43231C-C24E-98E6-90D9-18B4A558A917}"/>
              </a:ext>
            </a:extLst>
          </p:cNvPr>
          <p:cNvGrpSpPr/>
          <p:nvPr/>
        </p:nvGrpSpPr>
        <p:grpSpPr>
          <a:xfrm>
            <a:off x="304800" y="2491384"/>
            <a:ext cx="8858887" cy="4061816"/>
            <a:chOff x="304800" y="2491384"/>
            <a:chExt cx="8858887" cy="406181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2F169BC-01F1-57E4-4897-F10C775BC08D}"/>
                </a:ext>
              </a:extLst>
            </p:cNvPr>
            <p:cNvSpPr/>
            <p:nvPr/>
          </p:nvSpPr>
          <p:spPr>
            <a:xfrm>
              <a:off x="304800" y="2491384"/>
              <a:ext cx="8823922" cy="40618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Line 4">
              <a:extLst>
                <a:ext uri="{FF2B5EF4-FFF2-40B4-BE49-F238E27FC236}">
                  <a16:creationId xmlns:a16="http://schemas.microsoft.com/office/drawing/2014/main" id="{566DC7F0-EFFA-CC1A-146B-93F6F05642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710" y="3358079"/>
              <a:ext cx="0" cy="2514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5">
              <a:extLst>
                <a:ext uri="{FF2B5EF4-FFF2-40B4-BE49-F238E27FC236}">
                  <a16:creationId xmlns:a16="http://schemas.microsoft.com/office/drawing/2014/main" id="{D0935040-971F-3400-7E9D-05657998C2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710" y="5872679"/>
              <a:ext cx="274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Box 6">
              <a:extLst>
                <a:ext uri="{FF2B5EF4-FFF2-40B4-BE49-F238E27FC236}">
                  <a16:creationId xmlns:a16="http://schemas.microsoft.com/office/drawing/2014/main" id="{A2E5183E-CF5D-3025-2547-69A93CADFB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510" y="3510479"/>
              <a:ext cx="3365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P</a:t>
              </a:r>
            </a:p>
          </p:txBody>
        </p:sp>
        <p:sp>
          <p:nvSpPr>
            <p:cNvPr id="37" name="Text Box 7">
              <a:extLst>
                <a:ext uri="{FF2B5EF4-FFF2-40B4-BE49-F238E27FC236}">
                  <a16:creationId xmlns:a16="http://schemas.microsoft.com/office/drawing/2014/main" id="{8E11768E-51D3-4B7D-8B3E-85D0D02F08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5910" y="5948879"/>
              <a:ext cx="32573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q</a:t>
              </a:r>
            </a:p>
          </p:txBody>
        </p:sp>
        <p:sp>
          <p:nvSpPr>
            <p:cNvPr id="38" name="Line 9">
              <a:extLst>
                <a:ext uri="{FF2B5EF4-FFF2-40B4-BE49-F238E27FC236}">
                  <a16:creationId xmlns:a16="http://schemas.microsoft.com/office/drawing/2014/main" id="{E955C71B-5AE1-A259-A96E-859C82A4C0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5149" y="3204616"/>
              <a:ext cx="4761" cy="266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>
              <a:extLst>
                <a:ext uri="{FF2B5EF4-FFF2-40B4-BE49-F238E27FC236}">
                  <a16:creationId xmlns:a16="http://schemas.microsoft.com/office/drawing/2014/main" id="{BEEF689E-3513-8870-F2AD-C79716753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9910" y="5872679"/>
              <a:ext cx="274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Box 11">
              <a:extLst>
                <a:ext uri="{FF2B5EF4-FFF2-40B4-BE49-F238E27FC236}">
                  <a16:creationId xmlns:a16="http://schemas.microsoft.com/office/drawing/2014/main" id="{CA671B01-0F0E-5F28-A90F-B39DFFCC1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2410" y="3275529"/>
              <a:ext cx="336550" cy="365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P</a:t>
              </a:r>
            </a:p>
          </p:txBody>
        </p:sp>
        <p:sp>
          <p:nvSpPr>
            <p:cNvPr id="41" name="Text Box 12">
              <a:extLst>
                <a:ext uri="{FF2B5EF4-FFF2-40B4-BE49-F238E27FC236}">
                  <a16:creationId xmlns:a16="http://schemas.microsoft.com/office/drawing/2014/main" id="{5C4BABBC-E762-1FFC-86BD-5FA0BB8B93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2110" y="5948879"/>
              <a:ext cx="3619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Q</a:t>
              </a:r>
            </a:p>
          </p:txBody>
        </p:sp>
        <p:sp>
          <p:nvSpPr>
            <p:cNvPr id="42" name="Text Box 13">
              <a:extLst>
                <a:ext uri="{FF2B5EF4-FFF2-40B4-BE49-F238E27FC236}">
                  <a16:creationId xmlns:a16="http://schemas.microsoft.com/office/drawing/2014/main" id="{F6EA5F93-82A1-A893-E8A1-4EC505B61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0910" y="2977079"/>
              <a:ext cx="18097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u="sng" dirty="0"/>
                <a:t>Individual Firm</a:t>
              </a:r>
            </a:p>
          </p:txBody>
        </p:sp>
        <p:sp>
          <p:nvSpPr>
            <p:cNvPr id="43" name="Text Box 14">
              <a:extLst>
                <a:ext uri="{FF2B5EF4-FFF2-40B4-BE49-F238E27FC236}">
                  <a16:creationId xmlns:a16="http://schemas.microsoft.com/office/drawing/2014/main" id="{077FB49C-DDE3-FECF-D8ED-C91147AA2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9219" y="2987449"/>
              <a:ext cx="92845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u="sng" dirty="0"/>
                <a:t>Market</a:t>
              </a:r>
            </a:p>
          </p:txBody>
        </p:sp>
        <p:sp>
          <p:nvSpPr>
            <p:cNvPr id="44" name="Line 15">
              <a:extLst>
                <a:ext uri="{FF2B5EF4-FFF2-40B4-BE49-F238E27FC236}">
                  <a16:creationId xmlns:a16="http://schemas.microsoft.com/office/drawing/2014/main" id="{9C3FFFE2-2B20-30F6-03BE-6184B7A3C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7373" y="3427930"/>
              <a:ext cx="2492376" cy="1910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16">
              <a:extLst>
                <a:ext uri="{FF2B5EF4-FFF2-40B4-BE49-F238E27FC236}">
                  <a16:creationId xmlns:a16="http://schemas.microsoft.com/office/drawing/2014/main" id="{827B4C76-58A4-78AC-6206-468743A150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14671" y="3770829"/>
              <a:ext cx="2705102" cy="2076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 Box 17">
                  <a:extLst>
                    <a:ext uri="{FF2B5EF4-FFF2-40B4-BE49-F238E27FC236}">
                      <a16:creationId xmlns:a16="http://schemas.microsoft.com/office/drawing/2014/main" id="{AC3E4EA3-ECEC-BF8A-E724-355CF3989F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031201" y="3071678"/>
                  <a:ext cx="1925527" cy="7125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Arial" charset="0"/>
                    <a:buChar char="•"/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Arial" charset="0"/>
                    <a:buChar char="•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 dirty="0"/>
                    <a:t> Inverse supply curve:</a:t>
                  </a:r>
                </a:p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140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50</m:t>
                            </m:r>
                          </m:den>
                        </m:f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US" altLang="en-US" sz="1400" dirty="0"/>
                </a:p>
              </p:txBody>
            </p:sp>
          </mc:Choice>
          <mc:Fallback xmlns="">
            <p:sp>
              <p:nvSpPr>
                <p:cNvPr id="46" name="Text Box 17">
                  <a:extLst>
                    <a:ext uri="{FF2B5EF4-FFF2-40B4-BE49-F238E27FC236}">
                      <a16:creationId xmlns:a16="http://schemas.microsoft.com/office/drawing/2014/main" id="{AC3E4EA3-ECEC-BF8A-E724-355CF3989F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031201" y="3071678"/>
                  <a:ext cx="1925527" cy="712503"/>
                </a:xfrm>
                <a:prstGeom prst="rect">
                  <a:avLst/>
                </a:prstGeom>
                <a:blipFill>
                  <a:blip r:embed="rId3"/>
                  <a:stretch>
                    <a:fillRect t="-1709" b="-85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Line 19">
              <a:extLst>
                <a:ext uri="{FF2B5EF4-FFF2-40B4-BE49-F238E27FC236}">
                  <a16:creationId xmlns:a16="http://schemas.microsoft.com/office/drawing/2014/main" id="{7B0E1F81-C5F7-6144-9497-AAC9190BE6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3710" y="4638965"/>
              <a:ext cx="5486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20">
              <a:extLst>
                <a:ext uri="{FF2B5EF4-FFF2-40B4-BE49-F238E27FC236}">
                  <a16:creationId xmlns:a16="http://schemas.microsoft.com/office/drawing/2014/main" id="{503775CE-0C09-6101-DF8A-E4B381DB5D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710" y="4638965"/>
              <a:ext cx="2667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Box 21">
              <a:extLst>
                <a:ext uri="{FF2B5EF4-FFF2-40B4-BE49-F238E27FC236}">
                  <a16:creationId xmlns:a16="http://schemas.microsoft.com/office/drawing/2014/main" id="{0F77AA58-1736-DD79-D5B3-84697F3E6E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4335" y="4672529"/>
              <a:ext cx="544513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MR</a:t>
              </a:r>
            </a:p>
          </p:txBody>
        </p:sp>
        <p:sp>
          <p:nvSpPr>
            <p:cNvPr id="52" name="Text Box 24">
              <a:extLst>
                <a:ext uri="{FF2B5EF4-FFF2-40B4-BE49-F238E27FC236}">
                  <a16:creationId xmlns:a16="http://schemas.microsoft.com/office/drawing/2014/main" id="{D3988512-822E-EC39-AC3E-C7B055D43D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1843" y="3679574"/>
              <a:ext cx="865943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b="0" dirty="0"/>
                <a:t>MC = 2q</a:t>
              </a:r>
              <a:endParaRPr lang="en-US" altLang="en-US" sz="1400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EC9A7A2-FD67-6F74-8C0A-9EF3FB7D9AD6}"/>
                </a:ext>
              </a:extLst>
            </p:cNvPr>
            <p:cNvSpPr/>
            <p:nvPr/>
          </p:nvSpPr>
          <p:spPr>
            <a:xfrm>
              <a:off x="1990510" y="4615379"/>
              <a:ext cx="65088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54" name="TextBox 4">
              <a:extLst>
                <a:ext uri="{FF2B5EF4-FFF2-40B4-BE49-F238E27FC236}">
                  <a16:creationId xmlns:a16="http://schemas.microsoft.com/office/drawing/2014/main" id="{6B513504-DBC6-EC4A-0136-EA311CC942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4487347"/>
              <a:ext cx="6014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P=6</a:t>
              </a:r>
            </a:p>
          </p:txBody>
        </p:sp>
        <p:sp>
          <p:nvSpPr>
            <p:cNvPr id="55" name="Rectangle 28">
              <a:extLst>
                <a:ext uri="{FF2B5EF4-FFF2-40B4-BE49-F238E27FC236}">
                  <a16:creationId xmlns:a16="http://schemas.microsoft.com/office/drawing/2014/main" id="{2F9BD4EE-B3CB-B240-A463-B0941387F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0270" y="5891559"/>
              <a:ext cx="66556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q*=3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B582AC7-8790-A43B-5620-B15C010D0869}"/>
                </a:ext>
              </a:extLst>
            </p:cNvPr>
            <p:cNvCxnSpPr/>
            <p:nvPr/>
          </p:nvCxnSpPr>
          <p:spPr>
            <a:xfrm>
              <a:off x="2010695" y="4672529"/>
              <a:ext cx="0" cy="12001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Line 19">
              <a:extLst>
                <a:ext uri="{FF2B5EF4-FFF2-40B4-BE49-F238E27FC236}">
                  <a16:creationId xmlns:a16="http://schemas.microsoft.com/office/drawing/2014/main" id="{EB9F4DFA-1B26-EE90-C6E6-D9804F3DB5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87685" y="4648200"/>
              <a:ext cx="16224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19">
              <a:extLst>
                <a:ext uri="{FF2B5EF4-FFF2-40B4-BE49-F238E27FC236}">
                  <a16:creationId xmlns:a16="http://schemas.microsoft.com/office/drawing/2014/main" id="{ADAFB731-79F0-CB0C-D3D2-3DC5ACE46F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05929" y="4648200"/>
              <a:ext cx="0" cy="12684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2B07D54-93CC-DDE4-A6C5-DE558D27F063}"/>
                </a:ext>
              </a:extLst>
            </p:cNvPr>
            <p:cNvCxnSpPr>
              <a:stCxn id="35" idx="0"/>
            </p:cNvCxnSpPr>
            <p:nvPr/>
          </p:nvCxnSpPr>
          <p:spPr>
            <a:xfrm flipV="1">
              <a:off x="923710" y="4071660"/>
              <a:ext cx="1604963" cy="18010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tangle 28">
              <a:extLst>
                <a:ext uri="{FF2B5EF4-FFF2-40B4-BE49-F238E27FC236}">
                  <a16:creationId xmlns:a16="http://schemas.microsoft.com/office/drawing/2014/main" id="{92A45BDB-92EB-188D-0BF2-6EE2C6769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5095" y="5955268"/>
              <a:ext cx="88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Q=300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 Box 17">
                  <a:extLst>
                    <a:ext uri="{FF2B5EF4-FFF2-40B4-BE49-F238E27FC236}">
                      <a16:creationId xmlns:a16="http://schemas.microsoft.com/office/drawing/2014/main" id="{C6BA5B1E-8F18-640E-98FC-623790AC0D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06440" y="4962305"/>
                  <a:ext cx="2057247" cy="7125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Arial" charset="0"/>
                    <a:buChar char="•"/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Arial" charset="0"/>
                    <a:buChar char="•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 dirty="0"/>
                    <a:t> Inverse demand curve:</a:t>
                  </a:r>
                </a:p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1400">
                            <a:latin typeface="Cambria Math" panose="02040503050406030204" pitchFamily="18" charset="0"/>
                          </a:rPr>
                          <m:t>=12 −</m:t>
                        </m:r>
                        <m:f>
                          <m:f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50</m:t>
                            </m:r>
                          </m:den>
                        </m:f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oMath>
                    </m:oMathPara>
                  </a14:m>
                  <a:endParaRPr lang="en-US" altLang="en-US" sz="1400" dirty="0"/>
                </a:p>
              </p:txBody>
            </p:sp>
          </mc:Choice>
          <mc:Fallback xmlns="">
            <p:sp>
              <p:nvSpPr>
                <p:cNvPr id="64" name="Text Box 17">
                  <a:extLst>
                    <a:ext uri="{FF2B5EF4-FFF2-40B4-BE49-F238E27FC236}">
                      <a16:creationId xmlns:a16="http://schemas.microsoft.com/office/drawing/2014/main" id="{C6BA5B1E-8F18-640E-98FC-623790AC0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06440" y="4962305"/>
                  <a:ext cx="2057247" cy="712503"/>
                </a:xfrm>
                <a:prstGeom prst="rect">
                  <a:avLst/>
                </a:prstGeom>
                <a:blipFill>
                  <a:blip r:embed="rId4"/>
                  <a:stretch>
                    <a:fillRect t="-1709" b="-85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 Box 17">
                  <a:extLst>
                    <a:ext uri="{FF2B5EF4-FFF2-40B4-BE49-F238E27FC236}">
                      <a16:creationId xmlns:a16="http://schemas.microsoft.com/office/drawing/2014/main" id="{AC3E4EA3-ECEC-BF8A-E724-355CF3989F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06440" y="2491384"/>
                  <a:ext cx="1885453" cy="7386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Arial" charset="0"/>
                    <a:buChar char="•"/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Arial" charset="0"/>
                    <a:buChar char="•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 dirty="0"/>
                    <a:t> Market supply curve:</a:t>
                  </a:r>
                </a:p>
                <a:p>
                  <a:pPr eaLnBrk="1" hangingPunct="1">
                    <a:spcBef>
                      <a:spcPct val="0"/>
                    </a:spcBef>
                    <a:buClrTx/>
                    <a:buSz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=50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1400" dirty="0"/>
                </a:p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400" dirty="0"/>
                </a:p>
              </p:txBody>
            </p:sp>
          </mc:Choice>
          <mc:Fallback xmlns="">
            <p:sp>
              <p:nvSpPr>
                <p:cNvPr id="33" name="Text Box 17">
                  <a:extLst>
                    <a:ext uri="{FF2B5EF4-FFF2-40B4-BE49-F238E27FC236}">
                      <a16:creationId xmlns:a16="http://schemas.microsoft.com/office/drawing/2014/main" id="{AC3E4EA3-ECEC-BF8A-E724-355CF3989F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06440" y="2491384"/>
                  <a:ext cx="1885453" cy="738664"/>
                </a:xfrm>
                <a:prstGeom prst="rect">
                  <a:avLst/>
                </a:prstGeom>
                <a:blipFill>
                  <a:blip r:embed="rId5"/>
                  <a:stretch>
                    <a:fillRect t="-165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 Box 17">
                  <a:extLst>
                    <a:ext uri="{FF2B5EF4-FFF2-40B4-BE49-F238E27FC236}">
                      <a16:creationId xmlns:a16="http://schemas.microsoft.com/office/drawing/2014/main" id="{C6BA5B1E-8F18-640E-98FC-623790AC0D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071475" y="4297227"/>
                  <a:ext cx="2057247" cy="523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Arial" charset="0"/>
                    <a:buChar char="•"/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Arial" charset="0"/>
                    <a:buChar char="•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 dirty="0"/>
                    <a:t> Market demand curve:</a:t>
                  </a:r>
                </a:p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=600 −50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altLang="en-US" sz="1400" dirty="0"/>
                </a:p>
              </p:txBody>
            </p:sp>
          </mc:Choice>
          <mc:Fallback xmlns="">
            <p:sp>
              <p:nvSpPr>
                <p:cNvPr id="47" name="Text Box 17">
                  <a:extLst>
                    <a:ext uri="{FF2B5EF4-FFF2-40B4-BE49-F238E27FC236}">
                      <a16:creationId xmlns:a16="http://schemas.microsoft.com/office/drawing/2014/main" id="{C6BA5B1E-8F18-640E-98FC-623790AC0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071475" y="4297227"/>
                  <a:ext cx="2057247" cy="523220"/>
                </a:xfrm>
                <a:prstGeom prst="rect">
                  <a:avLst/>
                </a:prstGeom>
                <a:blipFill>
                  <a:blip r:embed="rId6"/>
                  <a:stretch>
                    <a:fillRect t="-2326" b="-348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TextBox 4">
              <a:extLst>
                <a:ext uri="{FF2B5EF4-FFF2-40B4-BE49-F238E27FC236}">
                  <a16:creationId xmlns:a16="http://schemas.microsoft.com/office/drawing/2014/main" id="{6B513504-DBC6-EC4A-0136-EA311CC942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7814" y="4472216"/>
              <a:ext cx="601447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P=6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7599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C216-F4DA-733D-0108-CCCB202CC0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dirty="0"/>
              <a:t>III. Perfect competition in the long-run (Perloff 8.4)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55232-458B-CB87-9CB3-4AB6073AA5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33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E2632-3F03-ECA0-93FC-C28BACC1E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 our example, do the firms earn economic profits?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FEAFAA-49D0-E6CF-6E83-6A5E67D07C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our example, each firm produced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400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400" b="0" dirty="0">
                    <a:latin typeface="Cambria Math" panose="02040503050406030204" pitchFamily="18" charset="0"/>
                  </a:rPr>
                  <a:t>sold at </a:t>
                </a:r>
                <a:r>
                  <a:rPr lang="en-US" i="1" dirty="0">
                    <a:latin typeface="Cambria Math" panose="02040503050406030204" pitchFamily="18" charset="0"/>
                  </a:rPr>
                  <a:t>P = 6.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9+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=18−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9+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FEAFAA-49D0-E6CF-6E83-6A5E67D07C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7CEA8-D16E-1012-3E0A-2A9C86B8F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3A87A-E129-19F5-7D6F-7E815B614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2ACDD-D908-EAEF-8CF0-AB21AC7BB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0F6B9CF-9075-F19E-CCD7-B9608545878E}"/>
              </a:ext>
            </a:extLst>
          </p:cNvPr>
          <p:cNvGrpSpPr/>
          <p:nvPr/>
        </p:nvGrpSpPr>
        <p:grpSpPr>
          <a:xfrm>
            <a:off x="457200" y="2667000"/>
            <a:ext cx="8607112" cy="3810000"/>
            <a:chOff x="152400" y="2971800"/>
            <a:chExt cx="8607112" cy="3810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76461F7-2BBC-E475-0D31-D35CDEF1F484}"/>
                </a:ext>
              </a:extLst>
            </p:cNvPr>
            <p:cNvSpPr/>
            <p:nvPr/>
          </p:nvSpPr>
          <p:spPr>
            <a:xfrm>
              <a:off x="152400" y="2971800"/>
              <a:ext cx="8607112" cy="381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EA62DE2E-04F9-0EAA-0D57-70BD01B7CE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3398" y="3662879"/>
              <a:ext cx="0" cy="2514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E7DE66F9-0F21-3108-40E1-06CC19AAB9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3398" y="6177479"/>
              <a:ext cx="274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AA5E4157-CF59-0266-71E3-E092D121D4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198" y="3815279"/>
              <a:ext cx="3365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P</a:t>
              </a: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2C1C1FFB-692C-7215-AC93-02927AF8AB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5598" y="6253679"/>
              <a:ext cx="32573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q</a:t>
              </a: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2F7A6ECA-5A6B-E5EE-C110-1B3CE40C50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4837" y="3509416"/>
              <a:ext cx="4761" cy="266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1103D068-F973-B9BB-4C28-F0594CD148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9598" y="6177479"/>
              <a:ext cx="274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F8AE0E2B-01C4-5F33-BB42-9AD380235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98" y="3580329"/>
              <a:ext cx="336550" cy="365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P</a:t>
              </a:r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B5009A94-50A7-577D-891E-F5AEDE2B5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51798" y="6253679"/>
              <a:ext cx="3619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Q</a:t>
              </a: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F6B8E09E-33AD-F6B7-41B6-8C8967DE28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0598" y="3281879"/>
              <a:ext cx="18097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u="sng" dirty="0"/>
                <a:t>Individual Firm</a:t>
              </a:r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6B19CA0A-B39A-BCE9-996F-B77931A58A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8907" y="3292249"/>
              <a:ext cx="92845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u="sng" dirty="0"/>
                <a:t>Market</a:t>
              </a:r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B18B47B9-E6C8-4D68-05A8-0D49BAAF0F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7061" y="3732730"/>
              <a:ext cx="2492376" cy="1910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12750691-BB42-FB5D-3AB5-30EA7E769B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4359" y="4075629"/>
              <a:ext cx="2705102" cy="2076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17A51867-6843-3298-F3A1-C7F2D5331C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3398" y="4958279"/>
              <a:ext cx="5486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2D3D6CFA-3B75-D340-6B30-2FBE9F376D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3398" y="4958279"/>
              <a:ext cx="2667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041D214A-5FED-CE8A-D51E-E5950FEB2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4023" y="4977329"/>
              <a:ext cx="544513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MR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16817E1-04DA-39FC-C34E-672AD05BE9DC}"/>
                </a:ext>
              </a:extLst>
            </p:cNvPr>
            <p:cNvSpPr/>
            <p:nvPr/>
          </p:nvSpPr>
          <p:spPr>
            <a:xfrm>
              <a:off x="2070198" y="4920179"/>
              <a:ext cx="65088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55C34031-1A02-C332-F45C-F408C3E966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488" y="4792147"/>
              <a:ext cx="6014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P=6</a:t>
              </a:r>
            </a:p>
          </p:txBody>
        </p:sp>
        <p:sp>
          <p:nvSpPr>
            <p:cNvPr id="26" name="Rectangle 28">
              <a:extLst>
                <a:ext uri="{FF2B5EF4-FFF2-40B4-BE49-F238E27FC236}">
                  <a16:creationId xmlns:a16="http://schemas.microsoft.com/office/drawing/2014/main" id="{FA1ED782-1857-50E3-48EA-8C8F45BF8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9958" y="6196359"/>
              <a:ext cx="66556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q*=3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F46F684-B403-7C25-0B71-AF6A71979A74}"/>
                </a:ext>
              </a:extLst>
            </p:cNvPr>
            <p:cNvCxnSpPr/>
            <p:nvPr/>
          </p:nvCxnSpPr>
          <p:spPr>
            <a:xfrm>
              <a:off x="2100942" y="4977329"/>
              <a:ext cx="0" cy="12001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Line 19">
              <a:extLst>
                <a:ext uri="{FF2B5EF4-FFF2-40B4-BE49-F238E27FC236}">
                  <a16:creationId xmlns:a16="http://schemas.microsoft.com/office/drawing/2014/main" id="{199865D7-ADA1-2442-E05A-DCD5E6AE49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7373" y="4958279"/>
              <a:ext cx="16224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9">
              <a:extLst>
                <a:ext uri="{FF2B5EF4-FFF2-40B4-BE49-F238E27FC236}">
                  <a16:creationId xmlns:a16="http://schemas.microsoft.com/office/drawing/2014/main" id="{F57ED633-1ED9-88B6-EAC7-78CCF63FC5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71103" y="4948754"/>
              <a:ext cx="0" cy="12684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E76564B-9D36-E4C5-8681-C6BEFAF7FFDE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1003398" y="3999429"/>
              <a:ext cx="1964531" cy="21780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EED500AC-8659-CF48-0C58-191BCFE42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4783" y="6260068"/>
              <a:ext cx="88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Q=300</a:t>
              </a:r>
            </a:p>
          </p:txBody>
        </p:sp>
        <p:sp>
          <p:nvSpPr>
            <p:cNvPr id="32" name="Text Box 17">
              <a:extLst>
                <a:ext uri="{FF2B5EF4-FFF2-40B4-BE49-F238E27FC236}">
                  <a16:creationId xmlns:a16="http://schemas.microsoft.com/office/drawing/2014/main" id="{64C8F6D7-D385-D7A5-531E-3CA8C2DC32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0378" y="5590192"/>
              <a:ext cx="50053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D</a:t>
              </a:r>
              <a:endParaRPr lang="en-US" altLang="en-US" sz="1400" dirty="0"/>
            </a:p>
          </p:txBody>
        </p:sp>
        <p:sp>
          <p:nvSpPr>
            <p:cNvPr id="33" name="Text Box 17">
              <a:extLst>
                <a:ext uri="{FF2B5EF4-FFF2-40B4-BE49-F238E27FC236}">
                  <a16:creationId xmlns:a16="http://schemas.microsoft.com/office/drawing/2014/main" id="{8C615E3E-3198-C8AC-DB6B-5E86BC0A8B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2869" y="3833010"/>
              <a:ext cx="50053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S</a:t>
              </a:r>
              <a:endParaRPr lang="en-US" altLang="en-US" sz="1400" dirty="0"/>
            </a:p>
          </p:txBody>
        </p:sp>
        <p:sp>
          <p:nvSpPr>
            <p:cNvPr id="35" name="Text Box 21">
              <a:extLst>
                <a:ext uri="{FF2B5EF4-FFF2-40B4-BE49-F238E27FC236}">
                  <a16:creationId xmlns:a16="http://schemas.microsoft.com/office/drawing/2014/main" id="{09CA3224-60F6-C521-43D4-20741FD7B5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912" y="3743555"/>
              <a:ext cx="54373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MC</a:t>
              </a: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9B635B8-011B-3AFF-E58A-371946399140}"/>
                </a:ext>
              </a:extLst>
            </p:cNvPr>
            <p:cNvSpPr/>
            <p:nvPr/>
          </p:nvSpPr>
          <p:spPr>
            <a:xfrm>
              <a:off x="1482908" y="4200109"/>
              <a:ext cx="2069675" cy="753675"/>
            </a:xfrm>
            <a:custGeom>
              <a:avLst/>
              <a:gdLst>
                <a:gd name="connsiteX0" fmla="*/ 0 w 2069675"/>
                <a:gd name="connsiteY0" fmla="*/ 0 h 753675"/>
                <a:gd name="connsiteX1" fmla="*/ 591671 w 2069675"/>
                <a:gd name="connsiteY1" fmla="*/ 753035 h 753675"/>
                <a:gd name="connsiteX2" fmla="*/ 1893346 w 2069675"/>
                <a:gd name="connsiteY2" fmla="*/ 129091 h 753675"/>
                <a:gd name="connsiteX3" fmla="*/ 2022438 w 2069675"/>
                <a:gd name="connsiteY3" fmla="*/ 43030 h 75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9675" h="753675">
                  <a:moveTo>
                    <a:pt x="0" y="0"/>
                  </a:moveTo>
                  <a:cubicBezTo>
                    <a:pt x="138056" y="365760"/>
                    <a:pt x="276113" y="731520"/>
                    <a:pt x="591671" y="753035"/>
                  </a:cubicBezTo>
                  <a:cubicBezTo>
                    <a:pt x="907229" y="774550"/>
                    <a:pt x="1654885" y="247425"/>
                    <a:pt x="1893346" y="129091"/>
                  </a:cubicBezTo>
                  <a:cubicBezTo>
                    <a:pt x="2131807" y="10757"/>
                    <a:pt x="2077122" y="26893"/>
                    <a:pt x="2022438" y="4303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 Box 21">
              <a:extLst>
                <a:ext uri="{FF2B5EF4-FFF2-40B4-BE49-F238E27FC236}">
                  <a16:creationId xmlns:a16="http://schemas.microsoft.com/office/drawing/2014/main" id="{09A7FABD-EC90-820F-E45F-BC0BB6EA61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9363" y="3836932"/>
              <a:ext cx="126412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AC = TC/q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1016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D4D38-C67B-C49F-A66F-AC126CE1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 profits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2F0D7-09D4-8887-A558-04D810FA0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example above, firms earn zero </a:t>
            </a:r>
            <a:r>
              <a:rPr lang="en-US" u="sng" dirty="0"/>
              <a:t>economic profits</a:t>
            </a:r>
            <a:r>
              <a:rPr lang="en-US" dirty="0"/>
              <a:t>.</a:t>
            </a:r>
          </a:p>
          <a:p>
            <a:pPr lvl="8"/>
            <a:endParaRPr lang="en-US" dirty="0"/>
          </a:p>
          <a:p>
            <a:r>
              <a:rPr lang="en-US" dirty="0"/>
              <a:t>What does this mean? </a:t>
            </a:r>
          </a:p>
          <a:p>
            <a:pPr lvl="8"/>
            <a:endParaRPr lang="en-US" dirty="0"/>
          </a:p>
          <a:p>
            <a:pPr lvl="1"/>
            <a:r>
              <a:rPr lang="en-US" dirty="0"/>
              <a:t>Economic profits include the opportunity cost of capital.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If a firm earns zero economic profits, their return in this industry is as good as the return they could receive from an equally risky industry.  </a:t>
            </a:r>
          </a:p>
          <a:p>
            <a:pPr lvl="8"/>
            <a:endParaRPr lang="en-US" dirty="0"/>
          </a:p>
          <a:p>
            <a:pPr lvl="1"/>
            <a:r>
              <a:rPr lang="en-US" dirty="0"/>
              <a:t>Consequently, firms do not want to enter nor exit the market.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059B1-92EB-3123-F15E-FBB748646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E890E-46ED-816B-931A-84224BE3A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5EEE2-2699-6568-C5BB-D473888D7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924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50D04-29D6-5727-1B1A-052019CB2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Can firms ever earn economic profits?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7934B-E725-B8D1-E503-8C28C5BFD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</a:t>
            </a:r>
            <a:r>
              <a:rPr lang="en-US" u="sng" dirty="0"/>
              <a:t>short-run</a:t>
            </a:r>
            <a:r>
              <a:rPr lang="en-US" dirty="0"/>
              <a:t>, firms can change quantities, but can’t enter or exit the market.</a:t>
            </a:r>
          </a:p>
          <a:p>
            <a:pPr lvl="8"/>
            <a:endParaRPr lang="en-US" dirty="0"/>
          </a:p>
          <a:p>
            <a:pPr lvl="1"/>
            <a:r>
              <a:rPr lang="en-US" dirty="0"/>
              <a:t>Thus, they can make short-run economic profits or losses.</a:t>
            </a:r>
          </a:p>
          <a:p>
            <a:pPr lvl="8"/>
            <a:endParaRPr lang="en-US" dirty="0"/>
          </a:p>
          <a:p>
            <a:r>
              <a:rPr lang="en-US" dirty="0"/>
              <a:t>But, in a competitive market in the </a:t>
            </a:r>
            <a:r>
              <a:rPr lang="en-US" u="sng" dirty="0"/>
              <a:t>long-run</a:t>
            </a:r>
            <a:r>
              <a:rPr lang="en-US" dirty="0"/>
              <a:t>, firms can freely entry and exit the market.</a:t>
            </a:r>
          </a:p>
          <a:p>
            <a:pPr lvl="8"/>
            <a:endParaRPr lang="en-US" u="sng" dirty="0"/>
          </a:p>
          <a:p>
            <a:pPr lvl="1"/>
            <a:r>
              <a:rPr lang="en-US" dirty="0"/>
              <a:t>Firms will entry if the are economic profits and exit if there are economic losses.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Entry (exit) will shift the supply curve out (in) until profits are zero.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2299C-8E93-D853-736C-49E2DA355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98FB5-D9FD-2EF3-EA6A-77F75900F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78BA6-0E48-1018-FF60-FF3F762D0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375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1E0FF-1077-2637-B37D-43BBFEFD4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with an inward demand shock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325A4-0186-16B7-3DCB-DA5364BCC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5637B-08A5-EAF1-EE69-298DD61F5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3B460-63D3-FC5F-4991-C194D1271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843CC-EA4A-2110-D6CA-7B50FA708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sz="2000" dirty="0"/>
              <a:t>Consider restaurants at the start of COVID, earning zero profits.</a:t>
            </a:r>
          </a:p>
          <a:p>
            <a:pPr marL="731837" lvl="1" indent="-457200">
              <a:buFont typeface="+mj-lt"/>
              <a:buAutoNum type="arabicPeriod"/>
            </a:pPr>
            <a:r>
              <a:rPr lang="en-US" sz="1800" dirty="0"/>
              <a:t>COVID shifts demand inward.</a:t>
            </a:r>
          </a:p>
          <a:p>
            <a:pPr marL="731837" lvl="1" indent="-457200">
              <a:buFont typeface="+mj-lt"/>
              <a:buAutoNum type="arabicPeriod"/>
            </a:pPr>
            <a:r>
              <a:rPr lang="en-US" sz="1800" dirty="0"/>
              <a:t>Price falls, firms bear economic losses in short-run.</a:t>
            </a:r>
          </a:p>
          <a:p>
            <a:pPr marL="731837" lvl="1" indent="-457200">
              <a:buFont typeface="+mj-lt"/>
              <a:buAutoNum type="arabicPeriod"/>
            </a:pPr>
            <a:r>
              <a:rPr lang="en-US" sz="1800" dirty="0"/>
              <a:t>Firms exit, supply shifts inward until economic profits are zero.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1BCB86D-F339-8737-BFD8-EC4FA637C3D4}"/>
              </a:ext>
            </a:extLst>
          </p:cNvPr>
          <p:cNvGrpSpPr/>
          <p:nvPr/>
        </p:nvGrpSpPr>
        <p:grpSpPr>
          <a:xfrm>
            <a:off x="268444" y="2971800"/>
            <a:ext cx="8607112" cy="3810000"/>
            <a:chOff x="152400" y="2971800"/>
            <a:chExt cx="8607112" cy="3810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649D5ED-CE8C-7E62-3062-E28D86172EFC}"/>
                </a:ext>
              </a:extLst>
            </p:cNvPr>
            <p:cNvSpPr/>
            <p:nvPr/>
          </p:nvSpPr>
          <p:spPr>
            <a:xfrm>
              <a:off x="152400" y="2971800"/>
              <a:ext cx="8607112" cy="381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Line 4">
              <a:extLst>
                <a:ext uri="{FF2B5EF4-FFF2-40B4-BE49-F238E27FC236}">
                  <a16:creationId xmlns:a16="http://schemas.microsoft.com/office/drawing/2014/main" id="{CF4CE4FA-AD29-07A3-E8A1-D654094789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3398" y="3662879"/>
              <a:ext cx="0" cy="2514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5">
              <a:extLst>
                <a:ext uri="{FF2B5EF4-FFF2-40B4-BE49-F238E27FC236}">
                  <a16:creationId xmlns:a16="http://schemas.microsoft.com/office/drawing/2014/main" id="{EA6AA433-1D3A-5D48-C003-93109C0B0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3398" y="6177479"/>
              <a:ext cx="274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Box 6">
              <a:extLst>
                <a:ext uri="{FF2B5EF4-FFF2-40B4-BE49-F238E27FC236}">
                  <a16:creationId xmlns:a16="http://schemas.microsoft.com/office/drawing/2014/main" id="{B2EC5826-2247-9ED1-09E5-AE97C8D31C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198" y="3815279"/>
              <a:ext cx="3365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P</a:t>
              </a:r>
            </a:p>
          </p:txBody>
        </p:sp>
        <p:sp>
          <p:nvSpPr>
            <p:cNvPr id="51" name="Text Box 7">
              <a:extLst>
                <a:ext uri="{FF2B5EF4-FFF2-40B4-BE49-F238E27FC236}">
                  <a16:creationId xmlns:a16="http://schemas.microsoft.com/office/drawing/2014/main" id="{85FFF40C-1D9C-DFF7-24F3-A6E3BDFF0A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5598" y="6253679"/>
              <a:ext cx="32573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q</a:t>
              </a:r>
            </a:p>
          </p:txBody>
        </p:sp>
        <p:sp>
          <p:nvSpPr>
            <p:cNvPr id="52" name="Line 9">
              <a:extLst>
                <a:ext uri="{FF2B5EF4-FFF2-40B4-BE49-F238E27FC236}">
                  <a16:creationId xmlns:a16="http://schemas.microsoft.com/office/drawing/2014/main" id="{288E6D19-EB84-BA1D-F3D4-95FEBB42A1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4837" y="3509416"/>
              <a:ext cx="4761" cy="266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10">
              <a:extLst>
                <a:ext uri="{FF2B5EF4-FFF2-40B4-BE49-F238E27FC236}">
                  <a16:creationId xmlns:a16="http://schemas.microsoft.com/office/drawing/2014/main" id="{3603AA5D-0E94-795A-83DC-B27F493B89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9598" y="6177479"/>
              <a:ext cx="274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Box 11">
              <a:extLst>
                <a:ext uri="{FF2B5EF4-FFF2-40B4-BE49-F238E27FC236}">
                  <a16:creationId xmlns:a16="http://schemas.microsoft.com/office/drawing/2014/main" id="{488499AC-399B-E81D-7D94-567540C558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98" y="3580329"/>
              <a:ext cx="336550" cy="365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P</a:t>
              </a:r>
            </a:p>
          </p:txBody>
        </p:sp>
        <p:sp>
          <p:nvSpPr>
            <p:cNvPr id="55" name="Text Box 12">
              <a:extLst>
                <a:ext uri="{FF2B5EF4-FFF2-40B4-BE49-F238E27FC236}">
                  <a16:creationId xmlns:a16="http://schemas.microsoft.com/office/drawing/2014/main" id="{DB3D8E5E-127B-79BD-F266-DA8E78310A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51798" y="6253679"/>
              <a:ext cx="3619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Q</a:t>
              </a:r>
            </a:p>
          </p:txBody>
        </p:sp>
        <p:sp>
          <p:nvSpPr>
            <p:cNvPr id="56" name="Text Box 13">
              <a:extLst>
                <a:ext uri="{FF2B5EF4-FFF2-40B4-BE49-F238E27FC236}">
                  <a16:creationId xmlns:a16="http://schemas.microsoft.com/office/drawing/2014/main" id="{35780A04-CBC1-5DBD-2554-33D54824CF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0598" y="3281879"/>
              <a:ext cx="18097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u="sng" dirty="0"/>
                <a:t>Individual Firm</a:t>
              </a:r>
            </a:p>
          </p:txBody>
        </p:sp>
        <p:sp>
          <p:nvSpPr>
            <p:cNvPr id="57" name="Text Box 14">
              <a:extLst>
                <a:ext uri="{FF2B5EF4-FFF2-40B4-BE49-F238E27FC236}">
                  <a16:creationId xmlns:a16="http://schemas.microsoft.com/office/drawing/2014/main" id="{C1C89F5B-6804-503A-D9BD-2737E1EBEA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8907" y="3292249"/>
              <a:ext cx="92845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u="sng" dirty="0"/>
                <a:t>Market</a:t>
              </a:r>
            </a:p>
          </p:txBody>
        </p:sp>
        <p:sp>
          <p:nvSpPr>
            <p:cNvPr id="65" name="Line 15">
              <a:extLst>
                <a:ext uri="{FF2B5EF4-FFF2-40B4-BE49-F238E27FC236}">
                  <a16:creationId xmlns:a16="http://schemas.microsoft.com/office/drawing/2014/main" id="{6B9263A8-41BC-EE7E-15C6-9F7B98F27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7061" y="3732730"/>
              <a:ext cx="2492376" cy="1910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Line 16">
              <a:extLst>
                <a:ext uri="{FF2B5EF4-FFF2-40B4-BE49-F238E27FC236}">
                  <a16:creationId xmlns:a16="http://schemas.microsoft.com/office/drawing/2014/main" id="{106249F8-9BC5-98F3-89A5-6197130EA3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4359" y="4075629"/>
              <a:ext cx="2705102" cy="2076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19">
              <a:extLst>
                <a:ext uri="{FF2B5EF4-FFF2-40B4-BE49-F238E27FC236}">
                  <a16:creationId xmlns:a16="http://schemas.microsoft.com/office/drawing/2014/main" id="{21B10950-6E11-8257-C9A6-4AA52A720B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3398" y="4958279"/>
              <a:ext cx="5486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Line 20">
              <a:extLst>
                <a:ext uri="{FF2B5EF4-FFF2-40B4-BE49-F238E27FC236}">
                  <a16:creationId xmlns:a16="http://schemas.microsoft.com/office/drawing/2014/main" id="{FFE7AFDB-1085-BCA5-A581-C0BF20812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3398" y="4958279"/>
              <a:ext cx="2667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 Box 21">
              <a:extLst>
                <a:ext uri="{FF2B5EF4-FFF2-40B4-BE49-F238E27FC236}">
                  <a16:creationId xmlns:a16="http://schemas.microsoft.com/office/drawing/2014/main" id="{DA4114EF-711F-715E-44B3-09A8035146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4023" y="4977329"/>
              <a:ext cx="544513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MR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1D2C3E8A-9C72-D7C4-F1D1-CE49EA90C2CD}"/>
                </a:ext>
              </a:extLst>
            </p:cNvPr>
            <p:cNvSpPr/>
            <p:nvPr/>
          </p:nvSpPr>
          <p:spPr>
            <a:xfrm>
              <a:off x="2070198" y="4920179"/>
              <a:ext cx="65088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71" name="TextBox 4">
              <a:extLst>
                <a:ext uri="{FF2B5EF4-FFF2-40B4-BE49-F238E27FC236}">
                  <a16:creationId xmlns:a16="http://schemas.microsoft.com/office/drawing/2014/main" id="{0568B676-757F-4259-6208-D3EEF8CC23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488" y="4792147"/>
              <a:ext cx="6014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P=6</a:t>
              </a:r>
            </a:p>
          </p:txBody>
        </p:sp>
        <p:sp>
          <p:nvSpPr>
            <p:cNvPr id="72" name="Rectangle 28">
              <a:extLst>
                <a:ext uri="{FF2B5EF4-FFF2-40B4-BE49-F238E27FC236}">
                  <a16:creationId xmlns:a16="http://schemas.microsoft.com/office/drawing/2014/main" id="{C1AFE4F2-5C1E-02E7-C687-44F4F5B7B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9958" y="6196359"/>
              <a:ext cx="66556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q*=3</a:t>
              </a: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6FC19CE-D3C5-11C3-6A65-920DB64890F0}"/>
                </a:ext>
              </a:extLst>
            </p:cNvPr>
            <p:cNvCxnSpPr/>
            <p:nvPr/>
          </p:nvCxnSpPr>
          <p:spPr>
            <a:xfrm>
              <a:off x="2100942" y="4977329"/>
              <a:ext cx="0" cy="12001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Line 19">
              <a:extLst>
                <a:ext uri="{FF2B5EF4-FFF2-40B4-BE49-F238E27FC236}">
                  <a16:creationId xmlns:a16="http://schemas.microsoft.com/office/drawing/2014/main" id="{8BFEAD5E-9D2A-3642-8059-8652776860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7373" y="4958279"/>
              <a:ext cx="16224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19">
              <a:extLst>
                <a:ext uri="{FF2B5EF4-FFF2-40B4-BE49-F238E27FC236}">
                  <a16:creationId xmlns:a16="http://schemas.microsoft.com/office/drawing/2014/main" id="{97F15946-B85A-47E0-2D30-4538C912F1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71103" y="4948754"/>
              <a:ext cx="0" cy="12684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C1876499-E054-531C-8C9D-4C7F2861E774}"/>
                </a:ext>
              </a:extLst>
            </p:cNvPr>
            <p:cNvCxnSpPr>
              <a:cxnSpLocks/>
              <a:stCxn id="48" idx="0"/>
            </p:cNvCxnSpPr>
            <p:nvPr/>
          </p:nvCxnSpPr>
          <p:spPr>
            <a:xfrm flipV="1">
              <a:off x="1003398" y="3999429"/>
              <a:ext cx="1964531" cy="21780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7D8E46C7-E91D-AB24-F6BF-3EF78F3CC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4783" y="6260068"/>
              <a:ext cx="88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Q=300</a:t>
              </a:r>
            </a:p>
          </p:txBody>
        </p:sp>
        <p:sp>
          <p:nvSpPr>
            <p:cNvPr id="78" name="Text Box 17">
              <a:extLst>
                <a:ext uri="{FF2B5EF4-FFF2-40B4-BE49-F238E27FC236}">
                  <a16:creationId xmlns:a16="http://schemas.microsoft.com/office/drawing/2014/main" id="{C9DF696B-03BF-CA2E-D93D-2CAF568093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0378" y="5590192"/>
              <a:ext cx="50053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D</a:t>
              </a:r>
              <a:endParaRPr lang="en-US" altLang="en-US" sz="1400" dirty="0"/>
            </a:p>
          </p:txBody>
        </p:sp>
        <p:sp>
          <p:nvSpPr>
            <p:cNvPr id="79" name="Text Box 17">
              <a:extLst>
                <a:ext uri="{FF2B5EF4-FFF2-40B4-BE49-F238E27FC236}">
                  <a16:creationId xmlns:a16="http://schemas.microsoft.com/office/drawing/2014/main" id="{6AD36905-724A-FC9E-EEDC-A8FD7A479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2869" y="3833010"/>
              <a:ext cx="50053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S</a:t>
              </a:r>
              <a:endParaRPr lang="en-US" altLang="en-US" sz="1400" dirty="0"/>
            </a:p>
          </p:txBody>
        </p:sp>
        <p:sp>
          <p:nvSpPr>
            <p:cNvPr id="80" name="Text Box 21">
              <a:extLst>
                <a:ext uri="{FF2B5EF4-FFF2-40B4-BE49-F238E27FC236}">
                  <a16:creationId xmlns:a16="http://schemas.microsoft.com/office/drawing/2014/main" id="{A13B8D16-50AA-7064-8F1C-8AF3DCBF65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912" y="3743555"/>
              <a:ext cx="54373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MC</a:t>
              </a: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ECBE66A-D41E-C8F1-5A7B-D31A6AD6397D}"/>
                </a:ext>
              </a:extLst>
            </p:cNvPr>
            <p:cNvSpPr/>
            <p:nvPr/>
          </p:nvSpPr>
          <p:spPr>
            <a:xfrm>
              <a:off x="1482908" y="4200109"/>
              <a:ext cx="2069675" cy="753675"/>
            </a:xfrm>
            <a:custGeom>
              <a:avLst/>
              <a:gdLst>
                <a:gd name="connsiteX0" fmla="*/ 0 w 2069675"/>
                <a:gd name="connsiteY0" fmla="*/ 0 h 753675"/>
                <a:gd name="connsiteX1" fmla="*/ 591671 w 2069675"/>
                <a:gd name="connsiteY1" fmla="*/ 753035 h 753675"/>
                <a:gd name="connsiteX2" fmla="*/ 1893346 w 2069675"/>
                <a:gd name="connsiteY2" fmla="*/ 129091 h 753675"/>
                <a:gd name="connsiteX3" fmla="*/ 2022438 w 2069675"/>
                <a:gd name="connsiteY3" fmla="*/ 43030 h 75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9675" h="753675">
                  <a:moveTo>
                    <a:pt x="0" y="0"/>
                  </a:moveTo>
                  <a:cubicBezTo>
                    <a:pt x="138056" y="365760"/>
                    <a:pt x="276113" y="731520"/>
                    <a:pt x="591671" y="753035"/>
                  </a:cubicBezTo>
                  <a:cubicBezTo>
                    <a:pt x="907229" y="774550"/>
                    <a:pt x="1654885" y="247425"/>
                    <a:pt x="1893346" y="129091"/>
                  </a:cubicBezTo>
                  <a:cubicBezTo>
                    <a:pt x="2131807" y="10757"/>
                    <a:pt x="2077122" y="26893"/>
                    <a:pt x="2022438" y="4303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Text Box 21">
              <a:extLst>
                <a:ext uri="{FF2B5EF4-FFF2-40B4-BE49-F238E27FC236}">
                  <a16:creationId xmlns:a16="http://schemas.microsoft.com/office/drawing/2014/main" id="{F430AB87-7BC8-C647-A09D-A22AF79AFC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9363" y="3836932"/>
              <a:ext cx="126412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AC = TC/q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285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C216-F4DA-733D-0108-CCCB202CC0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dirty="0"/>
              <a:t>IV. Perfect competition and welfare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55232-458B-CB87-9CB3-4AB6073AA5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4183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FAF55-3BA0-7442-B2C4-04D4C4622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Social Welfare and Perfect 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6C002-A00B-0735-FAF0-69F2045DA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Consumer surplus</a:t>
            </a:r>
            <a:r>
              <a:rPr lang="en-US" dirty="0"/>
              <a:t> is the amount, in dollars, that consumers benefit from the existence of the market.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Graphically, CS is the area below the inverse demand curve, but above price.</a:t>
            </a:r>
          </a:p>
          <a:p>
            <a:pPr lvl="1"/>
            <a:endParaRPr lang="en-US" dirty="0"/>
          </a:p>
          <a:p>
            <a:r>
              <a:rPr lang="en-US" u="sng" dirty="0"/>
              <a:t>Producer surplus</a:t>
            </a:r>
            <a:r>
              <a:rPr lang="en-US" dirty="0"/>
              <a:t> is the amount, in dollars, that producers benefit from the existence of the market.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Graphically, PS is the area above </a:t>
            </a:r>
            <a:r>
              <a:rPr lang="en-US"/>
              <a:t>the inverse supply </a:t>
            </a:r>
            <a:r>
              <a:rPr lang="en-US" dirty="0"/>
              <a:t>curve, but below price.</a:t>
            </a:r>
          </a:p>
          <a:p>
            <a:endParaRPr lang="en-US" dirty="0"/>
          </a:p>
          <a:p>
            <a:endParaRPr lang="en-US" u="sng" dirty="0"/>
          </a:p>
          <a:p>
            <a:endParaRPr lang="en-US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099DB-5431-769C-51A5-7B401ED6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B973C-5AF9-87A5-F9F1-C5F5686A4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8C2D4-005B-951B-31EA-4CC4CD6A1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47195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C7FF-A538-C714-1B63-D8E46263E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Consumer and Producer Surplus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4CB14-E1BD-ADCF-A7E3-EE6797E85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4192961" cy="4876800"/>
          </a:xfrm>
        </p:spPr>
        <p:txBody>
          <a:bodyPr/>
          <a:lstStyle/>
          <a:p>
            <a:r>
              <a:rPr lang="en-US" dirty="0"/>
              <a:t>In our example from class</a:t>
            </a:r>
          </a:p>
          <a:p>
            <a:endParaRPr lang="en-US" dirty="0"/>
          </a:p>
          <a:p>
            <a:r>
              <a:rPr lang="en-US" dirty="0"/>
              <a:t>Consumer surplus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Producer surplus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dirty="0"/>
              <a:t>Is there any deadweight loss in the diagram?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AC083-427A-E328-C5E6-B8F72525F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290A1-4CEC-1935-3F8A-102C65832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C0166-B44C-1DC3-5C0A-7DA19EE05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AE5BE24-5392-7059-EFE3-1746EB77E058}"/>
              </a:ext>
            </a:extLst>
          </p:cNvPr>
          <p:cNvGrpSpPr/>
          <p:nvPr/>
        </p:nvGrpSpPr>
        <p:grpSpPr>
          <a:xfrm>
            <a:off x="4908354" y="2373275"/>
            <a:ext cx="3794582" cy="3266595"/>
            <a:chOff x="4908354" y="2373275"/>
            <a:chExt cx="3794582" cy="3266595"/>
          </a:xfrm>
        </p:grpSpPr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C46219B1-8B01-3AB0-BA7E-D6AC040B7E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4373" y="2519886"/>
              <a:ext cx="4761" cy="266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A2792422-5278-1780-94A6-5484F429E0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9134" y="5187949"/>
              <a:ext cx="274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id="{58735339-BFF0-AC03-329E-D3FCD30E16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8354" y="2373275"/>
              <a:ext cx="336550" cy="365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P</a:t>
              </a:r>
            </a:p>
          </p:txBody>
        </p:sp>
        <p:sp>
          <p:nvSpPr>
            <p:cNvPr id="10" name="Text Box 12">
              <a:extLst>
                <a:ext uri="{FF2B5EF4-FFF2-40B4-BE49-F238E27FC236}">
                  <a16:creationId xmlns:a16="http://schemas.microsoft.com/office/drawing/2014/main" id="{683F8B48-02DD-D9FB-6760-4D4E1813D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01334" y="5264149"/>
              <a:ext cx="3619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Q</a:t>
              </a:r>
            </a:p>
          </p:txBody>
        </p:sp>
        <p:sp>
          <p:nvSpPr>
            <p:cNvPr id="12" name="Line 15">
              <a:extLst>
                <a:ext uri="{FF2B5EF4-FFF2-40B4-BE49-F238E27FC236}">
                  <a16:creationId xmlns:a16="http://schemas.microsoft.com/office/drawing/2014/main" id="{69B43710-66F7-AAC8-565C-564CE4ACE9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56597" y="2743200"/>
              <a:ext cx="2492376" cy="1910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6">
              <a:extLst>
                <a:ext uri="{FF2B5EF4-FFF2-40B4-BE49-F238E27FC236}">
                  <a16:creationId xmlns:a16="http://schemas.microsoft.com/office/drawing/2014/main" id="{7A072059-96CF-6FB6-A14D-821D5FA7BC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43895" y="3086099"/>
              <a:ext cx="2705102" cy="2076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9">
              <a:extLst>
                <a:ext uri="{FF2B5EF4-FFF2-40B4-BE49-F238E27FC236}">
                  <a16:creationId xmlns:a16="http://schemas.microsoft.com/office/drawing/2014/main" id="{D73BBDB5-7B06-9DDF-FE78-9969C43D77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16909" y="3968749"/>
              <a:ext cx="16224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9">
              <a:extLst>
                <a:ext uri="{FF2B5EF4-FFF2-40B4-BE49-F238E27FC236}">
                  <a16:creationId xmlns:a16="http://schemas.microsoft.com/office/drawing/2014/main" id="{E03B26C6-EAC1-127D-9E65-CD26795FF2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020639" y="3959224"/>
              <a:ext cx="0" cy="12684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A1356858-6C08-D520-74B8-BC3E622B1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34319" y="5270538"/>
              <a:ext cx="88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Q=300</a:t>
              </a: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F96D5C6A-33C2-FFD3-32E5-5165C6AC28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39914" y="4600662"/>
              <a:ext cx="50053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D</a:t>
              </a:r>
              <a:endParaRPr lang="en-US" altLang="en-US" sz="1400" dirty="0"/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09C1E77F-17C5-4F8F-0D6B-9D63A69BEE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2405" y="2843480"/>
              <a:ext cx="50053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S</a:t>
              </a:r>
              <a:endParaRPr lang="en-US" altLang="en-US" sz="14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D332A30-446E-EAAC-92B5-E9D471551CF5}"/>
                </a:ext>
              </a:extLst>
            </p:cNvPr>
            <p:cNvSpPr txBox="1"/>
            <p:nvPr/>
          </p:nvSpPr>
          <p:spPr>
            <a:xfrm>
              <a:off x="5068059" y="378408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A4AA961-4795-06A3-9C9A-E371EAB63FE9}"/>
                </a:ext>
              </a:extLst>
            </p:cNvPr>
            <p:cNvSpPr txBox="1"/>
            <p:nvPr/>
          </p:nvSpPr>
          <p:spPr>
            <a:xfrm>
              <a:off x="5024331" y="2569683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C35CFB9-E8B6-C073-AB24-474248A8D533}"/>
                </a:ext>
              </a:extLst>
            </p:cNvPr>
            <p:cNvSpPr txBox="1"/>
            <p:nvPr/>
          </p:nvSpPr>
          <p:spPr>
            <a:xfrm>
              <a:off x="5079342" y="497788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670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8A04-563B-9B7C-8032-37587D29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Failures and Welfare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56CFA-9E45-3455-070C-917AB20E4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The perfectly competitive market maximizes welfare. </a:t>
            </a:r>
          </a:p>
          <a:p>
            <a:pPr lvl="8"/>
            <a:endParaRPr lang="en-US" sz="1200" dirty="0"/>
          </a:p>
          <a:p>
            <a:r>
              <a:rPr lang="en-US" sz="2000" dirty="0"/>
              <a:t>But, there are three common sources of </a:t>
            </a:r>
            <a:r>
              <a:rPr lang="en-US" sz="2000" u="sng" dirty="0"/>
              <a:t>market failure</a:t>
            </a:r>
            <a:r>
              <a:rPr lang="en-US" sz="2000" dirty="0"/>
              <a:t>, times when the unregulated market may not maximize welfare.</a:t>
            </a:r>
          </a:p>
          <a:p>
            <a:pPr lvl="8"/>
            <a:endParaRPr lang="en-US" sz="1200" dirty="0"/>
          </a:p>
          <a:p>
            <a:pPr marL="731837" lvl="1" indent="-457200">
              <a:buFont typeface="+mj-lt"/>
              <a:buAutoNum type="arabicPeriod"/>
            </a:pPr>
            <a:r>
              <a:rPr lang="en-US" sz="1800" dirty="0"/>
              <a:t>Firms are not price-takers (e.g., monopoly)</a:t>
            </a:r>
          </a:p>
          <a:p>
            <a:pPr marL="2194877" lvl="8" indent="-457200">
              <a:buFont typeface="+mj-lt"/>
              <a:buAutoNum type="arabicPeriod"/>
            </a:pPr>
            <a:endParaRPr lang="en-US" sz="1200" dirty="0"/>
          </a:p>
          <a:p>
            <a:pPr marL="731837" lvl="1" indent="-457200">
              <a:buFont typeface="+mj-lt"/>
              <a:buAutoNum type="arabicPeriod"/>
            </a:pPr>
            <a:r>
              <a:rPr lang="en-US" sz="1800" dirty="0"/>
              <a:t>Actions create benefits or impose costs on others (e.g., air pollution)</a:t>
            </a:r>
          </a:p>
          <a:p>
            <a:pPr marL="2194877" lvl="8" indent="-457200">
              <a:buFont typeface="+mj-lt"/>
              <a:buAutoNum type="arabicPeriod"/>
            </a:pPr>
            <a:endParaRPr lang="en-US" sz="1200" dirty="0"/>
          </a:p>
          <a:p>
            <a:pPr marL="731837" lvl="1" indent="-457200">
              <a:buFont typeface="+mj-lt"/>
              <a:buAutoNum type="arabicPeriod"/>
            </a:pPr>
            <a:r>
              <a:rPr lang="en-US" sz="1800" dirty="0"/>
              <a:t>Some parties have information that others don’t (e.g., used car reliability) </a:t>
            </a:r>
          </a:p>
          <a:p>
            <a:pPr marL="2194877" lvl="8" indent="-457200">
              <a:buFont typeface="+mj-lt"/>
              <a:buAutoNum type="arabicPeriod"/>
            </a:pPr>
            <a:endParaRPr lang="en-US" sz="1200" dirty="0"/>
          </a:p>
          <a:p>
            <a:r>
              <a:rPr lang="en-US" sz="2000" dirty="0"/>
              <a:t>This is the where economics brings real value to policy and is an outline for this course!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B847F-B30E-4346-3DD6-2D688AC74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C0574-C8FF-C4B9-7096-93B0DF599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C6221-B9D5-00E0-ACF7-6D169308E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8020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FF03A-F50A-B5F2-B7E3-7295E821A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52BE8-42F7-6571-3CCD-2DAA46D20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Perfectly competitive firms set MR = MC to maximize profits. </a:t>
            </a:r>
          </a:p>
          <a:p>
            <a:pPr lvl="8"/>
            <a:endParaRPr lang="en-US" sz="800" dirty="0"/>
          </a:p>
          <a:p>
            <a:r>
              <a:rPr lang="en-US" sz="1800" dirty="0"/>
              <a:t>Price-taking means that MR = P.  A firm can sell as much as it wants at price P without affecting the market price.</a:t>
            </a:r>
          </a:p>
          <a:p>
            <a:pPr lvl="8"/>
            <a:endParaRPr lang="en-US" sz="800" dirty="0"/>
          </a:p>
          <a:p>
            <a:r>
              <a:rPr lang="en-US" sz="1800" dirty="0"/>
              <a:t>Horizontally adding the firm supply curves together gives the market supply curve.  </a:t>
            </a:r>
          </a:p>
          <a:p>
            <a:pPr lvl="8"/>
            <a:endParaRPr lang="en-US" sz="800" dirty="0"/>
          </a:p>
          <a:p>
            <a:r>
              <a:rPr lang="en-US" sz="1800" dirty="0"/>
              <a:t>In the short-run, firms in a perfectly competitive market can earn economic profits or bear economic losses.  But, in the long-run, free entry and exit will drive economic profits to zero. </a:t>
            </a:r>
          </a:p>
          <a:p>
            <a:pPr lvl="8"/>
            <a:endParaRPr lang="en-US" sz="800" dirty="0"/>
          </a:p>
          <a:p>
            <a:r>
              <a:rPr lang="en-US" sz="1800" dirty="0"/>
              <a:t>The perfectly competitive market maximizes welfare and doesn’t create deadweight loss.  </a:t>
            </a:r>
          </a:p>
          <a:p>
            <a:pPr lvl="8"/>
            <a:endParaRPr lang="en-US" sz="800" dirty="0"/>
          </a:p>
          <a:p>
            <a:r>
              <a:rPr lang="en-US" sz="1800" dirty="0"/>
              <a:t>But, if firms are not price takers, actions create externalities, or information is asymmetric, deadweight loss might exist in the unregulated market.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C5FE3-CF88-C6A6-6A64-1490271D9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8E0BA-1706-42E8-7A69-0F4935366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479E8-B658-E10A-4FA5-74C588CFC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33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72515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28BA7-60AF-214D-E795-AE915AB54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395D6-19FD-A004-F72F-8AC01552A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Review the syllabus on Canvas</a:t>
            </a:r>
          </a:p>
          <a:p>
            <a:endParaRPr lang="en-US" altLang="en-US" dirty="0"/>
          </a:p>
          <a:p>
            <a:r>
              <a:rPr lang="en-US" altLang="en-US" dirty="0"/>
              <a:t>Register for the course on </a:t>
            </a:r>
            <a:r>
              <a:rPr lang="en-US" altLang="en-US" dirty="0" err="1"/>
              <a:t>iClicker</a:t>
            </a:r>
            <a:r>
              <a:rPr lang="en-US" altLang="en-US" dirty="0"/>
              <a:t> Student</a:t>
            </a:r>
          </a:p>
          <a:p>
            <a:endParaRPr lang="en-US" altLang="en-US" dirty="0"/>
          </a:p>
          <a:p>
            <a:r>
              <a:rPr lang="en-US" altLang="en-US" dirty="0"/>
              <a:t>Handouts are available before lectures.  You can find them on Canvas.</a:t>
            </a:r>
          </a:p>
          <a:p>
            <a:endParaRPr lang="en-US" altLang="en-US" dirty="0"/>
          </a:p>
          <a:p>
            <a:r>
              <a:rPr lang="en-US" altLang="en-US" dirty="0">
                <a:sym typeface="Wingdings" panose="05000000000000000000" pitchFamily="2" charset="2"/>
              </a:rPr>
              <a:t>The textbook is available under Bookshelf on Canvas. Next class we will cover Perloff 11.1, 11.2.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5455D-FDB0-604B-4C24-ED4A9A177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DFB34-F5C6-B50D-7793-5A08642F1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41AE-D39B-2EFD-AF23-329E37D2C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31539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larity">
    <a:dk1>
      <a:srgbClr val="292934"/>
    </a:dk1>
    <a:lt1>
      <a:srgbClr val="FFFFFF"/>
    </a:lt1>
    <a:dk2>
      <a:srgbClr val="D2533C"/>
    </a:dk2>
    <a:lt2>
      <a:srgbClr val="F3F2DC"/>
    </a:lt2>
    <a:accent1>
      <a:srgbClr val="93A299"/>
    </a:accent1>
    <a:accent2>
      <a:srgbClr val="AD8F67"/>
    </a:accent2>
    <a:accent3>
      <a:srgbClr val="726056"/>
    </a:accent3>
    <a:accent4>
      <a:srgbClr val="4C5A6A"/>
    </a:accent4>
    <a:accent5>
      <a:srgbClr val="808DA0"/>
    </a:accent5>
    <a:accent6>
      <a:srgbClr val="79463D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8416</TotalTime>
  <Words>2253</Words>
  <Application>Microsoft Office PowerPoint</Application>
  <PresentationFormat>On-screen Show (4:3)</PresentationFormat>
  <Paragraphs>456</Paragraphs>
  <Slides>34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Cambria Math</vt:lpstr>
      <vt:lpstr>Wingdings</vt:lpstr>
      <vt:lpstr>Clarity</vt:lpstr>
      <vt:lpstr>Class 1: Introduction</vt:lpstr>
      <vt:lpstr>Announcements</vt:lpstr>
      <vt:lpstr>Class Outline</vt:lpstr>
      <vt:lpstr>I. Introduction and       course details</vt:lpstr>
      <vt:lpstr>Introduction </vt:lpstr>
      <vt:lpstr>Teaching Team</vt:lpstr>
      <vt:lpstr>Course resources</vt:lpstr>
      <vt:lpstr>Classroom engagement and clickers</vt:lpstr>
      <vt:lpstr>Canvas</vt:lpstr>
      <vt:lpstr>Course Grading (details in syllabus)</vt:lpstr>
      <vt:lpstr>II. Profit maximization (Perloff 8.2)</vt:lpstr>
      <vt:lpstr>Firms seek to maximize profits </vt:lpstr>
      <vt:lpstr>II. Perfect competition in the short run (Perloff 8.3)</vt:lpstr>
      <vt:lpstr>What are the assumptions of perfect competition?</vt:lpstr>
      <vt:lpstr>These assumptions have two important implications.</vt:lpstr>
      <vt:lpstr>Short-run competitive equilibrium</vt:lpstr>
      <vt:lpstr>We’ll consider a specific example</vt:lpstr>
      <vt:lpstr>Step 1: What is the firm supply curve?</vt:lpstr>
      <vt:lpstr>Profit maximization graphically</vt:lpstr>
      <vt:lpstr>Step 2: What is the market supply curve?</vt:lpstr>
      <vt:lpstr>Step 2: What is the market supply curve?</vt:lpstr>
      <vt:lpstr>Step 3: Find the competitive equilibrium</vt:lpstr>
      <vt:lpstr>Graphical depiction of the competitive equilibrium in our example</vt:lpstr>
      <vt:lpstr>III. Perfect competition in the long-run (Perloff 8.4)</vt:lpstr>
      <vt:lpstr>In our example, do the firms earn economic profits?</vt:lpstr>
      <vt:lpstr>Economic profits</vt:lpstr>
      <vt:lpstr>Can firms ever earn economic profits?</vt:lpstr>
      <vt:lpstr>Example with an inward demand shock </vt:lpstr>
      <vt:lpstr>IV. Perfect competition and welfare</vt:lpstr>
      <vt:lpstr>Social Welfare and Perfect Competition</vt:lpstr>
      <vt:lpstr>Consumer and Producer Surplus</vt:lpstr>
      <vt:lpstr>Market Failures and Welfare</vt:lpstr>
      <vt:lpstr>Major takeaways</vt:lpstr>
      <vt:lpstr>Action Items</vt:lpstr>
    </vt:vector>
  </TitlesOfParts>
  <Company>Harvard KSG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BGP-200 Strategy, Competition and Regulation</dc:title>
  <dc:creator>Erich Muehlegger</dc:creator>
  <cp:lastModifiedBy>Erich Johann Muehlegger</cp:lastModifiedBy>
  <cp:revision>253</cp:revision>
  <cp:lastPrinted>2025-03-16T17:20:31Z</cp:lastPrinted>
  <dcterms:created xsi:type="dcterms:W3CDTF">2011-01-21T00:41:49Z</dcterms:created>
  <dcterms:modified xsi:type="dcterms:W3CDTF">2026-03-19T21:55:33Z</dcterms:modified>
</cp:coreProperties>
</file>